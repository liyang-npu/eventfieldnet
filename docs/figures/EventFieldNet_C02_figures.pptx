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172200"/>
  <p:notesSz cx="61722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EventFieldNet (C02, deployed inference path). Upper stream: frozen InternVideo2-1B features, TriField input conditioner, shared cross-modal encoder (d=384) and carrier/boundary head producing C(s,e). Lower stream: the tri-field scorer reads the raw 512-d video/query features with three independent 64-d video-to-query interactions and outputs E, S, T on the (s,e) grid. MR score F = C~ + E + S + 1/2 (T^s + T^e) with C~ = tanh(centered C), ranked with NMS (0.5), top-30. HD branch: concat shared 384-d clip features H and the 64-d evidence embedding z_E (448-d) -&gt; LayerNorm -&gt; Linear(448,64) -&gt; GELU -&gt; Linear(64,1); it is a separate output and is not added to F. Support anchors come from predictions; no GT is used at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C02 Evidence supervision (training only). For a reciprocal pair (i, j) in the batch (different video, different query, word-set Jaccard &lt; 0.5), the deployed Evidence function e(V, Q) is evaluated with the correct and the paired query (auxiliary forwards with dropout disabled; same parameters, no extra backbone forward). Each video's scores are pooled over its own GT intervals (overlap-weighted mean inside each GT, GT intervals weighted equally). Row hinge: A_i &gt;= B_i + 0.2 (same video, wrong query). Column hinge: A_i &gt;= B_j + 0.2 (same query, other video). L_E = mean_i 1/2 (row_i + col_i). No saliency ratings are used by this objective. Pairs are weak negatives, not guaranteed semantic negatives.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details. (a) TriField input conditioning on raw 512-d features. (b) Edge-based Support field with joint-residual pair head and local coverage x purity residual around top-scoring anchors (no GT used at inference). (c) Evidence and Transition fields from independent 64-d video-to-query interactions. (d) Fusion and training objectives (losses: rank 0.5; evidence, support, transition, endpoint and highlight 0.1 each).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(concept). Frames are placeholder drawings: replace them with real QVHighlights frames of the same query. Caption suggestion: EventFieldNet decomposes query-conditioned moment evidence into three temporal fields - Evidence (local query-clip agreement), Support (temporal coverage) and Transition (boundary enter/leave) - and fuses them with the backbone carrier C over the 2-D (start, end) span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502920" y="566928"/>
            <a:ext cx="1143000" cy="713232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009132"/>
            <a:ext cx="1143000" cy="27102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6" name="Shape 3"/>
          <p:cNvSpPr/>
          <p:nvPr/>
        </p:nvSpPr>
        <p:spPr>
          <a:xfrm>
            <a:off x="1097280" y="923544"/>
            <a:ext cx="480060" cy="99852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7" name="Shape 4"/>
          <p:cNvSpPr/>
          <p:nvPr/>
        </p:nvSpPr>
        <p:spPr>
          <a:xfrm>
            <a:off x="594360" y="638251"/>
            <a:ext cx="251460" cy="199705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1580" y="852221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Shape 6"/>
          <p:cNvSpPr/>
          <p:nvPr/>
        </p:nvSpPr>
        <p:spPr>
          <a:xfrm>
            <a:off x="1348740" y="859353"/>
            <a:ext cx="80010" cy="8001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" y="694944"/>
            <a:ext cx="1143000" cy="713232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137148"/>
            <a:ext cx="1143000" cy="27102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2" name="Shape 9"/>
          <p:cNvSpPr/>
          <p:nvPr/>
        </p:nvSpPr>
        <p:spPr>
          <a:xfrm>
            <a:off x="1005840" y="1051560"/>
            <a:ext cx="480060" cy="99852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766267"/>
            <a:ext cx="251460" cy="199705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7250" y="823326"/>
            <a:ext cx="137160" cy="13716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15" name="Shape 12"/>
          <p:cNvSpPr/>
          <p:nvPr/>
        </p:nvSpPr>
        <p:spPr>
          <a:xfrm>
            <a:off x="828675" y="960486"/>
            <a:ext cx="194310" cy="299557"/>
          </a:xfrm>
          <a:prstGeom prst="roundRect">
            <a:avLst>
              <a:gd name="adj" fmla="val 14118"/>
            </a:avLst>
          </a:prstGeom>
          <a:solidFill>
            <a:srgbClr val="4A6FA5"/>
          </a:solidFill>
          <a:ln/>
        </p:spPr>
      </p:sp>
      <p:sp>
        <p:nvSpPr>
          <p:cNvPr id="16" name="Shape 13"/>
          <p:cNvSpPr/>
          <p:nvPr/>
        </p:nvSpPr>
        <p:spPr>
          <a:xfrm>
            <a:off x="320040" y="822960"/>
            <a:ext cx="1143000" cy="713232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" y="1265164"/>
            <a:ext cx="1143000" cy="27102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1179576"/>
            <a:ext cx="480060" cy="99852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894283"/>
            <a:ext cx="251460" cy="199705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951342"/>
            <a:ext cx="137160" cy="13716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21" name="Shape 18"/>
          <p:cNvSpPr/>
          <p:nvPr/>
        </p:nvSpPr>
        <p:spPr>
          <a:xfrm>
            <a:off x="794385" y="1088502"/>
            <a:ext cx="194310" cy="299557"/>
          </a:xfrm>
          <a:prstGeom prst="roundRect">
            <a:avLst>
              <a:gd name="adj" fmla="val 14118"/>
            </a:avLst>
          </a:prstGeom>
          <a:solidFill>
            <a:srgbClr val="4A6FA5"/>
          </a:solidFill>
          <a:ln/>
        </p:spPr>
      </p:sp>
      <p:sp>
        <p:nvSpPr>
          <p:cNvPr id="22" name="Shape 19"/>
          <p:cNvSpPr/>
          <p:nvPr/>
        </p:nvSpPr>
        <p:spPr>
          <a:xfrm>
            <a:off x="1028700" y="1108253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1165860" y="1115385"/>
            <a:ext cx="80010" cy="8001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7432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74320" y="4160520"/>
            <a:ext cx="1481328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man is chopping vegetables in the kitchen.”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 rot="5400000">
            <a:off x="1691640" y="877824"/>
            <a:ext cx="914400" cy="603504"/>
          </a:xfrm>
          <a:prstGeom prst="trapezoid">
            <a:avLst/>
          </a:prstGeom>
          <a:solidFill>
            <a:srgbClr val="E8EDF5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112" y="1069848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581912" y="166420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InternVideo2-1B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 rot="5400000">
            <a:off x="1691640" y="4343400"/>
            <a:ext cx="914400" cy="603504"/>
          </a:xfrm>
          <a:prstGeom prst="trapezoid">
            <a:avLst/>
          </a:prstGeom>
          <a:solidFill>
            <a:srgbClr val="E8EDF5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4535424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581912" y="5129784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InternVideo2-1B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783080" y="1179576"/>
            <a:ext cx="64008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3" name="Shape 28"/>
          <p:cNvSpPr/>
          <p:nvPr/>
        </p:nvSpPr>
        <p:spPr>
          <a:xfrm>
            <a:off x="1764792" y="4645152"/>
            <a:ext cx="82296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4" name="Shape 29"/>
          <p:cNvSpPr/>
          <p:nvPr/>
        </p:nvSpPr>
        <p:spPr>
          <a:xfrm>
            <a:off x="2670048" y="621792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2670048" y="813816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670048" y="1005840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2670048" y="1197864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2670048" y="1389888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2670048" y="1581912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2606040" y="3291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2450592" y="1179576"/>
            <a:ext cx="201168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2670048" y="4270248"/>
            <a:ext cx="155448" cy="155448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2670048" y="4462272"/>
            <a:ext cx="155448" cy="155448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670048" y="4654296"/>
            <a:ext cx="155448" cy="155448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2670048" y="4846320"/>
            <a:ext cx="155448" cy="155448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2606040" y="39776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2450592" y="4645152"/>
            <a:ext cx="201168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3200400" y="320040"/>
            <a:ext cx="1874520" cy="1691640"/>
          </a:xfrm>
          <a:prstGeom prst="roundRect">
            <a:avLst>
              <a:gd name="adj" fmla="val 3784"/>
            </a:avLst>
          </a:prstGeom>
          <a:solidFill>
            <a:srgbClr val="ECE5F6"/>
          </a:solidFill>
          <a:ln w="15875">
            <a:solidFill>
              <a:srgbClr val="7B5EA7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74904"/>
            <a:ext cx="182880" cy="182880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3246120" y="3931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TriField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Conditioner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3383280" y="914400"/>
            <a:ext cx="420624" cy="365760"/>
          </a:xfrm>
          <a:prstGeom prst="roundRect">
            <a:avLst>
              <a:gd name="adj" fmla="val 17500"/>
            </a:avLst>
          </a:prstGeom>
          <a:solidFill>
            <a:srgbClr val="F9DCD9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3383280" y="9144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300" dirty="0"/>
          </a:p>
        </p:txBody>
      </p:sp>
      <p:sp>
        <p:nvSpPr>
          <p:cNvPr id="53" name="Shape 47"/>
          <p:cNvSpPr/>
          <p:nvPr/>
        </p:nvSpPr>
        <p:spPr>
          <a:xfrm>
            <a:off x="3913632" y="914400"/>
            <a:ext cx="420624" cy="365760"/>
          </a:xfrm>
          <a:prstGeom prst="roundRect">
            <a:avLst>
              <a:gd name="adj" fmla="val 17500"/>
            </a:avLst>
          </a:prstGeom>
          <a:solidFill>
            <a:srgbClr val="D3EEE8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3913632" y="9144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300" dirty="0"/>
          </a:p>
        </p:txBody>
      </p:sp>
      <p:sp>
        <p:nvSpPr>
          <p:cNvPr id="55" name="Shape 49"/>
          <p:cNvSpPr/>
          <p:nvPr/>
        </p:nvSpPr>
        <p:spPr>
          <a:xfrm>
            <a:off x="4443984" y="914400"/>
            <a:ext cx="420624" cy="365760"/>
          </a:xfrm>
          <a:prstGeom prst="roundRect">
            <a:avLst>
              <a:gd name="adj" fmla="val 17500"/>
            </a:avLst>
          </a:prstGeom>
          <a:solidFill>
            <a:srgbClr val="FBEBC9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4443984" y="9144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3200400" y="13167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· diffuse · Δ</a:t>
            </a:r>
            <a:endParaRPr lang="en-US" sz="950" dirty="0"/>
          </a:p>
        </p:txBody>
      </p:sp>
      <p:sp>
        <p:nvSpPr>
          <p:cNvPr id="58" name="Text 52"/>
          <p:cNvSpPr txBox="1"/>
          <p:nvPr/>
        </p:nvSpPr>
        <p:spPr>
          <a:xfrm>
            <a:off x="3246120" y="153619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⊥ bounded, norm-preserving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950" dirty="0"/>
          </a:p>
        </p:txBody>
      </p:sp>
      <p:sp>
        <p:nvSpPr>
          <p:cNvPr id="59" name="Shape 53"/>
          <p:cNvSpPr/>
          <p:nvPr/>
        </p:nvSpPr>
        <p:spPr>
          <a:xfrm>
            <a:off x="2834640" y="1179576"/>
            <a:ext cx="36576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0" name="Shape 54"/>
          <p:cNvSpPr/>
          <p:nvPr/>
        </p:nvSpPr>
        <p:spPr>
          <a:xfrm>
            <a:off x="5632704" y="301752"/>
            <a:ext cx="1737360" cy="1581912"/>
          </a:xfrm>
          <a:prstGeom prst="roundRect">
            <a:avLst>
              <a:gd name="adj" fmla="val 4046"/>
            </a:avLst>
          </a:prstGeom>
          <a:solidFill>
            <a:srgbClr val="C9D6EA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5559552" y="356616"/>
            <a:ext cx="1737360" cy="1581912"/>
          </a:xfrm>
          <a:prstGeom prst="roundRect">
            <a:avLst>
              <a:gd name="adj" fmla="val 4046"/>
            </a:avLst>
          </a:prstGeom>
          <a:solidFill>
            <a:srgbClr val="D2DDEE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5486400" y="411480"/>
            <a:ext cx="1737360" cy="1581912"/>
          </a:xfrm>
          <a:prstGeom prst="roundRect">
            <a:avLst>
              <a:gd name="adj" fmla="val 4046"/>
            </a:avLst>
          </a:prstGeom>
          <a:solidFill>
            <a:srgbClr val="DCE6F4"/>
          </a:solidFill>
          <a:ln w="15875">
            <a:solidFill>
              <a:srgbClr val="4A6FA5"/>
            </a:solidFill>
            <a:prstDash val="solid"/>
          </a:ln>
        </p:spPr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466344"/>
            <a:ext cx="182880" cy="182880"/>
          </a:xfrm>
          <a:prstGeom prst="rect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5532120" y="484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Cross-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Encoder</a:t>
            </a:r>
            <a:endParaRPr lang="en-US" sz="1200" dirty="0"/>
          </a:p>
        </p:txBody>
      </p:sp>
      <p:sp>
        <p:nvSpPr>
          <p:cNvPr id="65" name="Text 58"/>
          <p:cNvSpPr txBox="1"/>
          <p:nvPr/>
        </p:nvSpPr>
        <p:spPr>
          <a:xfrm>
            <a:off x="5559552" y="97840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cross-attn · role tokens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conv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self-attn ×4</a:t>
            </a:r>
            <a:endParaRPr lang="en-US" sz="950" dirty="0"/>
          </a:p>
        </p:txBody>
      </p:sp>
      <p:sp>
        <p:nvSpPr>
          <p:cNvPr id="66" name="Text 59"/>
          <p:cNvSpPr txBox="1"/>
          <p:nvPr/>
        </p:nvSpPr>
        <p:spPr>
          <a:xfrm>
            <a:off x="5559552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 zero-gated blocks · d = 384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5074920" y="1179576"/>
            <a:ext cx="41148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8" name="Text 61"/>
          <p:cNvSpPr txBox="1"/>
          <p:nvPr/>
        </p:nvSpPr>
        <p:spPr>
          <a:xfrm>
            <a:off x="5120640" y="89611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Ṽ</a:t>
            </a:r>
            <a:endParaRPr lang="en-US" sz="1200" dirty="0"/>
          </a:p>
        </p:txBody>
      </p:sp>
      <p:sp>
        <p:nvSpPr>
          <p:cNvPr id="69" name="Shape 62"/>
          <p:cNvSpPr/>
          <p:nvPr/>
        </p:nvSpPr>
        <p:spPr>
          <a:xfrm>
            <a:off x="7635240" y="685800"/>
            <a:ext cx="1024128" cy="1005840"/>
          </a:xfrm>
          <a:prstGeom prst="roundRect">
            <a:avLst>
              <a:gd name="adj" fmla="val 6364"/>
            </a:avLst>
          </a:prstGeom>
          <a:solidFill>
            <a:srgbClr val="DCE6F4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70" name="Text 63"/>
          <p:cNvSpPr txBox="1"/>
          <p:nvPr/>
        </p:nvSpPr>
        <p:spPr>
          <a:xfrm>
            <a:off x="7635240" y="731520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Head</a:t>
            </a:r>
            <a:endParaRPr lang="en-US" sz="1050" dirty="0"/>
          </a:p>
        </p:txBody>
      </p:sp>
      <p:sp>
        <p:nvSpPr>
          <p:cNvPr id="71" name="Text 64"/>
          <p:cNvSpPr txBox="1"/>
          <p:nvPr/>
        </p:nvSpPr>
        <p:spPr>
          <a:xfrm>
            <a:off x="7653528" y="122529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MLP[h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h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h̄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s:e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endParaRPr lang="en-US" sz="950" dirty="0"/>
          </a:p>
        </p:txBody>
      </p:sp>
      <p:sp>
        <p:nvSpPr>
          <p:cNvPr id="72" name="Text 65"/>
          <p:cNvSpPr txBox="1"/>
          <p:nvPr/>
        </p:nvSpPr>
        <p:spPr>
          <a:xfrm>
            <a:off x="7635240" y="142646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start / end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7370064" y="1179576"/>
            <a:ext cx="265176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74" name="Text 67"/>
          <p:cNvSpPr txBox="1"/>
          <p:nvPr/>
        </p:nvSpPr>
        <p:spPr>
          <a:xfrm>
            <a:off x="7351776" y="8961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200" dirty="0"/>
          </a:p>
        </p:txBody>
      </p:sp>
      <p:sp>
        <p:nvSpPr>
          <p:cNvPr id="75" name="Shape 68"/>
          <p:cNvSpPr/>
          <p:nvPr/>
        </p:nvSpPr>
        <p:spPr>
          <a:xfrm>
            <a:off x="8942832" y="566928"/>
            <a:ext cx="141732" cy="141732"/>
          </a:xfrm>
          <a:prstGeom prst="rect">
            <a:avLst/>
          </a:prstGeom>
          <a:solidFill>
            <a:srgbClr val="D6DF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9084564" y="566928"/>
            <a:ext cx="141732" cy="141732"/>
          </a:xfrm>
          <a:prstGeom prst="rect">
            <a:avLst/>
          </a:prstGeom>
          <a:solidFill>
            <a:srgbClr val="9EB2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9226296" y="566928"/>
            <a:ext cx="141732" cy="141732"/>
          </a:xfrm>
          <a:prstGeom prst="rect">
            <a:avLst/>
          </a:prstGeom>
          <a:solidFill>
            <a:srgbClr val="CDD7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9368028" y="566928"/>
            <a:ext cx="141732" cy="141732"/>
          </a:xfrm>
          <a:prstGeom prst="rect">
            <a:avLst/>
          </a:prstGeom>
          <a:solidFill>
            <a:srgbClr val="B9C7D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9509760" y="566928"/>
            <a:ext cx="141732" cy="141732"/>
          </a:xfrm>
          <a:prstGeom prst="rect">
            <a:avLst/>
          </a:prstGeom>
          <a:solidFill>
            <a:srgbClr val="89A1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9651492" y="566928"/>
            <a:ext cx="141732" cy="141732"/>
          </a:xfrm>
          <a:prstGeom prst="rect">
            <a:avLst/>
          </a:prstGeom>
          <a:solidFill>
            <a:srgbClr val="809A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9793224" y="566928"/>
            <a:ext cx="141732" cy="141732"/>
          </a:xfrm>
          <a:prstGeom prst="rect">
            <a:avLst/>
          </a:prstGeom>
          <a:solidFill>
            <a:srgbClr val="9DB1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9934956" y="566928"/>
            <a:ext cx="141732" cy="141732"/>
          </a:xfrm>
          <a:prstGeom prst="rect">
            <a:avLst/>
          </a:prstGeom>
          <a:solidFill>
            <a:srgbClr val="90A6C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8942832" y="70866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9084564" y="708660"/>
            <a:ext cx="141732" cy="141732"/>
          </a:xfrm>
          <a:prstGeom prst="rect">
            <a:avLst/>
          </a:prstGeom>
          <a:solidFill>
            <a:srgbClr val="CAD5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9226296" y="708660"/>
            <a:ext cx="141732" cy="141732"/>
          </a:xfrm>
          <a:prstGeom prst="rect">
            <a:avLst/>
          </a:prstGeom>
          <a:solidFill>
            <a:srgbClr val="D2DB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9368028" y="708660"/>
            <a:ext cx="141732" cy="141732"/>
          </a:xfrm>
          <a:prstGeom prst="rect">
            <a:avLst/>
          </a:prstGeom>
          <a:solidFill>
            <a:srgbClr val="A4B6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9509760" y="708660"/>
            <a:ext cx="141732" cy="141732"/>
          </a:xfrm>
          <a:prstGeom prst="rect">
            <a:avLst/>
          </a:prstGeom>
          <a:solidFill>
            <a:srgbClr val="9CB0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9651492" y="708660"/>
            <a:ext cx="141732" cy="141732"/>
          </a:xfrm>
          <a:prstGeom prst="rect">
            <a:avLst/>
          </a:prstGeom>
          <a:solidFill>
            <a:srgbClr val="7F99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9793224" y="708660"/>
            <a:ext cx="141732" cy="141732"/>
          </a:xfrm>
          <a:prstGeom prst="rect">
            <a:avLst/>
          </a:prstGeom>
          <a:solidFill>
            <a:srgbClr val="7994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9934956" y="708660"/>
            <a:ext cx="141732" cy="141732"/>
          </a:xfrm>
          <a:prstGeom prst="rect">
            <a:avLst/>
          </a:prstGeom>
          <a:solidFill>
            <a:srgbClr val="95AAC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8942832" y="85039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9084564" y="85039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9226296" y="850392"/>
            <a:ext cx="141732" cy="141732"/>
          </a:xfrm>
          <a:prstGeom prst="rect">
            <a:avLst/>
          </a:prstGeom>
          <a:solidFill>
            <a:srgbClr val="E1E7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9368028" y="850392"/>
            <a:ext cx="141732" cy="141732"/>
          </a:xfrm>
          <a:prstGeom prst="rect">
            <a:avLst/>
          </a:prstGeom>
          <a:solidFill>
            <a:srgbClr val="CED8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9509760" y="850392"/>
            <a:ext cx="141732" cy="141732"/>
          </a:xfrm>
          <a:prstGeom prst="rect">
            <a:avLst/>
          </a:prstGeom>
          <a:solidFill>
            <a:srgbClr val="9AAF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9651492" y="850392"/>
            <a:ext cx="141732" cy="141732"/>
          </a:xfrm>
          <a:prstGeom prst="rect">
            <a:avLst/>
          </a:prstGeom>
          <a:solidFill>
            <a:srgbClr val="5779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>
            <a:off x="9793224" y="850392"/>
            <a:ext cx="141732" cy="141732"/>
          </a:xfrm>
          <a:prstGeom prst="rect">
            <a:avLst/>
          </a:prstGeom>
          <a:solidFill>
            <a:srgbClr val="879FC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9934956" y="850392"/>
            <a:ext cx="141732" cy="141732"/>
          </a:xfrm>
          <a:prstGeom prst="rect">
            <a:avLst/>
          </a:prstGeom>
          <a:solidFill>
            <a:srgbClr val="A1B5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8942832" y="9921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9084564" y="9921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9226296" y="9921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9368028" y="992124"/>
            <a:ext cx="141732" cy="141732"/>
          </a:xfrm>
          <a:prstGeom prst="rect">
            <a:avLst/>
          </a:prstGeom>
          <a:solidFill>
            <a:srgbClr val="B2C2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9509760" y="992124"/>
            <a:ext cx="141732" cy="141732"/>
          </a:xfrm>
          <a:prstGeom prst="rect">
            <a:avLst/>
          </a:prstGeom>
          <a:solidFill>
            <a:srgbClr val="6786B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9651492" y="992124"/>
            <a:ext cx="141732" cy="141732"/>
          </a:xfrm>
          <a:prstGeom prst="rect">
            <a:avLst/>
          </a:prstGeom>
          <a:solidFill>
            <a:srgbClr val="4A6F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>
            <a:off x="9793224" y="992124"/>
            <a:ext cx="141732" cy="141732"/>
          </a:xfrm>
          <a:prstGeom prst="rect">
            <a:avLst/>
          </a:prstGeom>
          <a:solidFill>
            <a:srgbClr val="6F8D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9934956" y="992124"/>
            <a:ext cx="141732" cy="141732"/>
          </a:xfrm>
          <a:prstGeom prst="rect">
            <a:avLst/>
          </a:prstGeom>
          <a:solidFill>
            <a:srgbClr val="728F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0"/>
          <p:cNvSpPr/>
          <p:nvPr/>
        </p:nvSpPr>
        <p:spPr>
          <a:xfrm>
            <a:off x="8942832" y="1133856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1"/>
          <p:cNvSpPr/>
          <p:nvPr/>
        </p:nvSpPr>
        <p:spPr>
          <a:xfrm>
            <a:off x="9084564" y="1133856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9226296" y="1133856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>
            <a:off x="9368028" y="1133856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>
            <a:off x="9509760" y="1133856"/>
            <a:ext cx="141732" cy="141732"/>
          </a:xfrm>
          <a:prstGeom prst="rect">
            <a:avLst/>
          </a:prstGeom>
          <a:solidFill>
            <a:srgbClr val="C1CE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05"/>
          <p:cNvSpPr/>
          <p:nvPr/>
        </p:nvSpPr>
        <p:spPr>
          <a:xfrm>
            <a:off x="9651492" y="1133856"/>
            <a:ext cx="141732" cy="141732"/>
          </a:xfrm>
          <a:prstGeom prst="rect">
            <a:avLst/>
          </a:prstGeom>
          <a:solidFill>
            <a:srgbClr val="7894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>
            <a:off x="9793224" y="1133856"/>
            <a:ext cx="141732" cy="141732"/>
          </a:xfrm>
          <a:prstGeom prst="rect">
            <a:avLst/>
          </a:prstGeom>
          <a:solidFill>
            <a:srgbClr val="849D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>
            <a:off x="9934956" y="1133856"/>
            <a:ext cx="141732" cy="141732"/>
          </a:xfrm>
          <a:prstGeom prst="rect">
            <a:avLst/>
          </a:prstGeom>
          <a:solidFill>
            <a:srgbClr val="AEBF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>
            <a:off x="8942832" y="127558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>
            <a:off x="9084564" y="127558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>
            <a:off x="9226296" y="127558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>
            <a:off x="9368028" y="127558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>
            <a:off x="9509760" y="127558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3"/>
          <p:cNvSpPr/>
          <p:nvPr/>
        </p:nvSpPr>
        <p:spPr>
          <a:xfrm>
            <a:off x="9651492" y="1275588"/>
            <a:ext cx="141732" cy="141732"/>
          </a:xfrm>
          <a:prstGeom prst="rect">
            <a:avLst/>
          </a:prstGeom>
          <a:solidFill>
            <a:srgbClr val="A5B7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9793224" y="1275588"/>
            <a:ext cx="141732" cy="141732"/>
          </a:xfrm>
          <a:prstGeom prst="rect">
            <a:avLst/>
          </a:prstGeom>
          <a:solidFill>
            <a:srgbClr val="CED8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15"/>
          <p:cNvSpPr/>
          <p:nvPr/>
        </p:nvSpPr>
        <p:spPr>
          <a:xfrm>
            <a:off x="9934956" y="1275588"/>
            <a:ext cx="141732" cy="141732"/>
          </a:xfrm>
          <a:prstGeom prst="rect">
            <a:avLst/>
          </a:prstGeom>
          <a:solidFill>
            <a:srgbClr val="D0D9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8942832" y="141732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9084564" y="141732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18"/>
          <p:cNvSpPr/>
          <p:nvPr/>
        </p:nvSpPr>
        <p:spPr>
          <a:xfrm>
            <a:off x="9226296" y="141732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19"/>
          <p:cNvSpPr/>
          <p:nvPr/>
        </p:nvSpPr>
        <p:spPr>
          <a:xfrm>
            <a:off x="9368028" y="141732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0"/>
          <p:cNvSpPr/>
          <p:nvPr/>
        </p:nvSpPr>
        <p:spPr>
          <a:xfrm>
            <a:off x="9509760" y="141732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1"/>
          <p:cNvSpPr/>
          <p:nvPr/>
        </p:nvSpPr>
        <p:spPr>
          <a:xfrm>
            <a:off x="9651492" y="141732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2"/>
          <p:cNvSpPr/>
          <p:nvPr/>
        </p:nvSpPr>
        <p:spPr>
          <a:xfrm>
            <a:off x="9793224" y="1417320"/>
            <a:ext cx="141732" cy="141732"/>
          </a:xfrm>
          <a:prstGeom prst="rect">
            <a:avLst/>
          </a:prstGeom>
          <a:solidFill>
            <a:srgbClr val="EEF1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3"/>
          <p:cNvSpPr/>
          <p:nvPr/>
        </p:nvSpPr>
        <p:spPr>
          <a:xfrm>
            <a:off x="9934956" y="1417320"/>
            <a:ext cx="141732" cy="141732"/>
          </a:xfrm>
          <a:prstGeom prst="rect">
            <a:avLst/>
          </a:prstGeom>
          <a:solidFill>
            <a:srgbClr val="E0E6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4"/>
          <p:cNvSpPr/>
          <p:nvPr/>
        </p:nvSpPr>
        <p:spPr>
          <a:xfrm>
            <a:off x="8942832" y="155905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25"/>
          <p:cNvSpPr/>
          <p:nvPr/>
        </p:nvSpPr>
        <p:spPr>
          <a:xfrm>
            <a:off x="9084564" y="155905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26"/>
          <p:cNvSpPr/>
          <p:nvPr/>
        </p:nvSpPr>
        <p:spPr>
          <a:xfrm>
            <a:off x="9226296" y="155905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27"/>
          <p:cNvSpPr/>
          <p:nvPr/>
        </p:nvSpPr>
        <p:spPr>
          <a:xfrm>
            <a:off x="9368028" y="155905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28"/>
          <p:cNvSpPr/>
          <p:nvPr/>
        </p:nvSpPr>
        <p:spPr>
          <a:xfrm>
            <a:off x="9509760" y="155905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9651492" y="155905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0"/>
          <p:cNvSpPr/>
          <p:nvPr/>
        </p:nvSpPr>
        <p:spPr>
          <a:xfrm>
            <a:off x="9793224" y="155905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1"/>
          <p:cNvSpPr/>
          <p:nvPr/>
        </p:nvSpPr>
        <p:spPr>
          <a:xfrm>
            <a:off x="9934956" y="1559052"/>
            <a:ext cx="141732" cy="141732"/>
          </a:xfrm>
          <a:prstGeom prst="rect">
            <a:avLst/>
          </a:prstGeom>
          <a:solidFill>
            <a:srgbClr val="FDFE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2"/>
          <p:cNvSpPr/>
          <p:nvPr/>
        </p:nvSpPr>
        <p:spPr>
          <a:xfrm>
            <a:off x="8942832" y="566928"/>
            <a:ext cx="1133856" cy="11338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40" name="Text 133"/>
          <p:cNvSpPr txBox="1"/>
          <p:nvPr/>
        </p:nvSpPr>
        <p:spPr>
          <a:xfrm>
            <a:off x="8942832" y="2743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C(s, e)</a:t>
            </a:r>
            <a:endParaRPr lang="en-US" sz="1200" dirty="0"/>
          </a:p>
        </p:txBody>
      </p:sp>
      <p:sp>
        <p:nvSpPr>
          <p:cNvPr id="141" name="Shape 134"/>
          <p:cNvSpPr/>
          <p:nvPr/>
        </p:nvSpPr>
        <p:spPr>
          <a:xfrm>
            <a:off x="8659368" y="1179576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42" name="Shape 135"/>
          <p:cNvSpPr/>
          <p:nvPr/>
        </p:nvSpPr>
        <p:spPr>
          <a:xfrm>
            <a:off x="3200400" y="2377440"/>
            <a:ext cx="6812280" cy="685800"/>
          </a:xfrm>
          <a:prstGeom prst="roundRect">
            <a:avLst>
              <a:gd name="adj" fmla="val 9333"/>
            </a:avLst>
          </a:prstGeom>
          <a:solidFill>
            <a:srgbClr val="F2F7EA"/>
          </a:solidFill>
          <a:ln w="12700">
            <a:solidFill>
              <a:srgbClr val="5E7D2E"/>
            </a:solidFill>
            <a:prstDash val="dash"/>
          </a:ln>
        </p:spPr>
      </p:sp>
      <p:sp>
        <p:nvSpPr>
          <p:cNvPr id="143" name="Text 136"/>
          <p:cNvSpPr txBox="1"/>
          <p:nvPr/>
        </p:nvSpPr>
        <p:spPr>
          <a:xfrm>
            <a:off x="3310128" y="24048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E7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branch (HD)</a:t>
            </a:r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separate output, not added to F</a:t>
            </a:r>
            <a:endParaRPr lang="en-US" sz="1100" dirty="0"/>
          </a:p>
        </p:txBody>
      </p:sp>
      <p:sp>
        <p:nvSpPr>
          <p:cNvPr id="144" name="Shape 137"/>
          <p:cNvSpPr/>
          <p:nvPr/>
        </p:nvSpPr>
        <p:spPr>
          <a:xfrm>
            <a:off x="5852160" y="2679192"/>
            <a:ext cx="123444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5E7D2E"/>
            </a:solidFill>
            <a:prstDash val="solid"/>
          </a:ln>
        </p:spPr>
      </p:sp>
      <p:sp>
        <p:nvSpPr>
          <p:cNvPr id="145" name="Text 138"/>
          <p:cNvSpPr txBox="1"/>
          <p:nvPr/>
        </p:nvSpPr>
        <p:spPr>
          <a:xfrm>
            <a:off x="5852160" y="2679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[H ; z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448</a:t>
            </a:r>
            <a:endParaRPr lang="en-US" sz="1100" dirty="0"/>
          </a:p>
        </p:txBody>
      </p:sp>
      <p:sp>
        <p:nvSpPr>
          <p:cNvPr id="146" name="Shape 139"/>
          <p:cNvSpPr/>
          <p:nvPr/>
        </p:nvSpPr>
        <p:spPr>
          <a:xfrm>
            <a:off x="7086600" y="2843784"/>
            <a:ext cx="274320" cy="91"/>
          </a:xfrm>
          <a:prstGeom prst="line">
            <a:avLst/>
          </a:prstGeom>
          <a:noFill/>
          <a:ln w="1397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47" name="Shape 140"/>
          <p:cNvSpPr/>
          <p:nvPr/>
        </p:nvSpPr>
        <p:spPr>
          <a:xfrm>
            <a:off x="7379208" y="2679192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EAF1DC"/>
          </a:solidFill>
          <a:ln w="12700">
            <a:solidFill>
              <a:srgbClr val="5E7D2E"/>
            </a:solidFill>
            <a:prstDash val="solid"/>
          </a:ln>
        </p:spPr>
      </p:sp>
      <p:sp>
        <p:nvSpPr>
          <p:cNvPr id="148" name="Text 141"/>
          <p:cNvSpPr txBox="1"/>
          <p:nvPr/>
        </p:nvSpPr>
        <p:spPr>
          <a:xfrm>
            <a:off x="7379208" y="26791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LN–Lin–GELU–Lin</a:t>
            </a:r>
            <a:endParaRPr lang="en-US" sz="950" dirty="0"/>
          </a:p>
        </p:txBody>
      </p:sp>
      <p:sp>
        <p:nvSpPr>
          <p:cNvPr id="149" name="Shape 142"/>
          <p:cNvSpPr/>
          <p:nvPr/>
        </p:nvSpPr>
        <p:spPr>
          <a:xfrm>
            <a:off x="8796528" y="2843784"/>
            <a:ext cx="164592" cy="91"/>
          </a:xfrm>
          <a:prstGeom prst="line">
            <a:avLst/>
          </a:prstGeom>
          <a:noFill/>
          <a:ln w="1397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50" name="Shape 143"/>
          <p:cNvSpPr/>
          <p:nvPr/>
        </p:nvSpPr>
        <p:spPr>
          <a:xfrm>
            <a:off x="8997696" y="2950769"/>
            <a:ext cx="64008" cy="57607"/>
          </a:xfrm>
          <a:prstGeom prst="rect">
            <a:avLst/>
          </a:prstGeom>
          <a:solidFill>
            <a:srgbClr val="C0CCAD"/>
          </a:solidFill>
          <a:ln/>
        </p:spPr>
      </p:sp>
      <p:sp>
        <p:nvSpPr>
          <p:cNvPr id="151" name="Shape 144"/>
          <p:cNvSpPr/>
          <p:nvPr/>
        </p:nvSpPr>
        <p:spPr>
          <a:xfrm>
            <a:off x="9089136" y="2931566"/>
            <a:ext cx="64008" cy="76810"/>
          </a:xfrm>
          <a:prstGeom prst="rect">
            <a:avLst/>
          </a:prstGeom>
          <a:solidFill>
            <a:srgbClr val="BBC8A7"/>
          </a:solidFill>
          <a:ln/>
        </p:spPr>
      </p:sp>
      <p:sp>
        <p:nvSpPr>
          <p:cNvPr id="152" name="Shape 145"/>
          <p:cNvSpPr/>
          <p:nvPr/>
        </p:nvSpPr>
        <p:spPr>
          <a:xfrm>
            <a:off x="9180576" y="2912364"/>
            <a:ext cx="64008" cy="96012"/>
          </a:xfrm>
          <a:prstGeom prst="rect">
            <a:avLst/>
          </a:prstGeom>
          <a:solidFill>
            <a:srgbClr val="B7C5A1"/>
          </a:solidFill>
          <a:ln/>
        </p:spPr>
      </p:sp>
      <p:sp>
        <p:nvSpPr>
          <p:cNvPr id="153" name="Shape 146"/>
          <p:cNvSpPr/>
          <p:nvPr/>
        </p:nvSpPr>
        <p:spPr>
          <a:xfrm>
            <a:off x="9272016" y="2739542"/>
            <a:ext cx="64008" cy="268834"/>
          </a:xfrm>
          <a:prstGeom prst="rect">
            <a:avLst/>
          </a:prstGeom>
          <a:solidFill>
            <a:srgbClr val="8BA169"/>
          </a:solidFill>
          <a:ln/>
        </p:spPr>
      </p:sp>
      <p:sp>
        <p:nvSpPr>
          <p:cNvPr id="154" name="Shape 147"/>
          <p:cNvSpPr/>
          <p:nvPr/>
        </p:nvSpPr>
        <p:spPr>
          <a:xfrm>
            <a:off x="9363456" y="2662733"/>
            <a:ext cx="64008" cy="345643"/>
          </a:xfrm>
          <a:prstGeom prst="rect">
            <a:avLst/>
          </a:prstGeom>
          <a:solidFill>
            <a:srgbClr val="78924F"/>
          </a:solidFill>
          <a:ln/>
        </p:spPr>
      </p:sp>
      <p:sp>
        <p:nvSpPr>
          <p:cNvPr id="155" name="Shape 148"/>
          <p:cNvSpPr/>
          <p:nvPr/>
        </p:nvSpPr>
        <p:spPr>
          <a:xfrm>
            <a:off x="9454896" y="2681935"/>
            <a:ext cx="64008" cy="326441"/>
          </a:xfrm>
          <a:prstGeom prst="rect">
            <a:avLst/>
          </a:prstGeom>
          <a:solidFill>
            <a:srgbClr val="7D9656"/>
          </a:solidFill>
          <a:ln/>
        </p:spPr>
      </p:sp>
      <p:sp>
        <p:nvSpPr>
          <p:cNvPr id="156" name="Shape 149"/>
          <p:cNvSpPr/>
          <p:nvPr/>
        </p:nvSpPr>
        <p:spPr>
          <a:xfrm>
            <a:off x="9546336" y="2720340"/>
            <a:ext cx="64008" cy="288036"/>
          </a:xfrm>
          <a:prstGeom prst="rect">
            <a:avLst/>
          </a:prstGeom>
          <a:solidFill>
            <a:srgbClr val="869E62"/>
          </a:solidFill>
          <a:ln/>
        </p:spPr>
      </p:sp>
      <p:sp>
        <p:nvSpPr>
          <p:cNvPr id="157" name="Shape 150"/>
          <p:cNvSpPr/>
          <p:nvPr/>
        </p:nvSpPr>
        <p:spPr>
          <a:xfrm>
            <a:off x="9637776" y="2931566"/>
            <a:ext cx="64008" cy="76810"/>
          </a:xfrm>
          <a:prstGeom prst="rect">
            <a:avLst/>
          </a:prstGeom>
          <a:solidFill>
            <a:srgbClr val="BBC8A7"/>
          </a:solidFill>
          <a:ln/>
        </p:spPr>
      </p:sp>
      <p:sp>
        <p:nvSpPr>
          <p:cNvPr id="158" name="Shape 151"/>
          <p:cNvSpPr/>
          <p:nvPr/>
        </p:nvSpPr>
        <p:spPr>
          <a:xfrm>
            <a:off x="9729216" y="2950769"/>
            <a:ext cx="64008" cy="57607"/>
          </a:xfrm>
          <a:prstGeom prst="rect">
            <a:avLst/>
          </a:prstGeom>
          <a:solidFill>
            <a:srgbClr val="C0CCAD"/>
          </a:solidFill>
          <a:ln/>
        </p:spPr>
      </p:sp>
      <p:sp>
        <p:nvSpPr>
          <p:cNvPr id="159" name="Shape 152"/>
          <p:cNvSpPr/>
          <p:nvPr/>
        </p:nvSpPr>
        <p:spPr>
          <a:xfrm>
            <a:off x="9820656" y="2969971"/>
            <a:ext cx="64008" cy="38405"/>
          </a:xfrm>
          <a:prstGeom prst="rect">
            <a:avLst/>
          </a:prstGeom>
          <a:solidFill>
            <a:srgbClr val="C5D0B4"/>
          </a:solidFill>
          <a:ln/>
        </p:spPr>
      </p:sp>
      <p:sp>
        <p:nvSpPr>
          <p:cNvPr id="160" name="Text 153"/>
          <p:cNvSpPr txBox="1"/>
          <p:nvPr/>
        </p:nvSpPr>
        <p:spPr>
          <a:xfrm>
            <a:off x="8138160" y="24048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E7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per-clip highlight score</a:t>
            </a:r>
            <a:endParaRPr lang="en-US" sz="900" dirty="0"/>
          </a:p>
        </p:txBody>
      </p:sp>
      <p:sp>
        <p:nvSpPr>
          <p:cNvPr id="161" name="Shape 154"/>
          <p:cNvSpPr/>
          <p:nvPr/>
        </p:nvSpPr>
        <p:spPr>
          <a:xfrm>
            <a:off x="6720840" y="1993392"/>
            <a:ext cx="91" cy="676656"/>
          </a:xfrm>
          <a:prstGeom prst="line">
            <a:avLst/>
          </a:prstGeom>
          <a:noFill/>
          <a:ln w="13970">
            <a:solidFill>
              <a:srgbClr val="4A6FA5"/>
            </a:solidFill>
            <a:prstDash val="solid"/>
            <a:headEnd type="none"/>
            <a:tailEnd type="triangle"/>
          </a:ln>
        </p:spPr>
      </p:sp>
      <p:sp>
        <p:nvSpPr>
          <p:cNvPr id="162" name="Text 155"/>
          <p:cNvSpPr txBox="1"/>
          <p:nvPr/>
        </p:nvSpPr>
        <p:spPr>
          <a:xfrm>
            <a:off x="6784848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(384)</a:t>
            </a:r>
            <a:endParaRPr lang="en-US" sz="1050" dirty="0"/>
          </a:p>
        </p:txBody>
      </p:sp>
      <p:sp>
        <p:nvSpPr>
          <p:cNvPr id="163" name="Shape 156"/>
          <p:cNvSpPr/>
          <p:nvPr/>
        </p:nvSpPr>
        <p:spPr>
          <a:xfrm>
            <a:off x="3200400" y="3200400"/>
            <a:ext cx="6812280" cy="2715768"/>
          </a:xfrm>
          <a:prstGeom prst="roundRect">
            <a:avLst>
              <a:gd name="adj" fmla="val 2357"/>
            </a:avLst>
          </a:prstGeom>
          <a:solidFill>
            <a:srgbClr val="FAFAF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64" name="Text 157"/>
          <p:cNvSpPr txBox="1"/>
          <p:nvPr/>
        </p:nvSpPr>
        <p:spPr>
          <a:xfrm>
            <a:off x="4937760" y="3246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Tri-Field Scorer  (raw 512-d features, d = 64)</a:t>
            </a:r>
            <a:endParaRPr lang="en-US" sz="1200" dirty="0"/>
          </a:p>
        </p:txBody>
      </p:sp>
      <p:pic>
        <p:nvPicPr>
          <p:cNvPr id="16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3273552"/>
            <a:ext cx="182880" cy="182880"/>
          </a:xfrm>
          <a:prstGeom prst="rect">
            <a:avLst/>
          </a:prstGeom>
        </p:spPr>
      </p:pic>
      <p:sp>
        <p:nvSpPr>
          <p:cNvPr id="166" name="Shape 158"/>
          <p:cNvSpPr/>
          <p:nvPr/>
        </p:nvSpPr>
        <p:spPr>
          <a:xfrm>
            <a:off x="3319272" y="3611880"/>
            <a:ext cx="64008" cy="1874520"/>
          </a:xfrm>
          <a:prstGeom prst="roundRect">
            <a:avLst>
              <a:gd name="adj" fmla="val 42857"/>
            </a:avLst>
          </a:prstGeom>
          <a:solidFill>
            <a:srgbClr val="D1D5DB"/>
          </a:solidFill>
          <a:ln/>
        </p:spPr>
      </p:sp>
      <p:sp>
        <p:nvSpPr>
          <p:cNvPr id="167" name="Text 159"/>
          <p:cNvSpPr txBox="1"/>
          <p:nvPr/>
        </p:nvSpPr>
        <p:spPr>
          <a:xfrm>
            <a:off x="3063240" y="555040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V̂, Q̂</a:t>
            </a:r>
            <a:endParaRPr lang="en-US" sz="1100" dirty="0"/>
          </a:p>
        </p:txBody>
      </p:sp>
      <p:sp>
        <p:nvSpPr>
          <p:cNvPr id="168" name="Shape 160"/>
          <p:cNvSpPr/>
          <p:nvPr/>
        </p:nvSpPr>
        <p:spPr>
          <a:xfrm>
            <a:off x="3383280" y="3886200"/>
            <a:ext cx="164592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69" name="Shape 161"/>
          <p:cNvSpPr/>
          <p:nvPr/>
        </p:nvSpPr>
        <p:spPr>
          <a:xfrm>
            <a:off x="3566160" y="356616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F9DCD9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70" name="Text 162"/>
          <p:cNvSpPr txBox="1"/>
          <p:nvPr/>
        </p:nvSpPr>
        <p:spPr>
          <a:xfrm>
            <a:off x="3566160" y="3566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V→Q attn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050" dirty="0"/>
          </a:p>
        </p:txBody>
      </p:sp>
      <p:sp>
        <p:nvSpPr>
          <p:cNvPr id="171" name="Shape 163"/>
          <p:cNvSpPr/>
          <p:nvPr/>
        </p:nvSpPr>
        <p:spPr>
          <a:xfrm>
            <a:off x="4754880" y="3886200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72" name="Shape 164"/>
          <p:cNvSpPr/>
          <p:nvPr/>
        </p:nvSpPr>
        <p:spPr>
          <a:xfrm>
            <a:off x="5029200" y="3566160"/>
            <a:ext cx="2606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73" name="Text 165"/>
          <p:cNvSpPr txBox="1"/>
          <p:nvPr/>
        </p:nvSpPr>
        <p:spPr>
          <a:xfrm>
            <a:off x="5074920" y="3566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score → tanh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over [s, e]</a:t>
            </a:r>
            <a:endParaRPr lang="en-US" sz="1050" dirty="0"/>
          </a:p>
        </p:txBody>
      </p:sp>
      <p:sp>
        <p:nvSpPr>
          <p:cNvPr id="174" name="Shape 166"/>
          <p:cNvSpPr/>
          <p:nvPr/>
        </p:nvSpPr>
        <p:spPr>
          <a:xfrm>
            <a:off x="7635240" y="3886200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75" name="Shape 167"/>
          <p:cNvSpPr/>
          <p:nvPr/>
        </p:nvSpPr>
        <p:spPr>
          <a:xfrm>
            <a:off x="7918704" y="3598164"/>
            <a:ext cx="96012" cy="96012"/>
          </a:xfrm>
          <a:prstGeom prst="rect">
            <a:avLst/>
          </a:prstGeom>
          <a:solidFill>
            <a:srgbClr val="EBBC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68"/>
          <p:cNvSpPr/>
          <p:nvPr/>
        </p:nvSpPr>
        <p:spPr>
          <a:xfrm>
            <a:off x="8014716" y="3598164"/>
            <a:ext cx="96012" cy="96012"/>
          </a:xfrm>
          <a:prstGeom prst="rect">
            <a:avLst/>
          </a:prstGeom>
          <a:solidFill>
            <a:srgbClr val="E096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69"/>
          <p:cNvSpPr/>
          <p:nvPr/>
        </p:nvSpPr>
        <p:spPr>
          <a:xfrm>
            <a:off x="8110728" y="3598164"/>
            <a:ext cx="96012" cy="96012"/>
          </a:xfrm>
          <a:prstGeom prst="rect">
            <a:avLst/>
          </a:prstGeom>
          <a:solidFill>
            <a:srgbClr val="E29E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0"/>
          <p:cNvSpPr/>
          <p:nvPr/>
        </p:nvSpPr>
        <p:spPr>
          <a:xfrm>
            <a:off x="8206740" y="3598164"/>
            <a:ext cx="96012" cy="96012"/>
          </a:xfrm>
          <a:prstGeom prst="rect">
            <a:avLst/>
          </a:prstGeom>
          <a:solidFill>
            <a:srgbClr val="D7797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1"/>
          <p:cNvSpPr/>
          <p:nvPr/>
        </p:nvSpPr>
        <p:spPr>
          <a:xfrm>
            <a:off x="8302752" y="3598164"/>
            <a:ext cx="96012" cy="96012"/>
          </a:xfrm>
          <a:prstGeom prst="rect">
            <a:avLst/>
          </a:prstGeom>
          <a:solidFill>
            <a:srgbClr val="C94A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2"/>
          <p:cNvSpPr/>
          <p:nvPr/>
        </p:nvSpPr>
        <p:spPr>
          <a:xfrm>
            <a:off x="8398764" y="3598164"/>
            <a:ext cx="96012" cy="96012"/>
          </a:xfrm>
          <a:prstGeom prst="rect">
            <a:avLst/>
          </a:prstGeom>
          <a:solidFill>
            <a:srgbClr val="D777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Shape 173"/>
          <p:cNvSpPr/>
          <p:nvPr/>
        </p:nvSpPr>
        <p:spPr>
          <a:xfrm>
            <a:off x="7918704" y="369417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Shape 174"/>
          <p:cNvSpPr/>
          <p:nvPr/>
        </p:nvSpPr>
        <p:spPr>
          <a:xfrm>
            <a:off x="8014716" y="3694176"/>
            <a:ext cx="96012" cy="96012"/>
          </a:xfrm>
          <a:prstGeom prst="rect">
            <a:avLst/>
          </a:prstGeom>
          <a:solidFill>
            <a:srgbClr val="F7E3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Shape 175"/>
          <p:cNvSpPr/>
          <p:nvPr/>
        </p:nvSpPr>
        <p:spPr>
          <a:xfrm>
            <a:off x="8110728" y="3694176"/>
            <a:ext cx="96012" cy="96012"/>
          </a:xfrm>
          <a:prstGeom prst="rect">
            <a:avLst/>
          </a:prstGeom>
          <a:solidFill>
            <a:srgbClr val="E199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Shape 176"/>
          <p:cNvSpPr/>
          <p:nvPr/>
        </p:nvSpPr>
        <p:spPr>
          <a:xfrm>
            <a:off x="8206740" y="3694176"/>
            <a:ext cx="96012" cy="96012"/>
          </a:xfrm>
          <a:prstGeom prst="rect">
            <a:avLst/>
          </a:prstGeom>
          <a:solidFill>
            <a:srgbClr val="C94A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Shape 177"/>
          <p:cNvSpPr/>
          <p:nvPr/>
        </p:nvSpPr>
        <p:spPr>
          <a:xfrm>
            <a:off x="8302752" y="3694176"/>
            <a:ext cx="96012" cy="96012"/>
          </a:xfrm>
          <a:prstGeom prst="rect">
            <a:avLst/>
          </a:prstGeom>
          <a:solidFill>
            <a:srgbClr val="D36B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6" name="Shape 178"/>
          <p:cNvSpPr/>
          <p:nvPr/>
        </p:nvSpPr>
        <p:spPr>
          <a:xfrm>
            <a:off x="8398764" y="3694176"/>
            <a:ext cx="96012" cy="96012"/>
          </a:xfrm>
          <a:prstGeom prst="rect">
            <a:avLst/>
          </a:prstGeom>
          <a:solidFill>
            <a:srgbClr val="DB85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Shape 179"/>
          <p:cNvSpPr/>
          <p:nvPr/>
        </p:nvSpPr>
        <p:spPr>
          <a:xfrm>
            <a:off x="7918704" y="379018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Shape 180"/>
          <p:cNvSpPr/>
          <p:nvPr/>
        </p:nvSpPr>
        <p:spPr>
          <a:xfrm>
            <a:off x="8014716" y="379018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Shape 181"/>
          <p:cNvSpPr/>
          <p:nvPr/>
        </p:nvSpPr>
        <p:spPr>
          <a:xfrm>
            <a:off x="8110728" y="3790188"/>
            <a:ext cx="96012" cy="96012"/>
          </a:xfrm>
          <a:prstGeom prst="rect">
            <a:avLst/>
          </a:prstGeom>
          <a:solidFill>
            <a:srgbClr val="D87B7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Shape 182"/>
          <p:cNvSpPr/>
          <p:nvPr/>
        </p:nvSpPr>
        <p:spPr>
          <a:xfrm>
            <a:off x="8206740" y="3790188"/>
            <a:ext cx="96012" cy="96012"/>
          </a:xfrm>
          <a:prstGeom prst="rect">
            <a:avLst/>
          </a:prstGeom>
          <a:solidFill>
            <a:srgbClr val="D268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Shape 183"/>
          <p:cNvSpPr/>
          <p:nvPr/>
        </p:nvSpPr>
        <p:spPr>
          <a:xfrm>
            <a:off x="8302752" y="3790188"/>
            <a:ext cx="96012" cy="96012"/>
          </a:xfrm>
          <a:prstGeom prst="rect">
            <a:avLst/>
          </a:prstGeom>
          <a:solidFill>
            <a:srgbClr val="CD55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2" name="Shape 184"/>
          <p:cNvSpPr/>
          <p:nvPr/>
        </p:nvSpPr>
        <p:spPr>
          <a:xfrm>
            <a:off x="8398764" y="3790188"/>
            <a:ext cx="96012" cy="96012"/>
          </a:xfrm>
          <a:prstGeom prst="rect">
            <a:avLst/>
          </a:prstGeom>
          <a:solidFill>
            <a:srgbClr val="CA4B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Shape 185"/>
          <p:cNvSpPr/>
          <p:nvPr/>
        </p:nvSpPr>
        <p:spPr>
          <a:xfrm>
            <a:off x="7918704" y="388620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Shape 186"/>
          <p:cNvSpPr/>
          <p:nvPr/>
        </p:nvSpPr>
        <p:spPr>
          <a:xfrm>
            <a:off x="8014716" y="388620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Shape 187"/>
          <p:cNvSpPr/>
          <p:nvPr/>
        </p:nvSpPr>
        <p:spPr>
          <a:xfrm>
            <a:off x="8110728" y="388620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Shape 188"/>
          <p:cNvSpPr/>
          <p:nvPr/>
        </p:nvSpPr>
        <p:spPr>
          <a:xfrm>
            <a:off x="8206740" y="3886200"/>
            <a:ext cx="96012" cy="96012"/>
          </a:xfrm>
          <a:prstGeom prst="rect">
            <a:avLst/>
          </a:prstGeom>
          <a:solidFill>
            <a:srgbClr val="D779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Shape 189"/>
          <p:cNvSpPr/>
          <p:nvPr/>
        </p:nvSpPr>
        <p:spPr>
          <a:xfrm>
            <a:off x="8302752" y="3886200"/>
            <a:ext cx="96012" cy="96012"/>
          </a:xfrm>
          <a:prstGeom prst="rect">
            <a:avLst/>
          </a:prstGeom>
          <a:solidFill>
            <a:srgbClr val="CB4F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Shape 190"/>
          <p:cNvSpPr/>
          <p:nvPr/>
        </p:nvSpPr>
        <p:spPr>
          <a:xfrm>
            <a:off x="8398764" y="3886200"/>
            <a:ext cx="96012" cy="96012"/>
          </a:xfrm>
          <a:prstGeom prst="rect">
            <a:avLst/>
          </a:prstGeom>
          <a:solidFill>
            <a:srgbClr val="DF93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Shape 191"/>
          <p:cNvSpPr/>
          <p:nvPr/>
        </p:nvSpPr>
        <p:spPr>
          <a:xfrm>
            <a:off x="7918704" y="39822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0" name="Shape 192"/>
          <p:cNvSpPr/>
          <p:nvPr/>
        </p:nvSpPr>
        <p:spPr>
          <a:xfrm>
            <a:off x="8014716" y="39822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Shape 193"/>
          <p:cNvSpPr/>
          <p:nvPr/>
        </p:nvSpPr>
        <p:spPr>
          <a:xfrm>
            <a:off x="8110728" y="39822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Shape 194"/>
          <p:cNvSpPr/>
          <p:nvPr/>
        </p:nvSpPr>
        <p:spPr>
          <a:xfrm>
            <a:off x="8206740" y="39822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Shape 195"/>
          <p:cNvSpPr/>
          <p:nvPr/>
        </p:nvSpPr>
        <p:spPr>
          <a:xfrm>
            <a:off x="8302752" y="3982212"/>
            <a:ext cx="96012" cy="96012"/>
          </a:xfrm>
          <a:prstGeom prst="rect">
            <a:avLst/>
          </a:prstGeom>
          <a:solidFill>
            <a:srgbClr val="EDC3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Shape 196"/>
          <p:cNvSpPr/>
          <p:nvPr/>
        </p:nvSpPr>
        <p:spPr>
          <a:xfrm>
            <a:off x="8398764" y="3982212"/>
            <a:ext cx="96012" cy="96012"/>
          </a:xfrm>
          <a:prstGeom prst="rect">
            <a:avLst/>
          </a:prstGeom>
          <a:solidFill>
            <a:srgbClr val="EBBA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Shape 197"/>
          <p:cNvSpPr/>
          <p:nvPr/>
        </p:nvSpPr>
        <p:spPr>
          <a:xfrm>
            <a:off x="7918704" y="407822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Shape 198"/>
          <p:cNvSpPr/>
          <p:nvPr/>
        </p:nvSpPr>
        <p:spPr>
          <a:xfrm>
            <a:off x="8014716" y="407822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Shape 199"/>
          <p:cNvSpPr/>
          <p:nvPr/>
        </p:nvSpPr>
        <p:spPr>
          <a:xfrm>
            <a:off x="8110728" y="407822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8" name="Shape 200"/>
          <p:cNvSpPr/>
          <p:nvPr/>
        </p:nvSpPr>
        <p:spPr>
          <a:xfrm>
            <a:off x="8206740" y="407822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9" name="Shape 201"/>
          <p:cNvSpPr/>
          <p:nvPr/>
        </p:nvSpPr>
        <p:spPr>
          <a:xfrm>
            <a:off x="8302752" y="407822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0" name="Shape 202"/>
          <p:cNvSpPr/>
          <p:nvPr/>
        </p:nvSpPr>
        <p:spPr>
          <a:xfrm>
            <a:off x="8398764" y="4078224"/>
            <a:ext cx="96012" cy="96012"/>
          </a:xfrm>
          <a:prstGeom prst="rect">
            <a:avLst/>
          </a:prstGeom>
          <a:solidFill>
            <a:srgbClr val="F0CC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Shape 203"/>
          <p:cNvSpPr/>
          <p:nvPr/>
        </p:nvSpPr>
        <p:spPr>
          <a:xfrm>
            <a:off x="7918704" y="3598164"/>
            <a:ext cx="576072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12" name="Text 204"/>
          <p:cNvSpPr txBox="1"/>
          <p:nvPr/>
        </p:nvSpPr>
        <p:spPr>
          <a:xfrm>
            <a:off x="8558784" y="37398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400" dirty="0"/>
          </a:p>
        </p:txBody>
      </p:sp>
      <p:sp>
        <p:nvSpPr>
          <p:cNvPr id="213" name="Shape 205"/>
          <p:cNvSpPr/>
          <p:nvPr/>
        </p:nvSpPr>
        <p:spPr>
          <a:xfrm>
            <a:off x="3383280" y="4663440"/>
            <a:ext cx="164592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14" name="Shape 206"/>
          <p:cNvSpPr/>
          <p:nvPr/>
        </p:nvSpPr>
        <p:spPr>
          <a:xfrm>
            <a:off x="3566160" y="434340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D3EEE8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15" name="Text 207"/>
          <p:cNvSpPr txBox="1"/>
          <p:nvPr/>
        </p:nvSpPr>
        <p:spPr>
          <a:xfrm>
            <a:off x="3566160" y="4343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V→Q attn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050" dirty="0"/>
          </a:p>
        </p:txBody>
      </p:sp>
      <p:sp>
        <p:nvSpPr>
          <p:cNvPr id="216" name="Shape 208"/>
          <p:cNvSpPr/>
          <p:nvPr/>
        </p:nvSpPr>
        <p:spPr>
          <a:xfrm>
            <a:off x="4754880" y="4663440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17" name="Shape 209"/>
          <p:cNvSpPr/>
          <p:nvPr/>
        </p:nvSpPr>
        <p:spPr>
          <a:xfrm>
            <a:off x="5029200" y="4343400"/>
            <a:ext cx="2606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18" name="Text 210"/>
          <p:cNvSpPr txBox="1"/>
          <p:nvPr/>
        </p:nvSpPr>
        <p:spPr>
          <a:xfrm>
            <a:off x="5074920" y="43434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head g(h</a:t>
            </a:r>
            <a:pPr algn="ctr" indent="0" marL="0">
              <a:buNone/>
            </a:pPr>
            <a:r>
              <a:rPr lang="en-US" sz="105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pPr algn="ctr" indent="0" marL="0">
              <a:buNone/>
            </a:pPr>
            <a:r>
              <a:rPr lang="en-US" sz="105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i+1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→ edge mean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local residual (predicted anchors)</a:t>
            </a:r>
            <a:endParaRPr lang="en-US" sz="1050" dirty="0"/>
          </a:p>
        </p:txBody>
      </p:sp>
      <p:sp>
        <p:nvSpPr>
          <p:cNvPr id="219" name="Shape 211"/>
          <p:cNvSpPr/>
          <p:nvPr/>
        </p:nvSpPr>
        <p:spPr>
          <a:xfrm>
            <a:off x="7635240" y="4663440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20" name="Shape 212"/>
          <p:cNvSpPr/>
          <p:nvPr/>
        </p:nvSpPr>
        <p:spPr>
          <a:xfrm>
            <a:off x="7918704" y="4375404"/>
            <a:ext cx="96012" cy="96012"/>
          </a:xfrm>
          <a:prstGeom prst="rect">
            <a:avLst/>
          </a:prstGeom>
          <a:solidFill>
            <a:srgbClr val="F5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Shape 213"/>
          <p:cNvSpPr/>
          <p:nvPr/>
        </p:nvSpPr>
        <p:spPr>
          <a:xfrm>
            <a:off x="8014716" y="4375404"/>
            <a:ext cx="96012" cy="96012"/>
          </a:xfrm>
          <a:prstGeom prst="rect">
            <a:avLst/>
          </a:prstGeom>
          <a:solidFill>
            <a:srgbClr val="D5E8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Shape 214"/>
          <p:cNvSpPr/>
          <p:nvPr/>
        </p:nvSpPr>
        <p:spPr>
          <a:xfrm>
            <a:off x="8110728" y="4375404"/>
            <a:ext cx="96012" cy="96012"/>
          </a:xfrm>
          <a:prstGeom prst="rect">
            <a:avLst/>
          </a:prstGeom>
          <a:solidFill>
            <a:srgbClr val="99C6B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Shape 215"/>
          <p:cNvSpPr/>
          <p:nvPr/>
        </p:nvSpPr>
        <p:spPr>
          <a:xfrm>
            <a:off x="8206740" y="4375404"/>
            <a:ext cx="96012" cy="96012"/>
          </a:xfrm>
          <a:prstGeom prst="rect">
            <a:avLst/>
          </a:prstGeom>
          <a:solidFill>
            <a:srgbClr val="72B1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4" name="Shape 216"/>
          <p:cNvSpPr/>
          <p:nvPr/>
        </p:nvSpPr>
        <p:spPr>
          <a:xfrm>
            <a:off x="8302752" y="4375404"/>
            <a:ext cx="96012" cy="96012"/>
          </a:xfrm>
          <a:prstGeom prst="rect">
            <a:avLst/>
          </a:prstGeom>
          <a:solidFill>
            <a:srgbClr val="4D9C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5" name="Shape 217"/>
          <p:cNvSpPr/>
          <p:nvPr/>
        </p:nvSpPr>
        <p:spPr>
          <a:xfrm>
            <a:off x="8398764" y="4375404"/>
            <a:ext cx="96012" cy="96012"/>
          </a:xfrm>
          <a:prstGeom prst="rect">
            <a:avLst/>
          </a:prstGeom>
          <a:solidFill>
            <a:srgbClr val="65AA9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6" name="Shape 218"/>
          <p:cNvSpPr/>
          <p:nvPr/>
        </p:nvSpPr>
        <p:spPr>
          <a:xfrm>
            <a:off x="7918704" y="447141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7" name="Shape 219"/>
          <p:cNvSpPr/>
          <p:nvPr/>
        </p:nvSpPr>
        <p:spPr>
          <a:xfrm>
            <a:off x="8014716" y="4471416"/>
            <a:ext cx="96012" cy="96012"/>
          </a:xfrm>
          <a:prstGeom prst="rect">
            <a:avLst/>
          </a:prstGeom>
          <a:solidFill>
            <a:srgbClr val="E6F1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8" name="Shape 220"/>
          <p:cNvSpPr/>
          <p:nvPr/>
        </p:nvSpPr>
        <p:spPr>
          <a:xfrm>
            <a:off x="8110728" y="4471416"/>
            <a:ext cx="96012" cy="96012"/>
          </a:xfrm>
          <a:prstGeom prst="rect">
            <a:avLst/>
          </a:prstGeom>
          <a:solidFill>
            <a:srgbClr val="89BD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Shape 221"/>
          <p:cNvSpPr/>
          <p:nvPr/>
        </p:nvSpPr>
        <p:spPr>
          <a:xfrm>
            <a:off x="8206740" y="4471416"/>
            <a:ext cx="96012" cy="96012"/>
          </a:xfrm>
          <a:prstGeom prst="rect">
            <a:avLst/>
          </a:prstGeom>
          <a:solidFill>
            <a:srgbClr val="519E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0" name="Shape 222"/>
          <p:cNvSpPr/>
          <p:nvPr/>
        </p:nvSpPr>
        <p:spPr>
          <a:xfrm>
            <a:off x="8302752" y="4471416"/>
            <a:ext cx="96012" cy="96012"/>
          </a:xfrm>
          <a:prstGeom prst="rect">
            <a:avLst/>
          </a:prstGeom>
          <a:solidFill>
            <a:srgbClr val="499A8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1" name="Shape 223"/>
          <p:cNvSpPr/>
          <p:nvPr/>
        </p:nvSpPr>
        <p:spPr>
          <a:xfrm>
            <a:off x="8398764" y="4471416"/>
            <a:ext cx="96012" cy="96012"/>
          </a:xfrm>
          <a:prstGeom prst="rect">
            <a:avLst/>
          </a:prstGeom>
          <a:solidFill>
            <a:srgbClr val="5EA6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Shape 224"/>
          <p:cNvSpPr/>
          <p:nvPr/>
        </p:nvSpPr>
        <p:spPr>
          <a:xfrm>
            <a:off x="7918704" y="456742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3" name="Shape 225"/>
          <p:cNvSpPr/>
          <p:nvPr/>
        </p:nvSpPr>
        <p:spPr>
          <a:xfrm>
            <a:off x="8014716" y="456742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4" name="Shape 226"/>
          <p:cNvSpPr/>
          <p:nvPr/>
        </p:nvSpPr>
        <p:spPr>
          <a:xfrm>
            <a:off x="8110728" y="4567428"/>
            <a:ext cx="96012" cy="96012"/>
          </a:xfrm>
          <a:prstGeom prst="rect">
            <a:avLst/>
          </a:prstGeom>
          <a:solidFill>
            <a:srgbClr val="70B0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5" name="Shape 227"/>
          <p:cNvSpPr/>
          <p:nvPr/>
        </p:nvSpPr>
        <p:spPr>
          <a:xfrm>
            <a:off x="8206740" y="4567428"/>
            <a:ext cx="96012" cy="96012"/>
          </a:xfrm>
          <a:prstGeom prst="rect">
            <a:avLst/>
          </a:prstGeom>
          <a:solidFill>
            <a:srgbClr val="4D9C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6" name="Shape 228"/>
          <p:cNvSpPr/>
          <p:nvPr/>
        </p:nvSpPr>
        <p:spPr>
          <a:xfrm>
            <a:off x="8302752" y="4567428"/>
            <a:ext cx="96012" cy="96012"/>
          </a:xfrm>
          <a:prstGeom prst="rect">
            <a:avLst/>
          </a:prstGeom>
          <a:solidFill>
            <a:srgbClr val="308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7" name="Shape 229"/>
          <p:cNvSpPr/>
          <p:nvPr/>
        </p:nvSpPr>
        <p:spPr>
          <a:xfrm>
            <a:off x="8398764" y="4567428"/>
            <a:ext cx="96012" cy="96012"/>
          </a:xfrm>
          <a:prstGeom prst="rect">
            <a:avLst/>
          </a:prstGeom>
          <a:solidFill>
            <a:srgbClr val="3C938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8" name="Shape 230"/>
          <p:cNvSpPr/>
          <p:nvPr/>
        </p:nvSpPr>
        <p:spPr>
          <a:xfrm>
            <a:off x="7918704" y="466344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9" name="Shape 231"/>
          <p:cNvSpPr/>
          <p:nvPr/>
        </p:nvSpPr>
        <p:spPr>
          <a:xfrm>
            <a:off x="8014716" y="466344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0" name="Shape 232"/>
          <p:cNvSpPr/>
          <p:nvPr/>
        </p:nvSpPr>
        <p:spPr>
          <a:xfrm>
            <a:off x="8110728" y="466344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1" name="Shape 233"/>
          <p:cNvSpPr/>
          <p:nvPr/>
        </p:nvSpPr>
        <p:spPr>
          <a:xfrm>
            <a:off x="8206740" y="4663440"/>
            <a:ext cx="96012" cy="96012"/>
          </a:xfrm>
          <a:prstGeom prst="rect">
            <a:avLst/>
          </a:prstGeom>
          <a:solidFill>
            <a:srgbClr val="78B4A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2" name="Shape 234"/>
          <p:cNvSpPr/>
          <p:nvPr/>
        </p:nvSpPr>
        <p:spPr>
          <a:xfrm>
            <a:off x="8302752" y="4663440"/>
            <a:ext cx="96012" cy="96012"/>
          </a:xfrm>
          <a:prstGeom prst="rect">
            <a:avLst/>
          </a:prstGeom>
          <a:solidFill>
            <a:srgbClr val="4A9B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3" name="Shape 235"/>
          <p:cNvSpPr/>
          <p:nvPr/>
        </p:nvSpPr>
        <p:spPr>
          <a:xfrm>
            <a:off x="8398764" y="4663440"/>
            <a:ext cx="96012" cy="96012"/>
          </a:xfrm>
          <a:prstGeom prst="rect">
            <a:avLst/>
          </a:prstGeom>
          <a:solidFill>
            <a:srgbClr val="70B0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4" name="Shape 236"/>
          <p:cNvSpPr/>
          <p:nvPr/>
        </p:nvSpPr>
        <p:spPr>
          <a:xfrm>
            <a:off x="7918704" y="475945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5" name="Shape 237"/>
          <p:cNvSpPr/>
          <p:nvPr/>
        </p:nvSpPr>
        <p:spPr>
          <a:xfrm>
            <a:off x="8014716" y="475945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6" name="Shape 238"/>
          <p:cNvSpPr/>
          <p:nvPr/>
        </p:nvSpPr>
        <p:spPr>
          <a:xfrm>
            <a:off x="8110728" y="475945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7" name="Shape 239"/>
          <p:cNvSpPr/>
          <p:nvPr/>
        </p:nvSpPr>
        <p:spPr>
          <a:xfrm>
            <a:off x="8206740" y="475945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8" name="Shape 240"/>
          <p:cNvSpPr/>
          <p:nvPr/>
        </p:nvSpPr>
        <p:spPr>
          <a:xfrm>
            <a:off x="8302752" y="4759452"/>
            <a:ext cx="96012" cy="96012"/>
          </a:xfrm>
          <a:prstGeom prst="rect">
            <a:avLst/>
          </a:prstGeom>
          <a:solidFill>
            <a:srgbClr val="93C3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9" name="Shape 241"/>
          <p:cNvSpPr/>
          <p:nvPr/>
        </p:nvSpPr>
        <p:spPr>
          <a:xfrm>
            <a:off x="8398764" y="4759452"/>
            <a:ext cx="96012" cy="96012"/>
          </a:xfrm>
          <a:prstGeom prst="rect">
            <a:avLst/>
          </a:prstGeom>
          <a:solidFill>
            <a:srgbClr val="99C7B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0" name="Shape 242"/>
          <p:cNvSpPr/>
          <p:nvPr/>
        </p:nvSpPr>
        <p:spPr>
          <a:xfrm>
            <a:off x="7918704" y="485546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1" name="Shape 243"/>
          <p:cNvSpPr/>
          <p:nvPr/>
        </p:nvSpPr>
        <p:spPr>
          <a:xfrm>
            <a:off x="8014716" y="485546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2" name="Shape 244"/>
          <p:cNvSpPr/>
          <p:nvPr/>
        </p:nvSpPr>
        <p:spPr>
          <a:xfrm>
            <a:off x="8110728" y="485546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3" name="Shape 245"/>
          <p:cNvSpPr/>
          <p:nvPr/>
        </p:nvSpPr>
        <p:spPr>
          <a:xfrm>
            <a:off x="8206740" y="485546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4" name="Shape 246"/>
          <p:cNvSpPr/>
          <p:nvPr/>
        </p:nvSpPr>
        <p:spPr>
          <a:xfrm>
            <a:off x="8302752" y="485546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5" name="Shape 247"/>
          <p:cNvSpPr/>
          <p:nvPr/>
        </p:nvSpPr>
        <p:spPr>
          <a:xfrm>
            <a:off x="8398764" y="4855464"/>
            <a:ext cx="96012" cy="96012"/>
          </a:xfrm>
          <a:prstGeom prst="rect">
            <a:avLst/>
          </a:prstGeom>
          <a:solidFill>
            <a:srgbClr val="ECF4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6" name="Shape 248"/>
          <p:cNvSpPr/>
          <p:nvPr/>
        </p:nvSpPr>
        <p:spPr>
          <a:xfrm>
            <a:off x="7918704" y="4375404"/>
            <a:ext cx="576072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57" name="Text 249"/>
          <p:cNvSpPr txBox="1"/>
          <p:nvPr/>
        </p:nvSpPr>
        <p:spPr>
          <a:xfrm>
            <a:off x="8558784" y="45171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400" dirty="0"/>
          </a:p>
        </p:txBody>
      </p:sp>
      <p:sp>
        <p:nvSpPr>
          <p:cNvPr id="258" name="Shape 250"/>
          <p:cNvSpPr/>
          <p:nvPr/>
        </p:nvSpPr>
        <p:spPr>
          <a:xfrm>
            <a:off x="3383280" y="5440680"/>
            <a:ext cx="164592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59" name="Shape 251"/>
          <p:cNvSpPr/>
          <p:nvPr/>
        </p:nvSpPr>
        <p:spPr>
          <a:xfrm>
            <a:off x="3566160" y="512064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FBEBC9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260" name="Text 252"/>
          <p:cNvSpPr txBox="1"/>
          <p:nvPr/>
        </p:nvSpPr>
        <p:spPr>
          <a:xfrm>
            <a:off x="3566160" y="5120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V→Q attn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050" dirty="0"/>
          </a:p>
        </p:txBody>
      </p:sp>
      <p:sp>
        <p:nvSpPr>
          <p:cNvPr id="261" name="Shape 253"/>
          <p:cNvSpPr/>
          <p:nvPr/>
        </p:nvSpPr>
        <p:spPr>
          <a:xfrm>
            <a:off x="4754880" y="5440680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62" name="Shape 254"/>
          <p:cNvSpPr/>
          <p:nvPr/>
        </p:nvSpPr>
        <p:spPr>
          <a:xfrm>
            <a:off x="5029200" y="5120640"/>
            <a:ext cx="2606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263" name="Text 255"/>
          <p:cNvSpPr txBox="1"/>
          <p:nvPr/>
        </p:nvSpPr>
        <p:spPr>
          <a:xfrm>
            <a:off x="5074920" y="51206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ctr" indent="0" marL="0">
              <a:buNone/>
            </a:pPr>
            <a:r>
              <a:rPr lang="en-US" sz="1050" baseline="3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Δ</a:t>
            </a:r>
            <a:pPr algn="ctr" indent="0" marL="0">
              <a:buNone/>
            </a:pPr>
            <a:r>
              <a:rPr lang="en-US" sz="1050" baseline="3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difference + input cue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</a:t>
            </a:r>
            <a:pPr algn="ctr" indent="0" marL="0">
              <a:buNone/>
            </a:pPr>
            <a:r>
              <a:rPr lang="en-US" sz="1050" baseline="3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(s), T</a:t>
            </a:r>
            <a:pPr algn="ctr" indent="0" marL="0">
              <a:buNone/>
            </a:pPr>
            <a:r>
              <a:rPr lang="en-US" sz="1050" baseline="3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</a:t>
            </a:r>
            <a:endParaRPr lang="en-US" sz="1050" dirty="0"/>
          </a:p>
        </p:txBody>
      </p:sp>
      <p:sp>
        <p:nvSpPr>
          <p:cNvPr id="264" name="Shape 256"/>
          <p:cNvSpPr/>
          <p:nvPr/>
        </p:nvSpPr>
        <p:spPr>
          <a:xfrm>
            <a:off x="7635240" y="5440680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65" name="Shape 257"/>
          <p:cNvSpPr/>
          <p:nvPr/>
        </p:nvSpPr>
        <p:spPr>
          <a:xfrm>
            <a:off x="7918704" y="5152644"/>
            <a:ext cx="96012" cy="960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6" name="Shape 258"/>
          <p:cNvSpPr/>
          <p:nvPr/>
        </p:nvSpPr>
        <p:spPr>
          <a:xfrm>
            <a:off x="8014716" y="5152644"/>
            <a:ext cx="96012" cy="960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7" name="Shape 259"/>
          <p:cNvSpPr/>
          <p:nvPr/>
        </p:nvSpPr>
        <p:spPr>
          <a:xfrm>
            <a:off x="8110728" y="5152644"/>
            <a:ext cx="96012" cy="96012"/>
          </a:xfrm>
          <a:prstGeom prst="rect">
            <a:avLst/>
          </a:prstGeom>
          <a:solidFill>
            <a:srgbClr val="FFFE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8" name="Shape 260"/>
          <p:cNvSpPr/>
          <p:nvPr/>
        </p:nvSpPr>
        <p:spPr>
          <a:xfrm>
            <a:off x="8206740" y="5152644"/>
            <a:ext cx="96012" cy="96012"/>
          </a:xfrm>
          <a:prstGeom prst="rect">
            <a:avLst/>
          </a:prstGeom>
          <a:solidFill>
            <a:srgbClr val="F0DB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9" name="Shape 261"/>
          <p:cNvSpPr/>
          <p:nvPr/>
        </p:nvSpPr>
        <p:spPr>
          <a:xfrm>
            <a:off x="8302752" y="5152644"/>
            <a:ext cx="96012" cy="96012"/>
          </a:xfrm>
          <a:prstGeom prst="rect">
            <a:avLst/>
          </a:prstGeom>
          <a:solidFill>
            <a:srgbClr val="F0DB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0" name="Shape 262"/>
          <p:cNvSpPr/>
          <p:nvPr/>
        </p:nvSpPr>
        <p:spPr>
          <a:xfrm>
            <a:off x="8398764" y="5152644"/>
            <a:ext cx="96012" cy="96012"/>
          </a:xfrm>
          <a:prstGeom prst="rect">
            <a:avLst/>
          </a:prstGeom>
          <a:solidFill>
            <a:srgbClr val="FFFE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1" name="Shape 263"/>
          <p:cNvSpPr/>
          <p:nvPr/>
        </p:nvSpPr>
        <p:spPr>
          <a:xfrm>
            <a:off x="7918704" y="524865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2" name="Shape 264"/>
          <p:cNvSpPr/>
          <p:nvPr/>
        </p:nvSpPr>
        <p:spPr>
          <a:xfrm>
            <a:off x="8014716" y="5248656"/>
            <a:ext cx="96012" cy="96012"/>
          </a:xfrm>
          <a:prstGeom prst="rect">
            <a:avLst/>
          </a:prstGeom>
          <a:solidFill>
            <a:srgbClr val="FEFC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3" name="Shape 265"/>
          <p:cNvSpPr/>
          <p:nvPr/>
        </p:nvSpPr>
        <p:spPr>
          <a:xfrm>
            <a:off x="8110728" y="5248656"/>
            <a:ext cx="96012" cy="96012"/>
          </a:xfrm>
          <a:prstGeom prst="rect">
            <a:avLst/>
          </a:prstGeom>
          <a:solidFill>
            <a:srgbClr val="FE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4" name="Shape 266"/>
          <p:cNvSpPr/>
          <p:nvPr/>
        </p:nvSpPr>
        <p:spPr>
          <a:xfrm>
            <a:off x="8206740" y="5248656"/>
            <a:ext cx="96012" cy="96012"/>
          </a:xfrm>
          <a:prstGeom prst="rect">
            <a:avLst/>
          </a:prstGeom>
          <a:solidFill>
            <a:srgbClr val="EFD8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5" name="Shape 267"/>
          <p:cNvSpPr/>
          <p:nvPr/>
        </p:nvSpPr>
        <p:spPr>
          <a:xfrm>
            <a:off x="8302752" y="5248656"/>
            <a:ext cx="96012" cy="96012"/>
          </a:xfrm>
          <a:prstGeom prst="rect">
            <a:avLst/>
          </a:prstGeom>
          <a:solidFill>
            <a:srgbClr val="EFD8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6" name="Shape 268"/>
          <p:cNvSpPr/>
          <p:nvPr/>
        </p:nvSpPr>
        <p:spPr>
          <a:xfrm>
            <a:off x="8398764" y="5248656"/>
            <a:ext cx="96012" cy="96012"/>
          </a:xfrm>
          <a:prstGeom prst="rect">
            <a:avLst/>
          </a:prstGeom>
          <a:solidFill>
            <a:srgbClr val="FE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7" name="Shape 269"/>
          <p:cNvSpPr/>
          <p:nvPr/>
        </p:nvSpPr>
        <p:spPr>
          <a:xfrm>
            <a:off x="7918704" y="534466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8" name="Shape 270"/>
          <p:cNvSpPr/>
          <p:nvPr/>
        </p:nvSpPr>
        <p:spPr>
          <a:xfrm>
            <a:off x="8014716" y="534466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9" name="Shape 271"/>
          <p:cNvSpPr/>
          <p:nvPr/>
        </p:nvSpPr>
        <p:spPr>
          <a:xfrm>
            <a:off x="8110728" y="5344668"/>
            <a:ext cx="96012" cy="96012"/>
          </a:xfrm>
          <a:prstGeom prst="rect">
            <a:avLst/>
          </a:prstGeom>
          <a:solidFill>
            <a:srgbClr val="EACA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0" name="Shape 272"/>
          <p:cNvSpPr/>
          <p:nvPr/>
        </p:nvSpPr>
        <p:spPr>
          <a:xfrm>
            <a:off x="8206740" y="5344668"/>
            <a:ext cx="96012" cy="96012"/>
          </a:xfrm>
          <a:prstGeom prst="rect">
            <a:avLst/>
          </a:prstGeom>
          <a:solidFill>
            <a:srgbClr val="DCA75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1" name="Shape 273"/>
          <p:cNvSpPr/>
          <p:nvPr/>
        </p:nvSpPr>
        <p:spPr>
          <a:xfrm>
            <a:off x="8302752" y="5344668"/>
            <a:ext cx="96012" cy="96012"/>
          </a:xfrm>
          <a:prstGeom prst="rect">
            <a:avLst/>
          </a:prstGeom>
          <a:solidFill>
            <a:srgbClr val="DCA75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2" name="Shape 274"/>
          <p:cNvSpPr/>
          <p:nvPr/>
        </p:nvSpPr>
        <p:spPr>
          <a:xfrm>
            <a:off x="8398764" y="5344668"/>
            <a:ext cx="96012" cy="96012"/>
          </a:xfrm>
          <a:prstGeom prst="rect">
            <a:avLst/>
          </a:prstGeom>
          <a:solidFill>
            <a:srgbClr val="EACA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3" name="Shape 275"/>
          <p:cNvSpPr/>
          <p:nvPr/>
        </p:nvSpPr>
        <p:spPr>
          <a:xfrm>
            <a:off x="7918704" y="544068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4" name="Shape 276"/>
          <p:cNvSpPr/>
          <p:nvPr/>
        </p:nvSpPr>
        <p:spPr>
          <a:xfrm>
            <a:off x="8014716" y="544068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5" name="Shape 277"/>
          <p:cNvSpPr/>
          <p:nvPr/>
        </p:nvSpPr>
        <p:spPr>
          <a:xfrm>
            <a:off x="8110728" y="544068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6" name="Shape 278"/>
          <p:cNvSpPr/>
          <p:nvPr/>
        </p:nvSpPr>
        <p:spPr>
          <a:xfrm>
            <a:off x="8206740" y="5440680"/>
            <a:ext cx="96012" cy="96012"/>
          </a:xfrm>
          <a:prstGeom prst="rect">
            <a:avLst/>
          </a:prstGeom>
          <a:solidFill>
            <a:srgbClr val="E9C7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7" name="Shape 279"/>
          <p:cNvSpPr/>
          <p:nvPr/>
        </p:nvSpPr>
        <p:spPr>
          <a:xfrm>
            <a:off x="8302752" y="5440680"/>
            <a:ext cx="96012" cy="96012"/>
          </a:xfrm>
          <a:prstGeom prst="rect">
            <a:avLst/>
          </a:prstGeom>
          <a:solidFill>
            <a:srgbClr val="E9C7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8" name="Shape 280"/>
          <p:cNvSpPr/>
          <p:nvPr/>
        </p:nvSpPr>
        <p:spPr>
          <a:xfrm>
            <a:off x="8398764" y="5440680"/>
            <a:ext cx="96012" cy="96012"/>
          </a:xfrm>
          <a:prstGeom prst="rect">
            <a:avLst/>
          </a:prstGeom>
          <a:solidFill>
            <a:srgbClr val="F7E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9" name="Shape 281"/>
          <p:cNvSpPr/>
          <p:nvPr/>
        </p:nvSpPr>
        <p:spPr>
          <a:xfrm>
            <a:off x="7918704" y="553669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0" name="Shape 282"/>
          <p:cNvSpPr/>
          <p:nvPr/>
        </p:nvSpPr>
        <p:spPr>
          <a:xfrm>
            <a:off x="8014716" y="553669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1" name="Shape 283"/>
          <p:cNvSpPr/>
          <p:nvPr/>
        </p:nvSpPr>
        <p:spPr>
          <a:xfrm>
            <a:off x="8110728" y="553669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2" name="Shape 284"/>
          <p:cNvSpPr/>
          <p:nvPr/>
        </p:nvSpPr>
        <p:spPr>
          <a:xfrm>
            <a:off x="8206740" y="553669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3" name="Shape 285"/>
          <p:cNvSpPr/>
          <p:nvPr/>
        </p:nvSpPr>
        <p:spPr>
          <a:xfrm>
            <a:off x="8302752" y="5536692"/>
            <a:ext cx="96012" cy="96012"/>
          </a:xfrm>
          <a:prstGeom prst="rect">
            <a:avLst/>
          </a:prstGeom>
          <a:solidFill>
            <a:srgbClr val="F0DB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4" name="Shape 286"/>
          <p:cNvSpPr/>
          <p:nvPr/>
        </p:nvSpPr>
        <p:spPr>
          <a:xfrm>
            <a:off x="8398764" y="5536692"/>
            <a:ext cx="96012" cy="96012"/>
          </a:xfrm>
          <a:prstGeom prst="rect">
            <a:avLst/>
          </a:prstGeom>
          <a:solidFill>
            <a:srgbClr val="FFFE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5" name="Shape 287"/>
          <p:cNvSpPr/>
          <p:nvPr/>
        </p:nvSpPr>
        <p:spPr>
          <a:xfrm>
            <a:off x="7918704" y="563270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6" name="Shape 288"/>
          <p:cNvSpPr/>
          <p:nvPr/>
        </p:nvSpPr>
        <p:spPr>
          <a:xfrm>
            <a:off x="8014716" y="563270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7" name="Shape 289"/>
          <p:cNvSpPr/>
          <p:nvPr/>
        </p:nvSpPr>
        <p:spPr>
          <a:xfrm>
            <a:off x="8110728" y="563270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8" name="Shape 290"/>
          <p:cNvSpPr/>
          <p:nvPr/>
        </p:nvSpPr>
        <p:spPr>
          <a:xfrm>
            <a:off x="8206740" y="563270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9" name="Shape 291"/>
          <p:cNvSpPr/>
          <p:nvPr/>
        </p:nvSpPr>
        <p:spPr>
          <a:xfrm>
            <a:off x="8302752" y="563270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0" name="Shape 292"/>
          <p:cNvSpPr/>
          <p:nvPr/>
        </p:nvSpPr>
        <p:spPr>
          <a:xfrm>
            <a:off x="8398764" y="5632704"/>
            <a:ext cx="96012" cy="96012"/>
          </a:xfrm>
          <a:prstGeom prst="rect">
            <a:avLst/>
          </a:prstGeom>
          <a:solidFill>
            <a:srgbClr val="FFFE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1" name="Shape 293"/>
          <p:cNvSpPr/>
          <p:nvPr/>
        </p:nvSpPr>
        <p:spPr>
          <a:xfrm>
            <a:off x="7918704" y="5152644"/>
            <a:ext cx="576072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02" name="Text 294"/>
          <p:cNvSpPr txBox="1"/>
          <p:nvPr/>
        </p:nvSpPr>
        <p:spPr>
          <a:xfrm>
            <a:off x="8558784" y="52943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400" dirty="0"/>
          </a:p>
        </p:txBody>
      </p:sp>
      <p:sp>
        <p:nvSpPr>
          <p:cNvPr id="303" name="Shape 295"/>
          <p:cNvSpPr/>
          <p:nvPr/>
        </p:nvSpPr>
        <p:spPr>
          <a:xfrm flipV="1">
            <a:off x="4160520" y="2843784"/>
            <a:ext cx="91" cy="713232"/>
          </a:xfrm>
          <a:prstGeom prst="line">
            <a:avLst/>
          </a:prstGeom>
          <a:noFill/>
          <a:ln w="13970">
            <a:solidFill>
              <a:srgbClr val="C8453C"/>
            </a:solidFill>
            <a:prstDash val="dash"/>
            <a:headEnd type="none"/>
            <a:tailEnd type="none"/>
          </a:ln>
        </p:spPr>
      </p:sp>
      <p:sp>
        <p:nvSpPr>
          <p:cNvPr id="304" name="Shape 296"/>
          <p:cNvSpPr/>
          <p:nvPr/>
        </p:nvSpPr>
        <p:spPr>
          <a:xfrm>
            <a:off x="4160520" y="2843784"/>
            <a:ext cx="1682496" cy="91"/>
          </a:xfrm>
          <a:prstGeom prst="line">
            <a:avLst/>
          </a:prstGeom>
          <a:noFill/>
          <a:ln w="13970">
            <a:solidFill>
              <a:srgbClr val="C8453C"/>
            </a:solidFill>
            <a:prstDash val="dash"/>
            <a:headEnd type="none"/>
            <a:tailEnd type="triangle"/>
          </a:ln>
        </p:spPr>
      </p:sp>
      <p:sp>
        <p:nvSpPr>
          <p:cNvPr id="305" name="Text 297"/>
          <p:cNvSpPr txBox="1"/>
          <p:nvPr/>
        </p:nvSpPr>
        <p:spPr>
          <a:xfrm>
            <a:off x="4251960" y="28529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(64-d embedding)</a:t>
            </a:r>
            <a:endParaRPr lang="en-US" sz="1050" dirty="0"/>
          </a:p>
        </p:txBody>
      </p:sp>
      <p:sp>
        <p:nvSpPr>
          <p:cNvPr id="306" name="Shape 298"/>
          <p:cNvSpPr/>
          <p:nvPr/>
        </p:nvSpPr>
        <p:spPr>
          <a:xfrm>
            <a:off x="2834640" y="4636008"/>
            <a:ext cx="237744" cy="91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307" name="Shape 299"/>
          <p:cNvSpPr/>
          <p:nvPr/>
        </p:nvSpPr>
        <p:spPr>
          <a:xfrm flipV="1">
            <a:off x="3072384" y="2240280"/>
            <a:ext cx="91" cy="2395728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308" name="Shape 300"/>
          <p:cNvSpPr/>
          <p:nvPr/>
        </p:nvSpPr>
        <p:spPr>
          <a:xfrm>
            <a:off x="3072384" y="2240280"/>
            <a:ext cx="3282696" cy="91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309" name="Shape 301"/>
          <p:cNvSpPr/>
          <p:nvPr/>
        </p:nvSpPr>
        <p:spPr>
          <a:xfrm flipV="1">
            <a:off x="4133088" y="2020824"/>
            <a:ext cx="91" cy="219456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10" name="Shape 302"/>
          <p:cNvSpPr/>
          <p:nvPr/>
        </p:nvSpPr>
        <p:spPr>
          <a:xfrm flipV="1">
            <a:off x="6355080" y="2002536"/>
            <a:ext cx="91" cy="237744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11" name="Shape 303"/>
          <p:cNvSpPr/>
          <p:nvPr/>
        </p:nvSpPr>
        <p:spPr>
          <a:xfrm>
            <a:off x="4101084" y="2208276"/>
            <a:ext cx="64008" cy="6400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12" name="Text 304"/>
          <p:cNvSpPr txBox="1"/>
          <p:nvPr/>
        </p:nvSpPr>
        <p:spPr>
          <a:xfrm>
            <a:off x="5120640" y="201168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100" dirty="0"/>
          </a:p>
        </p:txBody>
      </p:sp>
      <p:sp>
        <p:nvSpPr>
          <p:cNvPr id="313" name="Shape 305"/>
          <p:cNvSpPr/>
          <p:nvPr/>
        </p:nvSpPr>
        <p:spPr>
          <a:xfrm>
            <a:off x="3072384" y="4636008"/>
            <a:ext cx="237744" cy="91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14" name="Shape 306"/>
          <p:cNvSpPr/>
          <p:nvPr/>
        </p:nvSpPr>
        <p:spPr>
          <a:xfrm>
            <a:off x="3040380" y="4604004"/>
            <a:ext cx="64008" cy="6400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15" name="Shape 307"/>
          <p:cNvSpPr/>
          <p:nvPr/>
        </p:nvSpPr>
        <p:spPr>
          <a:xfrm>
            <a:off x="2752344" y="1737360"/>
            <a:ext cx="91" cy="2011680"/>
          </a:xfrm>
          <a:prstGeom prst="line">
            <a:avLst/>
          </a:prstGeom>
          <a:noFill/>
          <a:ln w="13970">
            <a:solidFill>
              <a:srgbClr val="4A6FA5"/>
            </a:solidFill>
            <a:prstDash val="solid"/>
            <a:headEnd type="none"/>
            <a:tailEnd type="none"/>
          </a:ln>
        </p:spPr>
      </p:sp>
      <p:sp>
        <p:nvSpPr>
          <p:cNvPr id="316" name="Shape 308"/>
          <p:cNvSpPr/>
          <p:nvPr/>
        </p:nvSpPr>
        <p:spPr>
          <a:xfrm>
            <a:off x="2752344" y="3749040"/>
            <a:ext cx="557784" cy="9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17" name="Shape 309"/>
          <p:cNvSpPr/>
          <p:nvPr/>
        </p:nvSpPr>
        <p:spPr>
          <a:xfrm>
            <a:off x="2752344" y="3749040"/>
            <a:ext cx="557784" cy="91"/>
          </a:xfrm>
          <a:prstGeom prst="line">
            <a:avLst/>
          </a:prstGeom>
          <a:noFill/>
          <a:ln w="13970">
            <a:solidFill>
              <a:srgbClr val="4A6FA5"/>
            </a:solidFill>
            <a:prstDash val="solid"/>
            <a:headEnd type="none"/>
            <a:tailEnd type="triangle"/>
          </a:ln>
        </p:spPr>
      </p:sp>
      <p:sp>
        <p:nvSpPr>
          <p:cNvPr id="318" name="Text 310"/>
          <p:cNvSpPr txBox="1"/>
          <p:nvPr/>
        </p:nvSpPr>
        <p:spPr>
          <a:xfrm>
            <a:off x="2395728" y="28346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900" dirty="0"/>
          </a:p>
        </p:txBody>
      </p:sp>
      <p:sp>
        <p:nvSpPr>
          <p:cNvPr id="319" name="Shape 311"/>
          <p:cNvSpPr/>
          <p:nvPr/>
        </p:nvSpPr>
        <p:spPr>
          <a:xfrm>
            <a:off x="10415016" y="373989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  <a:prstDash val="solid"/>
          </a:ln>
        </p:spPr>
      </p:sp>
      <p:sp>
        <p:nvSpPr>
          <p:cNvPr id="320" name="Shape 312"/>
          <p:cNvSpPr/>
          <p:nvPr/>
        </p:nvSpPr>
        <p:spPr>
          <a:xfrm>
            <a:off x="10470612" y="3886200"/>
            <a:ext cx="181417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21" name="Shape 313"/>
          <p:cNvSpPr/>
          <p:nvPr/>
        </p:nvSpPr>
        <p:spPr>
          <a:xfrm>
            <a:off x="10561320" y="3795492"/>
            <a:ext cx="91" cy="181417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22" name="Shape 314"/>
          <p:cNvSpPr/>
          <p:nvPr/>
        </p:nvSpPr>
        <p:spPr>
          <a:xfrm>
            <a:off x="10094976" y="1179576"/>
            <a:ext cx="466344" cy="91"/>
          </a:xfrm>
          <a:prstGeom prst="line">
            <a:avLst/>
          </a:prstGeom>
          <a:noFill/>
          <a:ln w="15875">
            <a:solidFill>
              <a:srgbClr val="4A6FA5"/>
            </a:solidFill>
            <a:prstDash val="solid"/>
            <a:headEnd type="none"/>
            <a:tailEnd type="none"/>
          </a:ln>
        </p:spPr>
      </p:sp>
      <p:sp>
        <p:nvSpPr>
          <p:cNvPr id="323" name="Shape 315"/>
          <p:cNvSpPr/>
          <p:nvPr/>
        </p:nvSpPr>
        <p:spPr>
          <a:xfrm>
            <a:off x="10561320" y="1179576"/>
            <a:ext cx="91" cy="2560320"/>
          </a:xfrm>
          <a:prstGeom prst="line">
            <a:avLst/>
          </a:prstGeom>
          <a:noFill/>
          <a:ln w="15875">
            <a:solidFill>
              <a:srgbClr val="4A6FA5"/>
            </a:solidFill>
            <a:prstDash val="solid"/>
            <a:headEnd type="none"/>
            <a:tailEnd type="triangle"/>
          </a:ln>
        </p:spPr>
      </p:sp>
      <p:sp>
        <p:nvSpPr>
          <p:cNvPr id="324" name="Text 316"/>
          <p:cNvSpPr txBox="1"/>
          <p:nvPr/>
        </p:nvSpPr>
        <p:spPr>
          <a:xfrm>
            <a:off x="10625328" y="182880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</a:t>
            </a:r>
            <a:endParaRPr lang="en-US" sz="95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</a:t>
            </a:r>
            <a:pPr algn="l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endParaRPr lang="en-US" sz="950" dirty="0"/>
          </a:p>
        </p:txBody>
      </p:sp>
      <p:sp>
        <p:nvSpPr>
          <p:cNvPr id="325" name="Text 317"/>
          <p:cNvSpPr txBox="1"/>
          <p:nvPr/>
        </p:nvSpPr>
        <p:spPr>
          <a:xfrm>
            <a:off x="10625328" y="3108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C̃</a:t>
            </a:r>
            <a:endParaRPr lang="en-US" sz="1100" dirty="0"/>
          </a:p>
        </p:txBody>
      </p:sp>
      <p:sp>
        <p:nvSpPr>
          <p:cNvPr id="326" name="Shape 318"/>
          <p:cNvSpPr/>
          <p:nvPr/>
        </p:nvSpPr>
        <p:spPr>
          <a:xfrm>
            <a:off x="8869680" y="3886200"/>
            <a:ext cx="1545336" cy="91"/>
          </a:xfrm>
          <a:prstGeom prst="line">
            <a:avLst/>
          </a:prstGeom>
          <a:noFill/>
          <a:ln w="15875">
            <a:solidFill>
              <a:srgbClr val="C8453C"/>
            </a:solidFill>
            <a:prstDash val="solid"/>
            <a:headEnd type="none"/>
            <a:tailEnd type="triangle"/>
          </a:ln>
        </p:spPr>
      </p:sp>
      <p:sp>
        <p:nvSpPr>
          <p:cNvPr id="327" name="Shape 319"/>
          <p:cNvSpPr/>
          <p:nvPr/>
        </p:nvSpPr>
        <p:spPr>
          <a:xfrm>
            <a:off x="8869680" y="4663440"/>
            <a:ext cx="1627632" cy="91"/>
          </a:xfrm>
          <a:prstGeom prst="line">
            <a:avLst/>
          </a:prstGeom>
          <a:noFill/>
          <a:ln w="15875">
            <a:solidFill>
              <a:srgbClr val="2E8B7A"/>
            </a:solidFill>
            <a:prstDash val="solid"/>
            <a:headEnd type="none"/>
            <a:tailEnd type="none"/>
          </a:ln>
        </p:spPr>
      </p:sp>
      <p:sp>
        <p:nvSpPr>
          <p:cNvPr id="328" name="Shape 320"/>
          <p:cNvSpPr/>
          <p:nvPr/>
        </p:nvSpPr>
        <p:spPr>
          <a:xfrm flipV="1">
            <a:off x="10497312" y="4023360"/>
            <a:ext cx="91" cy="640080"/>
          </a:xfrm>
          <a:prstGeom prst="line">
            <a:avLst/>
          </a:prstGeom>
          <a:noFill/>
          <a:ln w="15875">
            <a:solidFill>
              <a:srgbClr val="2E8B7A"/>
            </a:solidFill>
            <a:prstDash val="solid"/>
            <a:headEnd type="none"/>
            <a:tailEnd type="triangle"/>
          </a:ln>
        </p:spPr>
      </p:sp>
      <p:sp>
        <p:nvSpPr>
          <p:cNvPr id="329" name="Shape 321"/>
          <p:cNvSpPr/>
          <p:nvPr/>
        </p:nvSpPr>
        <p:spPr>
          <a:xfrm>
            <a:off x="8869680" y="5440680"/>
            <a:ext cx="1755648" cy="91"/>
          </a:xfrm>
          <a:prstGeom prst="line">
            <a:avLst/>
          </a:prstGeom>
          <a:noFill/>
          <a:ln w="15875">
            <a:solidFill>
              <a:srgbClr val="D08A1E"/>
            </a:solidFill>
            <a:prstDash val="solid"/>
            <a:headEnd type="none"/>
            <a:tailEnd type="none"/>
          </a:ln>
        </p:spPr>
      </p:sp>
      <p:sp>
        <p:nvSpPr>
          <p:cNvPr id="330" name="Shape 322"/>
          <p:cNvSpPr/>
          <p:nvPr/>
        </p:nvSpPr>
        <p:spPr>
          <a:xfrm flipV="1">
            <a:off x="10625328" y="4023360"/>
            <a:ext cx="91" cy="1417320"/>
          </a:xfrm>
          <a:prstGeom prst="line">
            <a:avLst/>
          </a:prstGeom>
          <a:noFill/>
          <a:ln w="15875">
            <a:solidFill>
              <a:srgbClr val="D08A1E"/>
            </a:solidFill>
            <a:prstDash val="solid"/>
            <a:headEnd type="none"/>
            <a:tailEnd type="triangle"/>
          </a:ln>
        </p:spPr>
      </p:sp>
      <p:sp>
        <p:nvSpPr>
          <p:cNvPr id="331" name="Shape 323"/>
          <p:cNvSpPr/>
          <p:nvPr/>
        </p:nvSpPr>
        <p:spPr>
          <a:xfrm>
            <a:off x="10707624" y="3886200"/>
            <a:ext cx="192024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32" name="Shape 324"/>
          <p:cNvSpPr/>
          <p:nvPr/>
        </p:nvSpPr>
        <p:spPr>
          <a:xfrm>
            <a:off x="10927080" y="3447288"/>
            <a:ext cx="109728" cy="109728"/>
          </a:xfrm>
          <a:prstGeom prst="rect">
            <a:avLst/>
          </a:prstGeom>
          <a:solidFill>
            <a:srgbClr val="FAFA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3" name="Shape 325"/>
          <p:cNvSpPr/>
          <p:nvPr/>
        </p:nvSpPr>
        <p:spPr>
          <a:xfrm>
            <a:off x="11036808" y="3447288"/>
            <a:ext cx="109728" cy="109728"/>
          </a:xfrm>
          <a:prstGeom prst="rect">
            <a:avLst/>
          </a:prstGeom>
          <a:solidFill>
            <a:srgbClr val="F5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4" name="Shape 326"/>
          <p:cNvSpPr/>
          <p:nvPr/>
        </p:nvSpPr>
        <p:spPr>
          <a:xfrm>
            <a:off x="11146536" y="3447288"/>
            <a:ext cx="109728" cy="109728"/>
          </a:xfrm>
          <a:prstGeom prst="rect">
            <a:avLst/>
          </a:prstGeom>
          <a:solidFill>
            <a:srgbClr val="FDFD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5" name="Shape 327"/>
          <p:cNvSpPr/>
          <p:nvPr/>
        </p:nvSpPr>
        <p:spPr>
          <a:xfrm>
            <a:off x="11256264" y="3447288"/>
            <a:ext cx="109728" cy="109728"/>
          </a:xfrm>
          <a:prstGeom prst="rect">
            <a:avLst/>
          </a:prstGeom>
          <a:solidFill>
            <a:srgbClr val="F2F1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6" name="Shape 328"/>
          <p:cNvSpPr/>
          <p:nvPr/>
        </p:nvSpPr>
        <p:spPr>
          <a:xfrm>
            <a:off x="11365992" y="3447288"/>
            <a:ext cx="109728" cy="109728"/>
          </a:xfrm>
          <a:prstGeom prst="rect">
            <a:avLst/>
          </a:prstGeom>
          <a:solidFill>
            <a:srgbClr val="D4D1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7" name="Shape 329"/>
          <p:cNvSpPr/>
          <p:nvPr/>
        </p:nvSpPr>
        <p:spPr>
          <a:xfrm>
            <a:off x="11475720" y="3447288"/>
            <a:ext cx="109728" cy="109728"/>
          </a:xfrm>
          <a:prstGeom prst="rect">
            <a:avLst/>
          </a:prstGeom>
          <a:solidFill>
            <a:srgbClr val="BAB6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8" name="Shape 330"/>
          <p:cNvSpPr/>
          <p:nvPr/>
        </p:nvSpPr>
        <p:spPr>
          <a:xfrm>
            <a:off x="11585448" y="3447288"/>
            <a:ext cx="109728" cy="109728"/>
          </a:xfrm>
          <a:prstGeom prst="rect">
            <a:avLst/>
          </a:prstGeom>
          <a:solidFill>
            <a:srgbClr val="CCC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9" name="Shape 331"/>
          <p:cNvSpPr/>
          <p:nvPr/>
        </p:nvSpPr>
        <p:spPr>
          <a:xfrm>
            <a:off x="11695176" y="3447288"/>
            <a:ext cx="109728" cy="109728"/>
          </a:xfrm>
          <a:prstGeom prst="rect">
            <a:avLst/>
          </a:prstGeom>
          <a:solidFill>
            <a:srgbClr val="CECB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0" name="Shape 332"/>
          <p:cNvSpPr/>
          <p:nvPr/>
        </p:nvSpPr>
        <p:spPr>
          <a:xfrm>
            <a:off x="10927080" y="355701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1" name="Shape 333"/>
          <p:cNvSpPr/>
          <p:nvPr/>
        </p:nvSpPr>
        <p:spPr>
          <a:xfrm>
            <a:off x="11036808" y="3557016"/>
            <a:ext cx="109728" cy="109728"/>
          </a:xfrm>
          <a:prstGeom prst="rect">
            <a:avLst/>
          </a:prstGeom>
          <a:solidFill>
            <a:srgbClr val="FEFE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2" name="Shape 334"/>
          <p:cNvSpPr/>
          <p:nvPr/>
        </p:nvSpPr>
        <p:spPr>
          <a:xfrm>
            <a:off x="11146536" y="3557016"/>
            <a:ext cx="109728" cy="109728"/>
          </a:xfrm>
          <a:prstGeom prst="rect">
            <a:avLst/>
          </a:prstGeom>
          <a:solidFill>
            <a:srgbClr val="FBFB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3" name="Shape 335"/>
          <p:cNvSpPr/>
          <p:nvPr/>
        </p:nvSpPr>
        <p:spPr>
          <a:xfrm>
            <a:off x="11256264" y="3557016"/>
            <a:ext cx="109728" cy="109728"/>
          </a:xfrm>
          <a:prstGeom prst="rect">
            <a:avLst/>
          </a:prstGeom>
          <a:solidFill>
            <a:srgbClr val="E6E5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4" name="Shape 336"/>
          <p:cNvSpPr/>
          <p:nvPr/>
        </p:nvSpPr>
        <p:spPr>
          <a:xfrm>
            <a:off x="11365992" y="3557016"/>
            <a:ext cx="109728" cy="109728"/>
          </a:xfrm>
          <a:prstGeom prst="rect">
            <a:avLst/>
          </a:prstGeom>
          <a:solidFill>
            <a:srgbClr val="CFCC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5" name="Shape 337"/>
          <p:cNvSpPr/>
          <p:nvPr/>
        </p:nvSpPr>
        <p:spPr>
          <a:xfrm>
            <a:off x="11475720" y="3557016"/>
            <a:ext cx="109728" cy="109728"/>
          </a:xfrm>
          <a:prstGeom prst="rect">
            <a:avLst/>
          </a:prstGeom>
          <a:solidFill>
            <a:srgbClr val="A7A2B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6" name="Shape 338"/>
          <p:cNvSpPr/>
          <p:nvPr/>
        </p:nvSpPr>
        <p:spPr>
          <a:xfrm>
            <a:off x="11585448" y="3557016"/>
            <a:ext cx="109728" cy="109728"/>
          </a:xfrm>
          <a:prstGeom prst="rect">
            <a:avLst/>
          </a:prstGeom>
          <a:solidFill>
            <a:srgbClr val="B5B0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7" name="Shape 339"/>
          <p:cNvSpPr/>
          <p:nvPr/>
        </p:nvSpPr>
        <p:spPr>
          <a:xfrm>
            <a:off x="11695176" y="3557016"/>
            <a:ext cx="109728" cy="109728"/>
          </a:xfrm>
          <a:prstGeom prst="rect">
            <a:avLst/>
          </a:prstGeom>
          <a:solidFill>
            <a:srgbClr val="C7C4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8" name="Shape 340"/>
          <p:cNvSpPr/>
          <p:nvPr/>
        </p:nvSpPr>
        <p:spPr>
          <a:xfrm>
            <a:off x="10927080" y="366674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9" name="Shape 341"/>
          <p:cNvSpPr/>
          <p:nvPr/>
        </p:nvSpPr>
        <p:spPr>
          <a:xfrm>
            <a:off x="11036808" y="366674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0" name="Shape 342"/>
          <p:cNvSpPr/>
          <p:nvPr/>
        </p:nvSpPr>
        <p:spPr>
          <a:xfrm>
            <a:off x="11146536" y="3666744"/>
            <a:ext cx="109728" cy="109728"/>
          </a:xfrm>
          <a:prstGeom prst="rect">
            <a:avLst/>
          </a:prstGeom>
          <a:solidFill>
            <a:srgbClr val="F6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1" name="Shape 343"/>
          <p:cNvSpPr/>
          <p:nvPr/>
        </p:nvSpPr>
        <p:spPr>
          <a:xfrm>
            <a:off x="11256264" y="3666744"/>
            <a:ext cx="109728" cy="109728"/>
          </a:xfrm>
          <a:prstGeom prst="rect">
            <a:avLst/>
          </a:prstGeom>
          <a:solidFill>
            <a:srgbClr val="E9E7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2" name="Shape 344"/>
          <p:cNvSpPr/>
          <p:nvPr/>
        </p:nvSpPr>
        <p:spPr>
          <a:xfrm>
            <a:off x="11365992" y="3666744"/>
            <a:ext cx="109728" cy="109728"/>
          </a:xfrm>
          <a:prstGeom prst="rect">
            <a:avLst/>
          </a:prstGeom>
          <a:solidFill>
            <a:srgbClr val="BBB7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3" name="Shape 345"/>
          <p:cNvSpPr/>
          <p:nvPr/>
        </p:nvSpPr>
        <p:spPr>
          <a:xfrm>
            <a:off x="11475720" y="3666744"/>
            <a:ext cx="109728" cy="109728"/>
          </a:xfrm>
          <a:prstGeom prst="rect">
            <a:avLst/>
          </a:prstGeom>
          <a:solidFill>
            <a:srgbClr val="7A71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4" name="Shape 346"/>
          <p:cNvSpPr/>
          <p:nvPr/>
        </p:nvSpPr>
        <p:spPr>
          <a:xfrm>
            <a:off x="11585448" y="3666744"/>
            <a:ext cx="109728" cy="109728"/>
          </a:xfrm>
          <a:prstGeom prst="rect">
            <a:avLst/>
          </a:prstGeom>
          <a:solidFill>
            <a:srgbClr val="A59F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5" name="Shape 347"/>
          <p:cNvSpPr/>
          <p:nvPr/>
        </p:nvSpPr>
        <p:spPr>
          <a:xfrm>
            <a:off x="11695176" y="3666744"/>
            <a:ext cx="109728" cy="109728"/>
          </a:xfrm>
          <a:prstGeom prst="rect">
            <a:avLst/>
          </a:prstGeom>
          <a:solidFill>
            <a:srgbClr val="BDB9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6" name="Shape 348"/>
          <p:cNvSpPr/>
          <p:nvPr/>
        </p:nvSpPr>
        <p:spPr>
          <a:xfrm>
            <a:off x="10927080" y="377647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7" name="Shape 349"/>
          <p:cNvSpPr/>
          <p:nvPr/>
        </p:nvSpPr>
        <p:spPr>
          <a:xfrm>
            <a:off x="11036808" y="377647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8" name="Shape 350"/>
          <p:cNvSpPr/>
          <p:nvPr/>
        </p:nvSpPr>
        <p:spPr>
          <a:xfrm>
            <a:off x="11146536" y="377647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9" name="Shape 351"/>
          <p:cNvSpPr/>
          <p:nvPr/>
        </p:nvSpPr>
        <p:spPr>
          <a:xfrm>
            <a:off x="11256264" y="3776472"/>
            <a:ext cx="109728" cy="109728"/>
          </a:xfrm>
          <a:prstGeom prst="rect">
            <a:avLst/>
          </a:prstGeom>
          <a:solidFill>
            <a:srgbClr val="D8D6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0" name="Shape 352"/>
          <p:cNvSpPr/>
          <p:nvPr/>
        </p:nvSpPr>
        <p:spPr>
          <a:xfrm>
            <a:off x="11365992" y="3776472"/>
            <a:ext cx="109728" cy="109728"/>
          </a:xfrm>
          <a:prstGeom prst="rect">
            <a:avLst/>
          </a:prstGeom>
          <a:solidFill>
            <a:srgbClr val="8F88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1" name="Shape 353"/>
          <p:cNvSpPr/>
          <p:nvPr/>
        </p:nvSpPr>
        <p:spPr>
          <a:xfrm>
            <a:off x="11475720" y="3776472"/>
            <a:ext cx="109728" cy="109728"/>
          </a:xfrm>
          <a:prstGeom prst="rect">
            <a:avLst/>
          </a:prstGeom>
          <a:solidFill>
            <a:srgbClr val="3B2F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2" name="Shape 354"/>
          <p:cNvSpPr/>
          <p:nvPr/>
        </p:nvSpPr>
        <p:spPr>
          <a:xfrm>
            <a:off x="11585448" y="3776472"/>
            <a:ext cx="109728" cy="109728"/>
          </a:xfrm>
          <a:prstGeom prst="rect">
            <a:avLst/>
          </a:prstGeom>
          <a:solidFill>
            <a:srgbClr val="8179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11695176" y="3776472"/>
            <a:ext cx="109728" cy="109728"/>
          </a:xfrm>
          <a:prstGeom prst="rect">
            <a:avLst/>
          </a:prstGeom>
          <a:solidFill>
            <a:srgbClr val="9F99B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10927080" y="388620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11036808" y="388620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11146536" y="388620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11256264" y="388620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11365992" y="3886200"/>
            <a:ext cx="109728" cy="109728"/>
          </a:xfrm>
          <a:prstGeom prst="rect">
            <a:avLst/>
          </a:prstGeom>
          <a:solidFill>
            <a:srgbClr val="DDDB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11475720" y="3886200"/>
            <a:ext cx="109728" cy="109728"/>
          </a:xfrm>
          <a:prstGeom prst="rect">
            <a:avLst/>
          </a:prstGeom>
          <a:solidFill>
            <a:srgbClr val="948EA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0" name="Shape 362"/>
          <p:cNvSpPr/>
          <p:nvPr/>
        </p:nvSpPr>
        <p:spPr>
          <a:xfrm>
            <a:off x="11585448" y="3886200"/>
            <a:ext cx="109728" cy="109728"/>
          </a:xfrm>
          <a:prstGeom prst="rect">
            <a:avLst/>
          </a:prstGeom>
          <a:solidFill>
            <a:srgbClr val="B5B0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1" name="Shape 363"/>
          <p:cNvSpPr/>
          <p:nvPr/>
        </p:nvSpPr>
        <p:spPr>
          <a:xfrm>
            <a:off x="11695176" y="3886200"/>
            <a:ext cx="109728" cy="109728"/>
          </a:xfrm>
          <a:prstGeom prst="rect">
            <a:avLst/>
          </a:prstGeom>
          <a:solidFill>
            <a:srgbClr val="CFCC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2" name="Shape 364"/>
          <p:cNvSpPr/>
          <p:nvPr/>
        </p:nvSpPr>
        <p:spPr>
          <a:xfrm>
            <a:off x="10927080" y="399592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11036808" y="399592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11146536" y="399592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11256264" y="399592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11365992" y="399592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11475720" y="3995928"/>
            <a:ext cx="109728" cy="109728"/>
          </a:xfrm>
          <a:prstGeom prst="rect">
            <a:avLst/>
          </a:prstGeom>
          <a:solidFill>
            <a:srgbClr val="D4D2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11585448" y="3995928"/>
            <a:ext cx="109728" cy="109728"/>
          </a:xfrm>
          <a:prstGeom prst="rect">
            <a:avLst/>
          </a:prstGeom>
          <a:solidFill>
            <a:srgbClr val="E9E7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11695176" y="3995928"/>
            <a:ext cx="109728" cy="109728"/>
          </a:xfrm>
          <a:prstGeom prst="rect">
            <a:avLst/>
          </a:prstGeom>
          <a:solidFill>
            <a:srgbClr val="EDEC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0" name="Shape 372"/>
          <p:cNvSpPr/>
          <p:nvPr/>
        </p:nvSpPr>
        <p:spPr>
          <a:xfrm>
            <a:off x="10927080" y="410565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1" name="Shape 373"/>
          <p:cNvSpPr/>
          <p:nvPr/>
        </p:nvSpPr>
        <p:spPr>
          <a:xfrm>
            <a:off x="11036808" y="410565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11146536" y="410565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11256264" y="410565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11365992" y="410565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11475720" y="410565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11585448" y="4105656"/>
            <a:ext cx="109728" cy="109728"/>
          </a:xfrm>
          <a:prstGeom prst="rect">
            <a:avLst/>
          </a:prstGeom>
          <a:solidFill>
            <a:srgbClr val="FAF9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11695176" y="4105656"/>
            <a:ext cx="109728" cy="109728"/>
          </a:xfrm>
          <a:prstGeom prst="rect">
            <a:avLst/>
          </a:prstGeom>
          <a:solidFill>
            <a:srgbClr val="F6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10927080" y="421538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9" name="Shape 381"/>
          <p:cNvSpPr/>
          <p:nvPr/>
        </p:nvSpPr>
        <p:spPr>
          <a:xfrm>
            <a:off x="11036808" y="421538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0" name="Shape 382"/>
          <p:cNvSpPr/>
          <p:nvPr/>
        </p:nvSpPr>
        <p:spPr>
          <a:xfrm>
            <a:off x="11146536" y="421538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11256264" y="421538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11365992" y="421538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11475720" y="421538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11585448" y="421538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11695176" y="4215384"/>
            <a:ext cx="109728" cy="109728"/>
          </a:xfrm>
          <a:prstGeom prst="rect">
            <a:avLst/>
          </a:prstGeom>
          <a:solidFill>
            <a:srgbClr val="FFFE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10927080" y="3447288"/>
            <a:ext cx="877824" cy="87782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97" name="Text 389"/>
          <p:cNvSpPr txBox="1"/>
          <p:nvPr/>
        </p:nvSpPr>
        <p:spPr>
          <a:xfrm>
            <a:off x="10835640" y="317296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F(s, e)</a:t>
            </a:r>
            <a:endParaRPr lang="en-US" sz="1200" dirty="0"/>
          </a:p>
        </p:txBody>
      </p:sp>
      <p:sp>
        <p:nvSpPr>
          <p:cNvPr id="398" name="Shape 390"/>
          <p:cNvSpPr/>
          <p:nvPr/>
        </p:nvSpPr>
        <p:spPr>
          <a:xfrm>
            <a:off x="11365992" y="4343400"/>
            <a:ext cx="91" cy="795528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99" name="Shape 391"/>
          <p:cNvSpPr/>
          <p:nvPr/>
        </p:nvSpPr>
        <p:spPr>
          <a:xfrm>
            <a:off x="10881360" y="5230368"/>
            <a:ext cx="1097280" cy="128016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00" name="Shape 392"/>
          <p:cNvSpPr/>
          <p:nvPr/>
        </p:nvSpPr>
        <p:spPr>
          <a:xfrm>
            <a:off x="11320272" y="5230368"/>
            <a:ext cx="373075" cy="128016"/>
          </a:xfrm>
          <a:prstGeom prst="rect">
            <a:avLst/>
          </a:prstGeom>
          <a:solidFill>
            <a:srgbClr val="3B2F6B"/>
          </a:solidFill>
          <a:ln/>
        </p:spPr>
      </p:sp>
      <p:sp>
        <p:nvSpPr>
          <p:cNvPr id="401" name="Text 393"/>
          <p:cNvSpPr txBox="1"/>
          <p:nvPr/>
        </p:nvSpPr>
        <p:spPr>
          <a:xfrm>
            <a:off x="10561320" y="53858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MR: top-k moments (NMS)</a:t>
            </a:r>
            <a:endParaRPr lang="en-US" sz="900" dirty="0"/>
          </a:p>
        </p:txBody>
      </p:sp>
      <p:sp>
        <p:nvSpPr>
          <p:cNvPr id="402" name="Text 394"/>
          <p:cNvSpPr txBox="1"/>
          <p:nvPr/>
        </p:nvSpPr>
        <p:spPr>
          <a:xfrm>
            <a:off x="10040112" y="5669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 = C̃ + E + S + </a:t>
            </a:r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½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</a:t>
            </a:r>
            <a:pPr algn="ctr" indent="0" marL="0">
              <a:buNone/>
            </a:pPr>
            <a:r>
              <a:rPr lang="en-US" sz="110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T</a:t>
            </a:r>
            <a:pPr algn="ctr" indent="0" marL="0">
              <a:buNone/>
            </a:pPr>
            <a:r>
              <a:rPr lang="en-US" sz="110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100" dirty="0"/>
          </a:p>
        </p:txBody>
      </p:sp>
      <p:pic>
        <p:nvPicPr>
          <p:cNvPr id="40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5669280"/>
            <a:ext cx="182880" cy="182880"/>
          </a:xfrm>
          <a:prstGeom prst="rect">
            <a:avLst/>
          </a:prstGeom>
        </p:spPr>
      </p:pic>
      <p:sp>
        <p:nvSpPr>
          <p:cNvPr id="404" name="Text 395"/>
          <p:cNvSpPr txBox="1"/>
          <p:nvPr/>
        </p:nvSpPr>
        <p:spPr>
          <a:xfrm>
            <a:off x="530352" y="5650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</a:t>
            </a:r>
            <a:endParaRPr lang="en-US" sz="1000" dirty="0"/>
          </a:p>
        </p:txBody>
      </p:sp>
      <p:pic>
        <p:nvPicPr>
          <p:cNvPr id="40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5669280"/>
            <a:ext cx="182880" cy="182880"/>
          </a:xfrm>
          <a:prstGeom prst="rect">
            <a:avLst/>
          </a:prstGeom>
        </p:spPr>
      </p:pic>
      <p:sp>
        <p:nvSpPr>
          <p:cNvPr id="406" name="Text 396"/>
          <p:cNvSpPr txBox="1"/>
          <p:nvPr/>
        </p:nvSpPr>
        <p:spPr>
          <a:xfrm>
            <a:off x="1353312" y="56509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0" y="182880"/>
            <a:ext cx="3200400" cy="5394960"/>
          </a:xfrm>
          <a:prstGeom prst="roundRect">
            <a:avLst>
              <a:gd name="adj" fmla="val 2000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4" name="Shape 1"/>
          <p:cNvSpPr/>
          <p:nvPr/>
        </p:nvSpPr>
        <p:spPr>
          <a:xfrm>
            <a:off x="731520" y="475488"/>
            <a:ext cx="603504" cy="402336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724936"/>
            <a:ext cx="603504" cy="15288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6" name="Shape 3"/>
          <p:cNvSpPr/>
          <p:nvPr/>
        </p:nvSpPr>
        <p:spPr>
          <a:xfrm>
            <a:off x="1045342" y="676656"/>
            <a:ext cx="253472" cy="56327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7" name="Shape 4"/>
          <p:cNvSpPr/>
          <p:nvPr/>
        </p:nvSpPr>
        <p:spPr>
          <a:xfrm>
            <a:off x="779800" y="515722"/>
            <a:ext cx="132771" cy="112654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80744" y="475488"/>
            <a:ext cx="603504" cy="402336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80744" y="724936"/>
            <a:ext cx="603504" cy="15288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0" name="Shape 7"/>
          <p:cNvSpPr/>
          <p:nvPr/>
        </p:nvSpPr>
        <p:spPr>
          <a:xfrm>
            <a:off x="1694566" y="676656"/>
            <a:ext cx="253472" cy="56327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1" name="Shape 8"/>
          <p:cNvSpPr/>
          <p:nvPr/>
        </p:nvSpPr>
        <p:spPr>
          <a:xfrm>
            <a:off x="1429024" y="515722"/>
            <a:ext cx="132771" cy="112654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6286" y="547908"/>
            <a:ext cx="72420" cy="7242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13" name="Shape 10"/>
          <p:cNvSpPr/>
          <p:nvPr/>
        </p:nvSpPr>
        <p:spPr>
          <a:xfrm>
            <a:off x="1631198" y="620329"/>
            <a:ext cx="102596" cy="168981"/>
          </a:xfrm>
          <a:prstGeom prst="roundRect">
            <a:avLst>
              <a:gd name="adj" fmla="val 26738"/>
            </a:avLst>
          </a:prstGeom>
          <a:solidFill>
            <a:srgbClr val="4A6FA5"/>
          </a:solidFill>
          <a:ln/>
        </p:spPr>
      </p:sp>
      <p:sp>
        <p:nvSpPr>
          <p:cNvPr id="14" name="Shape 11"/>
          <p:cNvSpPr/>
          <p:nvPr/>
        </p:nvSpPr>
        <p:spPr>
          <a:xfrm>
            <a:off x="1754916" y="636422"/>
            <a:ext cx="48280" cy="482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Shape 12"/>
          <p:cNvSpPr/>
          <p:nvPr/>
        </p:nvSpPr>
        <p:spPr>
          <a:xfrm>
            <a:off x="1827337" y="640446"/>
            <a:ext cx="42245" cy="42245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2029968" y="475488"/>
            <a:ext cx="603504" cy="402336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29968" y="724936"/>
            <a:ext cx="603504" cy="15288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8" name="Shape 15"/>
          <p:cNvSpPr/>
          <p:nvPr/>
        </p:nvSpPr>
        <p:spPr>
          <a:xfrm>
            <a:off x="2343790" y="676656"/>
            <a:ext cx="253472" cy="56327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9" name="Shape 16"/>
          <p:cNvSpPr/>
          <p:nvPr/>
        </p:nvSpPr>
        <p:spPr>
          <a:xfrm>
            <a:off x="2078248" y="515722"/>
            <a:ext cx="132771" cy="112654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95510" y="547908"/>
            <a:ext cx="72420" cy="7242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21" name="Shape 18"/>
          <p:cNvSpPr/>
          <p:nvPr/>
        </p:nvSpPr>
        <p:spPr>
          <a:xfrm>
            <a:off x="2280422" y="620329"/>
            <a:ext cx="102596" cy="168981"/>
          </a:xfrm>
          <a:prstGeom prst="roundRect">
            <a:avLst>
              <a:gd name="adj" fmla="val 26738"/>
            </a:avLst>
          </a:prstGeom>
          <a:solidFill>
            <a:srgbClr val="4A6FA5"/>
          </a:solidFill>
          <a:ln/>
        </p:spPr>
      </p:sp>
      <p:sp>
        <p:nvSpPr>
          <p:cNvPr id="22" name="Shape 19"/>
          <p:cNvSpPr/>
          <p:nvPr/>
        </p:nvSpPr>
        <p:spPr>
          <a:xfrm>
            <a:off x="2404140" y="636422"/>
            <a:ext cx="48280" cy="482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2476561" y="640446"/>
            <a:ext cx="42245" cy="42245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Shape 21"/>
          <p:cNvSpPr/>
          <p:nvPr/>
        </p:nvSpPr>
        <p:spPr>
          <a:xfrm>
            <a:off x="2679192" y="475488"/>
            <a:ext cx="603504" cy="402336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79192" y="724936"/>
            <a:ext cx="603504" cy="15288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26" name="Shape 23"/>
          <p:cNvSpPr/>
          <p:nvPr/>
        </p:nvSpPr>
        <p:spPr>
          <a:xfrm>
            <a:off x="2993014" y="676656"/>
            <a:ext cx="253472" cy="56327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27" name="Shape 24"/>
          <p:cNvSpPr/>
          <p:nvPr/>
        </p:nvSpPr>
        <p:spPr>
          <a:xfrm>
            <a:off x="2727472" y="515722"/>
            <a:ext cx="132771" cy="112654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053364" y="636422"/>
            <a:ext cx="48280" cy="482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Shape 26"/>
          <p:cNvSpPr/>
          <p:nvPr/>
        </p:nvSpPr>
        <p:spPr>
          <a:xfrm>
            <a:off x="3125785" y="640446"/>
            <a:ext cx="42245" cy="42245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0" name="Shape 27"/>
          <p:cNvSpPr/>
          <p:nvPr/>
        </p:nvSpPr>
        <p:spPr>
          <a:xfrm>
            <a:off x="338328" y="548640"/>
            <a:ext cx="274320" cy="2743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38328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01752" y="868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31520" y="1115568"/>
            <a:ext cx="2551176" cy="91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1700967" y="1051560"/>
            <a:ext cx="867400" cy="128016"/>
          </a:xfrm>
          <a:prstGeom prst="rect">
            <a:avLst/>
          </a:prstGeom>
          <a:solidFill>
            <a:srgbClr val="9CA3AF">
              <a:alpha val="45000"/>
            </a:srgbClr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2614087" y="10058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365760" y="1298448"/>
            <a:ext cx="29260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“A man is chopping vegetables.”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31520" y="2624328"/>
            <a:ext cx="603504" cy="402336"/>
          </a:xfrm>
          <a:prstGeom prst="rect">
            <a:avLst/>
          </a:prstGeom>
          <a:solidFill>
            <a:srgbClr val="BFE3F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520" y="2865730"/>
            <a:ext cx="603504" cy="160934"/>
          </a:xfrm>
          <a:prstGeom prst="rect">
            <a:avLst/>
          </a:prstGeom>
          <a:solidFill>
            <a:srgbClr val="E9D8A6"/>
          </a:solidFill>
          <a:ln/>
        </p:spPr>
      </p:sp>
      <p:sp>
        <p:nvSpPr>
          <p:cNvPr id="39" name="Shape 36"/>
          <p:cNvSpPr/>
          <p:nvPr/>
        </p:nvSpPr>
        <p:spPr>
          <a:xfrm>
            <a:off x="1380744" y="2624328"/>
            <a:ext cx="603504" cy="402336"/>
          </a:xfrm>
          <a:prstGeom prst="rect">
            <a:avLst/>
          </a:prstGeom>
          <a:solidFill>
            <a:srgbClr val="BFE3F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380744" y="2865730"/>
            <a:ext cx="603504" cy="160934"/>
          </a:xfrm>
          <a:prstGeom prst="rect">
            <a:avLst/>
          </a:prstGeom>
          <a:solidFill>
            <a:srgbClr val="E9D8A6"/>
          </a:solidFill>
          <a:ln/>
        </p:spPr>
      </p:sp>
      <p:sp>
        <p:nvSpPr>
          <p:cNvPr id="41" name="Shape 38"/>
          <p:cNvSpPr/>
          <p:nvPr/>
        </p:nvSpPr>
        <p:spPr>
          <a:xfrm>
            <a:off x="1652321" y="2825496"/>
            <a:ext cx="132771" cy="64374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42" name="Shape 39"/>
          <p:cNvSpPr/>
          <p:nvPr/>
        </p:nvSpPr>
        <p:spPr>
          <a:xfrm>
            <a:off x="1754916" y="2801356"/>
            <a:ext cx="60350" cy="6035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43" name="Shape 40"/>
          <p:cNvSpPr/>
          <p:nvPr/>
        </p:nvSpPr>
        <p:spPr>
          <a:xfrm>
            <a:off x="2029968" y="2624328"/>
            <a:ext cx="603504" cy="402336"/>
          </a:xfrm>
          <a:prstGeom prst="rect">
            <a:avLst/>
          </a:prstGeom>
          <a:solidFill>
            <a:srgbClr val="BFE3F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029968" y="2865730"/>
            <a:ext cx="603504" cy="160934"/>
          </a:xfrm>
          <a:prstGeom prst="rect">
            <a:avLst/>
          </a:prstGeom>
          <a:solidFill>
            <a:srgbClr val="E9D8A6"/>
          </a:solidFill>
          <a:ln/>
        </p:spPr>
      </p:sp>
      <p:sp>
        <p:nvSpPr>
          <p:cNvPr id="45" name="Shape 42"/>
          <p:cNvSpPr/>
          <p:nvPr/>
        </p:nvSpPr>
        <p:spPr>
          <a:xfrm>
            <a:off x="2392070" y="2825496"/>
            <a:ext cx="132771" cy="64374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46" name="Shape 43"/>
          <p:cNvSpPr/>
          <p:nvPr/>
        </p:nvSpPr>
        <p:spPr>
          <a:xfrm>
            <a:off x="2494666" y="2801356"/>
            <a:ext cx="60350" cy="6035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47" name="Shape 44"/>
          <p:cNvSpPr/>
          <p:nvPr/>
        </p:nvSpPr>
        <p:spPr>
          <a:xfrm>
            <a:off x="2679192" y="2624328"/>
            <a:ext cx="603504" cy="402336"/>
          </a:xfrm>
          <a:prstGeom prst="rect">
            <a:avLst/>
          </a:prstGeom>
          <a:solidFill>
            <a:srgbClr val="BFE3F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679192" y="2865730"/>
            <a:ext cx="603504" cy="160934"/>
          </a:xfrm>
          <a:prstGeom prst="rect">
            <a:avLst/>
          </a:prstGeom>
          <a:solidFill>
            <a:srgbClr val="E9D8A6"/>
          </a:solidFill>
          <a:ln/>
        </p:spPr>
      </p:sp>
      <p:sp>
        <p:nvSpPr>
          <p:cNvPr id="49" name="Shape 46"/>
          <p:cNvSpPr/>
          <p:nvPr/>
        </p:nvSpPr>
        <p:spPr>
          <a:xfrm>
            <a:off x="338328" y="2697480"/>
            <a:ext cx="274320" cy="2743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38328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301752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731520" y="3264408"/>
            <a:ext cx="2551176" cy="91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53" name="Shape 50"/>
          <p:cNvSpPr/>
          <p:nvPr/>
        </p:nvSpPr>
        <p:spPr>
          <a:xfrm>
            <a:off x="1037661" y="3200400"/>
            <a:ext cx="841888" cy="128016"/>
          </a:xfrm>
          <a:prstGeom prst="rect">
            <a:avLst/>
          </a:prstGeom>
          <a:solidFill>
            <a:srgbClr val="9CA3AF">
              <a:alpha val="45000"/>
            </a:srgbClr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54" name="Text 51"/>
          <p:cNvSpPr txBox="1"/>
          <p:nvPr/>
        </p:nvSpPr>
        <p:spPr>
          <a:xfrm>
            <a:off x="1925269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365760" y="3447288"/>
            <a:ext cx="29260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“A dog runs along the beach.”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365760" y="4069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pairing in a batch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video and query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word-set Jaccard &lt; 0.5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↔ j both used</a:t>
            </a:r>
            <a:endParaRPr lang="en-US" sz="11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negatives, not guaranteed semantic negatives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657600" y="182880"/>
            <a:ext cx="5257800" cy="5394960"/>
          </a:xfrm>
          <a:prstGeom prst="roundRect">
            <a:avLst>
              <a:gd name="adj" fmla="val 1217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58" name="Text 55"/>
          <p:cNvSpPr txBox="1"/>
          <p:nvPr/>
        </p:nvSpPr>
        <p:spPr>
          <a:xfrm>
            <a:off x="4224528" y="411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6739128" y="411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3749040" y="1600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374904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4224528" y="777240"/>
            <a:ext cx="2011680" cy="192024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5875">
            <a:solidFill>
              <a:srgbClr val="C8453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21885" y="941832"/>
            <a:ext cx="590702" cy="896112"/>
          </a:xfrm>
          <a:prstGeom prst="rect">
            <a:avLst/>
          </a:prstGeom>
          <a:solidFill>
            <a:srgbClr val="9CA3AF">
              <a:alpha val="22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4361688" y="1801368"/>
            <a:ext cx="173736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65" name="Shape 62"/>
          <p:cNvSpPr/>
          <p:nvPr/>
        </p:nvSpPr>
        <p:spPr>
          <a:xfrm>
            <a:off x="4361688" y="1052799"/>
            <a:ext cx="1737360" cy="682449"/>
          </a:xfrm>
          <a:custGeom>
            <a:avLst/>
            <a:gdLst/>
            <a:ahLst/>
            <a:cxnLst/>
            <a:rect l="l" t="t" r="r" b="b"/>
            <a:pathLst>
              <a:path w="1737360" h="682449">
                <a:moveTo>
                  <a:pt x="0" y="649814"/>
                </a:moveTo>
                <a:lnTo>
                  <a:pt x="21717" y="634032"/>
                </a:lnTo>
                <a:lnTo>
                  <a:pt x="43434" y="622114"/>
                </a:lnTo>
                <a:lnTo>
                  <a:pt x="65151" y="616978"/>
                </a:lnTo>
                <a:lnTo>
                  <a:pt x="86868" y="619881"/>
                </a:lnTo>
                <a:lnTo>
                  <a:pt x="108585" y="630113"/>
                </a:lnTo>
                <a:lnTo>
                  <a:pt x="130302" y="645169"/>
                </a:lnTo>
                <a:lnTo>
                  <a:pt x="152019" y="661361"/>
                </a:lnTo>
                <a:lnTo>
                  <a:pt x="173736" y="674727"/>
                </a:lnTo>
                <a:lnTo>
                  <a:pt x="195453" y="681993"/>
                </a:lnTo>
                <a:lnTo>
                  <a:pt x="217170" y="681380"/>
                </a:lnTo>
                <a:lnTo>
                  <a:pt x="238887" y="673039"/>
                </a:lnTo>
                <a:lnTo>
                  <a:pt x="260604" y="659011"/>
                </a:lnTo>
                <a:lnTo>
                  <a:pt x="282321" y="642731"/>
                </a:lnTo>
                <a:lnTo>
                  <a:pt x="304038" y="628184"/>
                </a:lnTo>
                <a:lnTo>
                  <a:pt x="325755" y="618931"/>
                </a:lnTo>
                <a:lnTo>
                  <a:pt x="347472" y="617233"/>
                </a:lnTo>
                <a:lnTo>
                  <a:pt x="369189" y="623502"/>
                </a:lnTo>
                <a:lnTo>
                  <a:pt x="390906" y="636191"/>
                </a:lnTo>
                <a:lnTo>
                  <a:pt x="412623" y="652168"/>
                </a:lnTo>
                <a:lnTo>
                  <a:pt x="434340" y="667470"/>
                </a:lnTo>
                <a:lnTo>
                  <a:pt x="456057" y="678237"/>
                </a:lnTo>
                <a:lnTo>
                  <a:pt x="477774" y="681601"/>
                </a:lnTo>
                <a:lnTo>
                  <a:pt x="499491" y="676242"/>
                </a:lnTo>
                <a:lnTo>
                  <a:pt x="521208" y="662439"/>
                </a:lnTo>
                <a:lnTo>
                  <a:pt x="542925" y="641428"/>
                </a:lnTo>
                <a:lnTo>
                  <a:pt x="564642" y="614028"/>
                </a:lnTo>
                <a:lnTo>
                  <a:pt x="586359" y="578652"/>
                </a:lnTo>
                <a:lnTo>
                  <a:pt x="608076" y="529652"/>
                </a:lnTo>
                <a:lnTo>
                  <a:pt x="629793" y="459040"/>
                </a:lnTo>
                <a:lnTo>
                  <a:pt x="651510" y="365745"/>
                </a:lnTo>
                <a:lnTo>
                  <a:pt x="673227" y="266119"/>
                </a:lnTo>
                <a:lnTo>
                  <a:pt x="694944" y="184942"/>
                </a:lnTo>
                <a:lnTo>
                  <a:pt x="716661" y="132902"/>
                </a:lnTo>
                <a:lnTo>
                  <a:pt x="738378" y="103110"/>
                </a:lnTo>
                <a:lnTo>
                  <a:pt x="760095" y="83701"/>
                </a:lnTo>
                <a:lnTo>
                  <a:pt x="781812" y="66434"/>
                </a:lnTo>
                <a:lnTo>
                  <a:pt x="803529" y="48209"/>
                </a:lnTo>
                <a:lnTo>
                  <a:pt x="825246" y="29719"/>
                </a:lnTo>
                <a:lnTo>
                  <a:pt x="846963" y="13635"/>
                </a:lnTo>
                <a:lnTo>
                  <a:pt x="868680" y="3003"/>
                </a:lnTo>
                <a:lnTo>
                  <a:pt x="890397" y="0"/>
                </a:lnTo>
                <a:lnTo>
                  <a:pt x="912114" y="5161"/>
                </a:lnTo>
                <a:lnTo>
                  <a:pt x="933831" y="17128"/>
                </a:lnTo>
                <a:lnTo>
                  <a:pt x="955548" y="32931"/>
                </a:lnTo>
                <a:lnTo>
                  <a:pt x="977265" y="48690"/>
                </a:lnTo>
                <a:lnTo>
                  <a:pt x="998982" y="60558"/>
                </a:lnTo>
                <a:lnTo>
                  <a:pt x="1020699" y="65669"/>
                </a:lnTo>
                <a:lnTo>
                  <a:pt x="1042416" y="62866"/>
                </a:lnTo>
                <a:lnTo>
                  <a:pt x="1064133" y="53035"/>
                </a:lnTo>
                <a:lnTo>
                  <a:pt x="1085850" y="39009"/>
                </a:lnTo>
                <a:lnTo>
                  <a:pt x="1107567" y="25116"/>
                </a:lnTo>
                <a:lnTo>
                  <a:pt x="1129284" y="16611"/>
                </a:lnTo>
                <a:lnTo>
                  <a:pt x="1151001" y="19346"/>
                </a:lnTo>
                <a:lnTo>
                  <a:pt x="1172718" y="39980"/>
                </a:lnTo>
                <a:lnTo>
                  <a:pt x="1194435" y="86453"/>
                </a:lnTo>
                <a:lnTo>
                  <a:pt x="1216152" y="166547"/>
                </a:lnTo>
                <a:lnTo>
                  <a:pt x="1237869" y="280281"/>
                </a:lnTo>
                <a:lnTo>
                  <a:pt x="1259586" y="408997"/>
                </a:lnTo>
                <a:lnTo>
                  <a:pt x="1281303" y="520792"/>
                </a:lnTo>
                <a:lnTo>
                  <a:pt x="1303020" y="594785"/>
                </a:lnTo>
                <a:lnTo>
                  <a:pt x="1324737" y="631219"/>
                </a:lnTo>
                <a:lnTo>
                  <a:pt x="1346454" y="641159"/>
                </a:lnTo>
                <a:lnTo>
                  <a:pt x="1368171" y="636480"/>
                </a:lnTo>
                <a:lnTo>
                  <a:pt x="1389888" y="626624"/>
                </a:lnTo>
                <a:lnTo>
                  <a:pt x="1411605" y="618328"/>
                </a:lnTo>
                <a:lnTo>
                  <a:pt x="1433322" y="615767"/>
                </a:lnTo>
                <a:lnTo>
                  <a:pt x="1455039" y="620603"/>
                </a:lnTo>
                <a:lnTo>
                  <a:pt x="1476756" y="632145"/>
                </a:lnTo>
                <a:lnTo>
                  <a:pt x="1498473" y="647802"/>
                </a:lnTo>
                <a:lnTo>
                  <a:pt x="1520190" y="663853"/>
                </a:lnTo>
                <a:lnTo>
                  <a:pt x="1541907" y="676419"/>
                </a:lnTo>
                <a:lnTo>
                  <a:pt x="1563624" y="682449"/>
                </a:lnTo>
                <a:lnTo>
                  <a:pt x="1585341" y="680479"/>
                </a:lnTo>
                <a:lnTo>
                  <a:pt x="1607058" y="670995"/>
                </a:lnTo>
                <a:lnTo>
                  <a:pt x="1628775" y="656324"/>
                </a:lnTo>
                <a:lnTo>
                  <a:pt x="1650492" y="640057"/>
                </a:lnTo>
                <a:lnTo>
                  <a:pt x="1672209" y="626179"/>
                </a:lnTo>
                <a:lnTo>
                  <a:pt x="1693926" y="618087"/>
                </a:lnTo>
                <a:lnTo>
                  <a:pt x="1715643" y="617763"/>
                </a:lnTo>
                <a:lnTo>
                  <a:pt x="1737360" y="625286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C8453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021885" y="1131337"/>
            <a:ext cx="59070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dash"/>
            <a:headEnd type="none"/>
            <a:tailEnd type="none"/>
          </a:ln>
        </p:spPr>
      </p:sp>
      <p:sp>
        <p:nvSpPr>
          <p:cNvPr id="67" name="Text 64"/>
          <p:cNvSpPr txBox="1"/>
          <p:nvPr/>
        </p:nvSpPr>
        <p:spPr>
          <a:xfrm>
            <a:off x="4334256" y="1920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buNone/>
            </a:pPr>
            <a:r>
              <a:rPr lang="en-US" sz="1600" b="1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4334256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5413248" y="19476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6739128" y="777240"/>
            <a:ext cx="20116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71" name="Shape 68"/>
          <p:cNvSpPr/>
          <p:nvPr/>
        </p:nvSpPr>
        <p:spPr>
          <a:xfrm>
            <a:off x="7536485" y="941832"/>
            <a:ext cx="590702" cy="896112"/>
          </a:xfrm>
          <a:prstGeom prst="rect">
            <a:avLst/>
          </a:prstGeom>
          <a:solidFill>
            <a:srgbClr val="9CA3AF">
              <a:alpha val="22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6876288" y="1801368"/>
            <a:ext cx="173736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6876288" y="1546788"/>
            <a:ext cx="1737360" cy="180512"/>
          </a:xfrm>
          <a:custGeom>
            <a:avLst/>
            <a:gdLst/>
            <a:ahLst/>
            <a:cxnLst/>
            <a:rect l="l" t="t" r="r" b="b"/>
            <a:pathLst>
              <a:path w="1737360" h="180512">
                <a:moveTo>
                  <a:pt x="0" y="104741"/>
                </a:moveTo>
                <a:lnTo>
                  <a:pt x="21717" y="98733"/>
                </a:lnTo>
                <a:lnTo>
                  <a:pt x="43434" y="99540"/>
                </a:lnTo>
                <a:lnTo>
                  <a:pt x="65151" y="107029"/>
                </a:lnTo>
                <a:lnTo>
                  <a:pt x="86868" y="119943"/>
                </a:lnTo>
                <a:lnTo>
                  <a:pt x="108585" y="136115"/>
                </a:lnTo>
                <a:lnTo>
                  <a:pt x="130302" y="152832"/>
                </a:lnTo>
                <a:lnTo>
                  <a:pt x="152019" y="167290"/>
                </a:lnTo>
                <a:lnTo>
                  <a:pt x="173736" y="177063"/>
                </a:lnTo>
                <a:lnTo>
                  <a:pt x="195453" y="180512"/>
                </a:lnTo>
                <a:lnTo>
                  <a:pt x="217170" y="177057"/>
                </a:lnTo>
                <a:lnTo>
                  <a:pt x="238887" y="167278"/>
                </a:lnTo>
                <a:lnTo>
                  <a:pt x="260604" y="152814"/>
                </a:lnTo>
                <a:lnTo>
                  <a:pt x="282321" y="136089"/>
                </a:lnTo>
                <a:lnTo>
                  <a:pt x="304038" y="119908"/>
                </a:lnTo>
                <a:lnTo>
                  <a:pt x="325755" y="106979"/>
                </a:lnTo>
                <a:lnTo>
                  <a:pt x="347472" y="99464"/>
                </a:lnTo>
                <a:lnTo>
                  <a:pt x="369189" y="98613"/>
                </a:lnTo>
                <a:lnTo>
                  <a:pt x="390906" y="104546"/>
                </a:lnTo>
                <a:lnTo>
                  <a:pt x="412623" y="116237"/>
                </a:lnTo>
                <a:lnTo>
                  <a:pt x="434340" y="131669"/>
                </a:lnTo>
                <a:lnTo>
                  <a:pt x="456057" y="148166"/>
                </a:lnTo>
                <a:lnTo>
                  <a:pt x="477774" y="162817"/>
                </a:lnTo>
                <a:lnTo>
                  <a:pt x="499491" y="172934"/>
                </a:lnTo>
                <a:lnTo>
                  <a:pt x="521208" y="176458"/>
                </a:lnTo>
                <a:lnTo>
                  <a:pt x="542925" y="172246"/>
                </a:lnTo>
                <a:lnTo>
                  <a:pt x="564642" y="160193"/>
                </a:lnTo>
                <a:lnTo>
                  <a:pt x="586359" y="141223"/>
                </a:lnTo>
                <a:lnTo>
                  <a:pt x="608076" y="117180"/>
                </a:lnTo>
                <a:lnTo>
                  <a:pt x="629793" y="90721"/>
                </a:lnTo>
                <a:lnTo>
                  <a:pt x="651510" y="65146"/>
                </a:lnTo>
                <a:lnTo>
                  <a:pt x="673227" y="43979"/>
                </a:lnTo>
                <a:lnTo>
                  <a:pt x="694944" y="30161"/>
                </a:lnTo>
                <a:lnTo>
                  <a:pt x="716661" y="25175"/>
                </a:lnTo>
                <a:lnTo>
                  <a:pt x="738378" y="28652"/>
                </a:lnTo>
                <a:lnTo>
                  <a:pt x="760095" y="38617"/>
                </a:lnTo>
                <a:lnTo>
                  <a:pt x="781812" y="52099"/>
                </a:lnTo>
                <a:lnTo>
                  <a:pt x="803529" y="65793"/>
                </a:lnTo>
                <a:lnTo>
                  <a:pt x="825246" y="76650"/>
                </a:lnTo>
                <a:lnTo>
                  <a:pt x="846963" y="82340"/>
                </a:lnTo>
                <a:lnTo>
                  <a:pt x="868680" y="81577"/>
                </a:lnTo>
                <a:lnTo>
                  <a:pt x="890397" y="74284"/>
                </a:lnTo>
                <a:lnTo>
                  <a:pt x="912114" y="61557"/>
                </a:lnTo>
                <a:lnTo>
                  <a:pt x="933831" y="45460"/>
                </a:lnTo>
                <a:lnTo>
                  <a:pt x="955548" y="28653"/>
                </a:lnTo>
                <a:lnTo>
                  <a:pt x="977265" y="13945"/>
                </a:lnTo>
                <a:lnTo>
                  <a:pt x="998982" y="3815"/>
                </a:lnTo>
                <a:lnTo>
                  <a:pt x="1020699" y="0"/>
                </a:lnTo>
                <a:lnTo>
                  <a:pt x="1042416" y="3214"/>
                </a:lnTo>
                <a:lnTo>
                  <a:pt x="1064133" y="13043"/>
                </a:lnTo>
                <a:lnTo>
                  <a:pt x="1085850" y="28045"/>
                </a:lnTo>
                <a:lnTo>
                  <a:pt x="1107567" y="46034"/>
                </a:lnTo>
                <a:lnTo>
                  <a:pt x="1129284" y="64499"/>
                </a:lnTo>
                <a:lnTo>
                  <a:pt x="1151001" y="81097"/>
                </a:lnTo>
                <a:lnTo>
                  <a:pt x="1172718" y="94086"/>
                </a:lnTo>
                <a:lnTo>
                  <a:pt x="1194435" y="102585"/>
                </a:lnTo>
                <a:lnTo>
                  <a:pt x="1216152" y="106562"/>
                </a:lnTo>
                <a:lnTo>
                  <a:pt x="1237869" y="106554"/>
                </a:lnTo>
                <a:lnTo>
                  <a:pt x="1259586" y="103397"/>
                </a:lnTo>
                <a:lnTo>
                  <a:pt x="1281303" y="98231"/>
                </a:lnTo>
                <a:lnTo>
                  <a:pt x="1303020" y="92690"/>
                </a:lnTo>
                <a:lnTo>
                  <a:pt x="1324737" y="88841"/>
                </a:lnTo>
                <a:lnTo>
                  <a:pt x="1346454" y="88707"/>
                </a:lnTo>
                <a:lnTo>
                  <a:pt x="1368171" y="93647"/>
                </a:lnTo>
                <a:lnTo>
                  <a:pt x="1389888" y="103933"/>
                </a:lnTo>
                <a:lnTo>
                  <a:pt x="1411605" y="118648"/>
                </a:lnTo>
                <a:lnTo>
                  <a:pt x="1433322" y="135878"/>
                </a:lnTo>
                <a:lnTo>
                  <a:pt x="1455039" y="153093"/>
                </a:lnTo>
                <a:lnTo>
                  <a:pt x="1476756" y="167636"/>
                </a:lnTo>
                <a:lnTo>
                  <a:pt x="1498473" y="177209"/>
                </a:lnTo>
                <a:lnTo>
                  <a:pt x="1520190" y="180296"/>
                </a:lnTo>
                <a:lnTo>
                  <a:pt x="1541907" y="176432"/>
                </a:lnTo>
                <a:lnTo>
                  <a:pt x="1563624" y="166299"/>
                </a:lnTo>
                <a:lnTo>
                  <a:pt x="1585341" y="151616"/>
                </a:lnTo>
                <a:lnTo>
                  <a:pt x="1607058" y="134860"/>
                </a:lnTo>
                <a:lnTo>
                  <a:pt x="1628775" y="118848"/>
                </a:lnTo>
                <a:lnTo>
                  <a:pt x="1650492" y="106271"/>
                </a:lnTo>
                <a:lnTo>
                  <a:pt x="1672209" y="99242"/>
                </a:lnTo>
                <a:lnTo>
                  <a:pt x="1693926" y="98942"/>
                </a:lnTo>
                <a:lnTo>
                  <a:pt x="1715643" y="105421"/>
                </a:lnTo>
                <a:lnTo>
                  <a:pt x="1737360" y="117594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536485" y="1599239"/>
            <a:ext cx="59070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dash"/>
            <a:headEnd type="none"/>
            <a:tailEnd type="none"/>
          </a:ln>
        </p:spPr>
      </p:sp>
      <p:sp>
        <p:nvSpPr>
          <p:cNvPr id="75" name="Text 72"/>
          <p:cNvSpPr txBox="1"/>
          <p:nvPr/>
        </p:nvSpPr>
        <p:spPr>
          <a:xfrm>
            <a:off x="6848856" y="1920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buNone/>
            </a:pPr>
            <a:r>
              <a:rPr lang="en-US" sz="1600" b="1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00" dirty="0"/>
          </a:p>
        </p:txBody>
      </p:sp>
      <p:sp>
        <p:nvSpPr>
          <p:cNvPr id="76" name="Text 73"/>
          <p:cNvSpPr txBox="1"/>
          <p:nvPr/>
        </p:nvSpPr>
        <p:spPr>
          <a:xfrm>
            <a:off x="6848856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7927848" y="19476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swapped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4224528" y="3200400"/>
            <a:ext cx="20116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79" name="Shape 76"/>
          <p:cNvSpPr/>
          <p:nvPr/>
        </p:nvSpPr>
        <p:spPr>
          <a:xfrm>
            <a:off x="4570171" y="3364992"/>
            <a:ext cx="573329" cy="896112"/>
          </a:xfrm>
          <a:prstGeom prst="rect">
            <a:avLst/>
          </a:prstGeom>
          <a:solidFill>
            <a:srgbClr val="9CA3AF">
              <a:alpha val="22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4361688" y="4224528"/>
            <a:ext cx="173736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81" name="Shape 78"/>
          <p:cNvSpPr/>
          <p:nvPr/>
        </p:nvSpPr>
        <p:spPr>
          <a:xfrm>
            <a:off x="4361688" y="4029632"/>
            <a:ext cx="1737360" cy="128966"/>
          </a:xfrm>
          <a:custGeom>
            <a:avLst/>
            <a:gdLst/>
            <a:ahLst/>
            <a:cxnLst/>
            <a:rect l="l" t="t" r="r" b="b"/>
            <a:pathLst>
              <a:path w="1737360" h="128966">
                <a:moveTo>
                  <a:pt x="0" y="50336"/>
                </a:moveTo>
                <a:lnTo>
                  <a:pt x="21717" y="58734"/>
                </a:lnTo>
                <a:lnTo>
                  <a:pt x="43434" y="70829"/>
                </a:lnTo>
                <a:lnTo>
                  <a:pt x="65151" y="84999"/>
                </a:lnTo>
                <a:lnTo>
                  <a:pt x="86868" y="99328"/>
                </a:lnTo>
                <a:lnTo>
                  <a:pt x="108585" y="111855"/>
                </a:lnTo>
                <a:lnTo>
                  <a:pt x="130302" y="120812"/>
                </a:lnTo>
                <a:lnTo>
                  <a:pt x="152019" y="124854"/>
                </a:lnTo>
                <a:lnTo>
                  <a:pt x="173736" y="123220"/>
                </a:lnTo>
                <a:lnTo>
                  <a:pt x="195453" y="115825"/>
                </a:lnTo>
                <a:lnTo>
                  <a:pt x="217170" y="103269"/>
                </a:lnTo>
                <a:lnTo>
                  <a:pt x="238887" y="86750"/>
                </a:lnTo>
                <a:lnTo>
                  <a:pt x="260604" y="67913"/>
                </a:lnTo>
                <a:lnTo>
                  <a:pt x="282321" y="48643"/>
                </a:lnTo>
                <a:lnTo>
                  <a:pt x="304038" y="30823"/>
                </a:lnTo>
                <a:lnTo>
                  <a:pt x="325755" y="16108"/>
                </a:lnTo>
                <a:lnTo>
                  <a:pt x="347472" y="5728"/>
                </a:lnTo>
                <a:lnTo>
                  <a:pt x="369189" y="347"/>
                </a:lnTo>
                <a:lnTo>
                  <a:pt x="390906" y="0"/>
                </a:lnTo>
                <a:lnTo>
                  <a:pt x="412623" y="4108"/>
                </a:lnTo>
                <a:lnTo>
                  <a:pt x="434340" y="11576"/>
                </a:lnTo>
                <a:lnTo>
                  <a:pt x="456057" y="20951"/>
                </a:lnTo>
                <a:lnTo>
                  <a:pt x="477774" y="30626"/>
                </a:lnTo>
                <a:lnTo>
                  <a:pt x="499491" y="39058"/>
                </a:lnTo>
                <a:lnTo>
                  <a:pt x="521208" y="44979"/>
                </a:lnTo>
                <a:lnTo>
                  <a:pt x="542925" y="47559"/>
                </a:lnTo>
                <a:lnTo>
                  <a:pt x="564642" y="46522"/>
                </a:lnTo>
                <a:lnTo>
                  <a:pt x="586359" y="42177"/>
                </a:lnTo>
                <a:lnTo>
                  <a:pt x="608076" y="35373"/>
                </a:lnTo>
                <a:lnTo>
                  <a:pt x="629793" y="27383"/>
                </a:lnTo>
                <a:lnTo>
                  <a:pt x="651510" y="19728"/>
                </a:lnTo>
                <a:lnTo>
                  <a:pt x="673227" y="13964"/>
                </a:lnTo>
                <a:lnTo>
                  <a:pt x="694944" y="11463"/>
                </a:lnTo>
                <a:lnTo>
                  <a:pt x="716661" y="13217"/>
                </a:lnTo>
                <a:lnTo>
                  <a:pt x="738378" y="19681"/>
                </a:lnTo>
                <a:lnTo>
                  <a:pt x="760095" y="30698"/>
                </a:lnTo>
                <a:lnTo>
                  <a:pt x="781812" y="45498"/>
                </a:lnTo>
                <a:lnTo>
                  <a:pt x="803529" y="62778"/>
                </a:lnTo>
                <a:lnTo>
                  <a:pt x="825246" y="80855"/>
                </a:lnTo>
                <a:lnTo>
                  <a:pt x="846963" y="97884"/>
                </a:lnTo>
                <a:lnTo>
                  <a:pt x="868680" y="112083"/>
                </a:lnTo>
                <a:lnTo>
                  <a:pt x="890397" y="121968"/>
                </a:lnTo>
                <a:lnTo>
                  <a:pt x="912114" y="126553"/>
                </a:lnTo>
                <a:lnTo>
                  <a:pt x="933831" y="125476"/>
                </a:lnTo>
                <a:lnTo>
                  <a:pt x="955548" y="119059"/>
                </a:lnTo>
                <a:lnTo>
                  <a:pt x="977265" y="108275"/>
                </a:lnTo>
                <a:lnTo>
                  <a:pt x="998982" y="94626"/>
                </a:lnTo>
                <a:lnTo>
                  <a:pt x="1020699" y="79958"/>
                </a:lnTo>
                <a:lnTo>
                  <a:pt x="1042416" y="66229"/>
                </a:lnTo>
                <a:lnTo>
                  <a:pt x="1064133" y="55257"/>
                </a:lnTo>
                <a:lnTo>
                  <a:pt x="1085850" y="48491"/>
                </a:lnTo>
                <a:lnTo>
                  <a:pt x="1107567" y="46825"/>
                </a:lnTo>
                <a:lnTo>
                  <a:pt x="1129284" y="50486"/>
                </a:lnTo>
                <a:lnTo>
                  <a:pt x="1151001" y="59003"/>
                </a:lnTo>
                <a:lnTo>
                  <a:pt x="1172718" y="71272"/>
                </a:lnTo>
                <a:lnTo>
                  <a:pt x="1194435" y="85702"/>
                </a:lnTo>
                <a:lnTo>
                  <a:pt x="1216152" y="100417"/>
                </a:lnTo>
                <a:lnTo>
                  <a:pt x="1237869" y="113506"/>
                </a:lnTo>
                <a:lnTo>
                  <a:pt x="1259586" y="123268"/>
                </a:lnTo>
                <a:lnTo>
                  <a:pt x="1281303" y="128434"/>
                </a:lnTo>
                <a:lnTo>
                  <a:pt x="1303020" y="128333"/>
                </a:lnTo>
                <a:lnTo>
                  <a:pt x="1324737" y="122979"/>
                </a:lnTo>
                <a:lnTo>
                  <a:pt x="1346454" y="113066"/>
                </a:lnTo>
                <a:lnTo>
                  <a:pt x="1368171" y="99884"/>
                </a:lnTo>
                <a:lnTo>
                  <a:pt x="1389888" y="85145"/>
                </a:lnTo>
                <a:lnTo>
                  <a:pt x="1411605" y="70767"/>
                </a:lnTo>
                <a:lnTo>
                  <a:pt x="1433322" y="58616"/>
                </a:lnTo>
                <a:lnTo>
                  <a:pt x="1455039" y="50273"/>
                </a:lnTo>
                <a:lnTo>
                  <a:pt x="1476756" y="46822"/>
                </a:lnTo>
                <a:lnTo>
                  <a:pt x="1498473" y="48711"/>
                </a:lnTo>
                <a:lnTo>
                  <a:pt x="1520190" y="55696"/>
                </a:lnTo>
                <a:lnTo>
                  <a:pt x="1541907" y="66867"/>
                </a:lnTo>
                <a:lnTo>
                  <a:pt x="1563624" y="80774"/>
                </a:lnTo>
                <a:lnTo>
                  <a:pt x="1585341" y="95608"/>
                </a:lnTo>
                <a:lnTo>
                  <a:pt x="1607058" y="109442"/>
                </a:lnTo>
                <a:lnTo>
                  <a:pt x="1628775" y="120477"/>
                </a:lnTo>
                <a:lnTo>
                  <a:pt x="1650492" y="127280"/>
                </a:lnTo>
                <a:lnTo>
                  <a:pt x="1672209" y="128966"/>
                </a:lnTo>
                <a:lnTo>
                  <a:pt x="1693926" y="125315"/>
                </a:lnTo>
                <a:lnTo>
                  <a:pt x="1715643" y="116803"/>
                </a:lnTo>
                <a:lnTo>
                  <a:pt x="1737360" y="104536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4570171" y="4061754"/>
            <a:ext cx="573329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dash"/>
            <a:headEnd type="none"/>
            <a:tailEnd type="none"/>
          </a:ln>
        </p:spPr>
      </p:sp>
      <p:sp>
        <p:nvSpPr>
          <p:cNvPr id="83" name="Text 80"/>
          <p:cNvSpPr txBox="1"/>
          <p:nvPr/>
        </p:nvSpPr>
        <p:spPr>
          <a:xfrm>
            <a:off x="4334256" y="43434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buNone/>
            </a:pPr>
            <a:r>
              <a:rPr lang="en-US" sz="1600" b="1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600" dirty="0"/>
          </a:p>
        </p:txBody>
      </p:sp>
      <p:sp>
        <p:nvSpPr>
          <p:cNvPr id="84" name="Text 81"/>
          <p:cNvSpPr txBox="1"/>
          <p:nvPr/>
        </p:nvSpPr>
        <p:spPr>
          <a:xfrm>
            <a:off x="4334256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5413248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swapped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6739128" y="3200400"/>
            <a:ext cx="2011680" cy="192024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5875">
            <a:solidFill>
              <a:srgbClr val="C8453C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084771" y="3364992"/>
            <a:ext cx="573329" cy="896112"/>
          </a:xfrm>
          <a:prstGeom prst="rect">
            <a:avLst/>
          </a:prstGeom>
          <a:solidFill>
            <a:srgbClr val="9CA3AF">
              <a:alpha val="22000"/>
            </a:srgbClr>
          </a:solidFill>
          <a:ln/>
        </p:spPr>
      </p:sp>
      <p:sp>
        <p:nvSpPr>
          <p:cNvPr id="88" name="Shape 85"/>
          <p:cNvSpPr/>
          <p:nvPr/>
        </p:nvSpPr>
        <p:spPr>
          <a:xfrm>
            <a:off x="6876288" y="4224528"/>
            <a:ext cx="173736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89" name="Shape 86"/>
          <p:cNvSpPr/>
          <p:nvPr/>
        </p:nvSpPr>
        <p:spPr>
          <a:xfrm>
            <a:off x="6876288" y="3504244"/>
            <a:ext cx="1737360" cy="654443"/>
          </a:xfrm>
          <a:custGeom>
            <a:avLst/>
            <a:gdLst/>
            <a:ahLst/>
            <a:cxnLst/>
            <a:rect l="l" t="t" r="r" b="b"/>
            <a:pathLst>
              <a:path w="1737360" h="654443">
                <a:moveTo>
                  <a:pt x="0" y="605305"/>
                </a:moveTo>
                <a:lnTo>
                  <a:pt x="21717" y="593580"/>
                </a:lnTo>
                <a:lnTo>
                  <a:pt x="43434" y="586984"/>
                </a:lnTo>
                <a:lnTo>
                  <a:pt x="65151" y="586080"/>
                </a:lnTo>
                <a:lnTo>
                  <a:pt x="86868" y="589354"/>
                </a:lnTo>
                <a:lnTo>
                  <a:pt x="108585" y="592659"/>
                </a:lnTo>
                <a:lnTo>
                  <a:pt x="130302" y="588594"/>
                </a:lnTo>
                <a:lnTo>
                  <a:pt x="152019" y="566203"/>
                </a:lnTo>
                <a:lnTo>
                  <a:pt x="173736" y="513064"/>
                </a:lnTo>
                <a:lnTo>
                  <a:pt x="195453" y="423698"/>
                </a:lnTo>
                <a:lnTo>
                  <a:pt x="217170" y="311310"/>
                </a:lnTo>
                <a:lnTo>
                  <a:pt x="238887" y="203694"/>
                </a:lnTo>
                <a:lnTo>
                  <a:pt x="260604" y="120656"/>
                </a:lnTo>
                <a:lnTo>
                  <a:pt x="282321" y="64430"/>
                </a:lnTo>
                <a:lnTo>
                  <a:pt x="304038" y="29075"/>
                </a:lnTo>
                <a:lnTo>
                  <a:pt x="325755" y="9040"/>
                </a:lnTo>
                <a:lnTo>
                  <a:pt x="347472" y="951"/>
                </a:lnTo>
                <a:lnTo>
                  <a:pt x="369189" y="2540"/>
                </a:lnTo>
                <a:lnTo>
                  <a:pt x="390906" y="11504"/>
                </a:lnTo>
                <a:lnTo>
                  <a:pt x="412623" y="25008"/>
                </a:lnTo>
                <a:lnTo>
                  <a:pt x="434340" y="39762"/>
                </a:lnTo>
                <a:lnTo>
                  <a:pt x="456057" y="52451"/>
                </a:lnTo>
                <a:lnTo>
                  <a:pt x="477774" y="60310"/>
                </a:lnTo>
                <a:lnTo>
                  <a:pt x="499491" y="61645"/>
                </a:lnTo>
                <a:lnTo>
                  <a:pt x="521208" y="56169"/>
                </a:lnTo>
                <a:lnTo>
                  <a:pt x="542925" y="45052"/>
                </a:lnTo>
                <a:lnTo>
                  <a:pt x="564642" y="30689"/>
                </a:lnTo>
                <a:lnTo>
                  <a:pt x="586359" y="16235"/>
                </a:lnTo>
                <a:lnTo>
                  <a:pt x="608076" y="5016"/>
                </a:lnTo>
                <a:lnTo>
                  <a:pt x="629793" y="0"/>
                </a:lnTo>
                <a:lnTo>
                  <a:pt x="651510" y="3516"/>
                </a:lnTo>
                <a:lnTo>
                  <a:pt x="673227" y="17442"/>
                </a:lnTo>
                <a:lnTo>
                  <a:pt x="694944" y="44039"/>
                </a:lnTo>
                <a:lnTo>
                  <a:pt x="716661" y="87290"/>
                </a:lnTo>
                <a:lnTo>
                  <a:pt x="738378" y="153362"/>
                </a:lnTo>
                <a:lnTo>
                  <a:pt x="760095" y="246425"/>
                </a:lnTo>
                <a:lnTo>
                  <a:pt x="781812" y="357909"/>
                </a:lnTo>
                <a:lnTo>
                  <a:pt x="803529" y="462534"/>
                </a:lnTo>
                <a:lnTo>
                  <a:pt x="825246" y="536459"/>
                </a:lnTo>
                <a:lnTo>
                  <a:pt x="846963" y="575138"/>
                </a:lnTo>
                <a:lnTo>
                  <a:pt x="868680" y="588494"/>
                </a:lnTo>
                <a:lnTo>
                  <a:pt x="890397" y="588977"/>
                </a:lnTo>
                <a:lnTo>
                  <a:pt x="912114" y="586057"/>
                </a:lnTo>
                <a:lnTo>
                  <a:pt x="933831" y="585535"/>
                </a:lnTo>
                <a:lnTo>
                  <a:pt x="955548" y="590137"/>
                </a:lnTo>
                <a:lnTo>
                  <a:pt x="977265" y="600172"/>
                </a:lnTo>
                <a:lnTo>
                  <a:pt x="998982" y="614141"/>
                </a:lnTo>
                <a:lnTo>
                  <a:pt x="1020699" y="629402"/>
                </a:lnTo>
                <a:lnTo>
                  <a:pt x="1042416" y="642884"/>
                </a:lnTo>
                <a:lnTo>
                  <a:pt x="1064133" y="651821"/>
                </a:lnTo>
                <a:lnTo>
                  <a:pt x="1085850" y="654366"/>
                </a:lnTo>
                <a:lnTo>
                  <a:pt x="1107567" y="649997"/>
                </a:lnTo>
                <a:lnTo>
                  <a:pt x="1129284" y="639641"/>
                </a:lnTo>
                <a:lnTo>
                  <a:pt x="1151001" y="625476"/>
                </a:lnTo>
                <a:lnTo>
                  <a:pt x="1172718" y="610480"/>
                </a:lnTo>
                <a:lnTo>
                  <a:pt x="1194435" y="597805"/>
                </a:lnTo>
                <a:lnTo>
                  <a:pt x="1216152" y="590115"/>
                </a:lnTo>
                <a:lnTo>
                  <a:pt x="1237869" y="589025"/>
                </a:lnTo>
                <a:lnTo>
                  <a:pt x="1259586" y="594765"/>
                </a:lnTo>
                <a:lnTo>
                  <a:pt x="1281303" y="606129"/>
                </a:lnTo>
                <a:lnTo>
                  <a:pt x="1303020" y="620728"/>
                </a:lnTo>
                <a:lnTo>
                  <a:pt x="1324737" y="635496"/>
                </a:lnTo>
                <a:lnTo>
                  <a:pt x="1346454" y="647328"/>
                </a:lnTo>
                <a:lnTo>
                  <a:pt x="1368171" y="653740"/>
                </a:lnTo>
                <a:lnTo>
                  <a:pt x="1389888" y="653384"/>
                </a:lnTo>
                <a:lnTo>
                  <a:pt x="1411605" y="646334"/>
                </a:lnTo>
                <a:lnTo>
                  <a:pt x="1433322" y="634072"/>
                </a:lnTo>
                <a:lnTo>
                  <a:pt x="1455039" y="619175"/>
                </a:lnTo>
                <a:lnTo>
                  <a:pt x="1476756" y="604772"/>
                </a:lnTo>
                <a:lnTo>
                  <a:pt x="1498473" y="593890"/>
                </a:lnTo>
                <a:lnTo>
                  <a:pt x="1520190" y="588816"/>
                </a:lnTo>
                <a:lnTo>
                  <a:pt x="1541907" y="590615"/>
                </a:lnTo>
                <a:lnTo>
                  <a:pt x="1563624" y="598910"/>
                </a:lnTo>
                <a:lnTo>
                  <a:pt x="1585341" y="611958"/>
                </a:lnTo>
                <a:lnTo>
                  <a:pt x="1607058" y="627016"/>
                </a:lnTo>
                <a:lnTo>
                  <a:pt x="1628775" y="640922"/>
                </a:lnTo>
                <a:lnTo>
                  <a:pt x="1650492" y="650753"/>
                </a:lnTo>
                <a:lnTo>
                  <a:pt x="1672209" y="654443"/>
                </a:lnTo>
                <a:lnTo>
                  <a:pt x="1693926" y="651218"/>
                </a:lnTo>
                <a:lnTo>
                  <a:pt x="1715643" y="641754"/>
                </a:lnTo>
                <a:lnTo>
                  <a:pt x="1737360" y="62804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C8453C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084771" y="3578186"/>
            <a:ext cx="573329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dash"/>
            <a:headEnd type="none"/>
            <a:tailEnd type="none"/>
          </a:ln>
        </p:spPr>
      </p:sp>
      <p:sp>
        <p:nvSpPr>
          <p:cNvPr id="91" name="Text 88"/>
          <p:cNvSpPr txBox="1"/>
          <p:nvPr/>
        </p:nvSpPr>
        <p:spPr>
          <a:xfrm>
            <a:off x="6848856" y="43434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buNone/>
            </a:pPr>
            <a:r>
              <a:rPr lang="en-US" sz="1600" b="1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600" dirty="0"/>
          </a:p>
        </p:txBody>
      </p:sp>
      <p:sp>
        <p:nvSpPr>
          <p:cNvPr id="92" name="Text 89"/>
          <p:cNvSpPr txBox="1"/>
          <p:nvPr/>
        </p:nvSpPr>
        <p:spPr>
          <a:xfrm>
            <a:off x="6848856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7927848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6272784" y="1737360"/>
            <a:ext cx="429768" cy="91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5" name="Shape 92"/>
          <p:cNvSpPr/>
          <p:nvPr/>
        </p:nvSpPr>
        <p:spPr>
          <a:xfrm flipH="1">
            <a:off x="6272784" y="4160520"/>
            <a:ext cx="429768" cy="91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6" name="Shape 93"/>
          <p:cNvSpPr/>
          <p:nvPr/>
        </p:nvSpPr>
        <p:spPr>
          <a:xfrm>
            <a:off x="5230368" y="2734056"/>
            <a:ext cx="91" cy="429768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7" name="Shape 94"/>
          <p:cNvSpPr/>
          <p:nvPr/>
        </p:nvSpPr>
        <p:spPr>
          <a:xfrm flipV="1">
            <a:off x="7744968" y="2734056"/>
            <a:ext cx="91" cy="429768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8" name="Text 95"/>
          <p:cNvSpPr txBox="1"/>
          <p:nvPr/>
        </p:nvSpPr>
        <p:spPr>
          <a:xfrm>
            <a:off x="6236208" y="1463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6236208" y="4233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5303520" y="2834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6848856" y="2834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3931920" y="5166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corner must exceed the swapped one by the margin 0.2</a:t>
            </a:r>
            <a:endParaRPr lang="en-US" sz="1200" dirty="0"/>
          </a:p>
        </p:txBody>
      </p:sp>
      <p:sp>
        <p:nvSpPr>
          <p:cNvPr id="103" name="Shape 100"/>
          <p:cNvSpPr/>
          <p:nvPr/>
        </p:nvSpPr>
        <p:spPr>
          <a:xfrm>
            <a:off x="9144000" y="182880"/>
            <a:ext cx="2834640" cy="5394960"/>
          </a:xfrm>
          <a:prstGeom prst="roundRect">
            <a:avLst>
              <a:gd name="adj" fmla="val 2258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104" name="Text 101"/>
          <p:cNvSpPr txBox="1"/>
          <p:nvPr/>
        </p:nvSpPr>
        <p:spPr>
          <a:xfrm>
            <a:off x="9281160" y="320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pooling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9281160" y="594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overlap-weighted mean of </a:t>
            </a:r>
            <a:pPr algn="l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inside each GT interval; GT intervals weighted equally</a:t>
            </a:r>
            <a:endParaRPr lang="en-US" sz="1000" dirty="0"/>
          </a:p>
        </p:txBody>
      </p:sp>
      <p:sp>
        <p:nvSpPr>
          <p:cNvPr id="106" name="Text 103"/>
          <p:cNvSpPr txBox="1"/>
          <p:nvPr/>
        </p:nvSpPr>
        <p:spPr>
          <a:xfrm>
            <a:off x="9281160" y="1325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Hinges (margin 0.2)</a:t>
            </a:r>
            <a:endParaRPr lang="en-US" sz="1150" dirty="0"/>
          </a:p>
        </p:txBody>
      </p:sp>
      <p:sp>
        <p:nvSpPr>
          <p:cNvPr id="107" name="Text 104"/>
          <p:cNvSpPr txBox="1"/>
          <p:nvPr/>
        </p:nvSpPr>
        <p:spPr>
          <a:xfrm>
            <a:off x="9281160" y="1645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[0.2 − A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B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200" dirty="0"/>
          </a:p>
        </p:txBody>
      </p:sp>
      <p:sp>
        <p:nvSpPr>
          <p:cNvPr id="108" name="Text 105"/>
          <p:cNvSpPr txBox="1"/>
          <p:nvPr/>
        </p:nvSpPr>
        <p:spPr>
          <a:xfrm>
            <a:off x="928116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video, wrong query</a:t>
            </a:r>
            <a:endParaRPr lang="en-US" sz="950" dirty="0"/>
          </a:p>
        </p:txBody>
      </p:sp>
      <p:sp>
        <p:nvSpPr>
          <p:cNvPr id="109" name="Text 106"/>
          <p:cNvSpPr txBox="1"/>
          <p:nvPr/>
        </p:nvSpPr>
        <p:spPr>
          <a:xfrm>
            <a:off x="9281160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[0.2 − A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B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200" dirty="0"/>
          </a:p>
        </p:txBody>
      </p:sp>
      <p:sp>
        <p:nvSpPr>
          <p:cNvPr id="110" name="Text 107"/>
          <p:cNvSpPr txBox="1"/>
          <p:nvPr/>
        </p:nvSpPr>
        <p:spPr>
          <a:xfrm>
            <a:off x="9281160" y="2468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query, other video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9281160" y="283464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C8453C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932688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½(row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col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300" dirty="0"/>
          </a:p>
        </p:txBody>
      </p:sp>
      <p:sp>
        <p:nvSpPr>
          <p:cNvPr id="113" name="Text 110"/>
          <p:cNvSpPr txBox="1"/>
          <p:nvPr/>
        </p:nvSpPr>
        <p:spPr>
          <a:xfrm>
            <a:off x="9281160" y="356616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Evidence function as inference (no new parameters)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E forwards with dropout off; no extra backbone pass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saliency ratings used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only; not run at inference</a:t>
            </a:r>
            <a:endParaRPr lang="en-US" sz="950" dirty="0"/>
          </a:p>
        </p:txBody>
      </p:sp>
      <p:sp>
        <p:nvSpPr>
          <p:cNvPr id="114" name="Text 111"/>
          <p:cNvSpPr txBox="1"/>
          <p:nvPr/>
        </p:nvSpPr>
        <p:spPr>
          <a:xfrm>
            <a:off x="228600" y="5669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Reciprocal weak-negative pair</a:t>
            </a:r>
            <a:endParaRPr lang="en-US" sz="1200" dirty="0"/>
          </a:p>
        </p:txBody>
      </p:sp>
      <p:sp>
        <p:nvSpPr>
          <p:cNvPr id="115" name="Text 112"/>
          <p:cNvSpPr txBox="1"/>
          <p:nvPr/>
        </p:nvSpPr>
        <p:spPr>
          <a:xfrm>
            <a:off x="3657600" y="56692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Four corners, pooled on each video's own GT</a:t>
            </a:r>
            <a:endParaRPr lang="en-US" sz="1200" dirty="0"/>
          </a:p>
        </p:txBody>
      </p:sp>
      <p:sp>
        <p:nvSpPr>
          <p:cNvPr id="116" name="Text 113"/>
          <p:cNvSpPr txBox="1"/>
          <p:nvPr/>
        </p:nvSpPr>
        <p:spPr>
          <a:xfrm>
            <a:off x="9144000" y="5669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Objective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2880" y="182880"/>
            <a:ext cx="2852928" cy="4800600"/>
          </a:xfrm>
          <a:prstGeom prst="roundRect">
            <a:avLst>
              <a:gd name="adj" fmla="val 2244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4" name="Text 1"/>
          <p:cNvSpPr txBox="1"/>
          <p:nvPr/>
        </p:nvSpPr>
        <p:spPr>
          <a:xfrm>
            <a:off x="182880" y="507492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TriField input conditioning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3154680" y="182880"/>
            <a:ext cx="2852928" cy="4800600"/>
          </a:xfrm>
          <a:prstGeom prst="roundRect">
            <a:avLst>
              <a:gd name="adj" fmla="val 2244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3154680" y="507492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Edge-based Support field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26480" y="182880"/>
            <a:ext cx="2852928" cy="4800600"/>
          </a:xfrm>
          <a:prstGeom prst="roundRect">
            <a:avLst>
              <a:gd name="adj" fmla="val 2244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6126480" y="507492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Evidence &amp; Transition fields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098280" y="182880"/>
            <a:ext cx="2907792" cy="4800600"/>
          </a:xfrm>
          <a:prstGeom prst="roundRect">
            <a:avLst>
              <a:gd name="adj" fmla="val 2201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9098280" y="50749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Fusion &amp; objectives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0664" y="384048"/>
            <a:ext cx="201168" cy="20116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3840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v̂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837944" y="384048"/>
            <a:ext cx="146304" cy="146304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11680" y="384048"/>
            <a:ext cx="146304" cy="146304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85416" y="384048"/>
            <a:ext cx="146304" cy="146304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59152" y="384048"/>
            <a:ext cx="146304" cy="146304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69464" y="3840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q̂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41248" y="603504"/>
            <a:ext cx="493776" cy="20116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 flipH="1">
            <a:off x="1883664" y="566928"/>
            <a:ext cx="228600" cy="237744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65760" y="822960"/>
            <a:ext cx="2487168" cy="502920"/>
          </a:xfrm>
          <a:prstGeom prst="roundRect">
            <a:avLst>
              <a:gd name="adj" fmla="val 12727"/>
            </a:avLst>
          </a:prstGeom>
          <a:solidFill>
            <a:srgbClr val="ECE5F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4048" y="822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v̂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⊙ Σ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(v̂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·q̂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q̂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H="1">
            <a:off x="731520" y="1325880"/>
            <a:ext cx="877824" cy="3017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10896" y="1645920"/>
            <a:ext cx="841248" cy="868680"/>
          </a:xfrm>
          <a:prstGeom prst="roundRect">
            <a:avLst>
              <a:gd name="adj" fmla="val 7609"/>
            </a:avLst>
          </a:prstGeom>
          <a:solidFill>
            <a:srgbClr val="F9DCD9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" y="1645920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31520" y="2514600"/>
            <a:ext cx="91" cy="25603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609344" y="1325880"/>
            <a:ext cx="36576" cy="3017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225296" y="1645920"/>
            <a:ext cx="841248" cy="868680"/>
          </a:xfrm>
          <a:prstGeom prst="roundRect">
            <a:avLst>
              <a:gd name="adj" fmla="val 7609"/>
            </a:avLst>
          </a:prstGeom>
          <a:solidFill>
            <a:srgbClr val="D3EEE8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43584" y="1645920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diffuse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(a; κ)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κ = e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−2(‖Δv‖+2|Δs|)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1645920" y="2514600"/>
            <a:ext cx="91" cy="25603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609344" y="1325880"/>
            <a:ext cx="950976" cy="3017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2139696" y="1645920"/>
            <a:ext cx="841248" cy="868680"/>
          </a:xfrm>
          <a:prstGeom prst="roundRect">
            <a:avLst>
              <a:gd name="adj" fmla="val 7609"/>
            </a:avLst>
          </a:prstGeom>
          <a:solidFill>
            <a:srgbClr val="FBEBC9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157984" y="1645920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Δa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(4Δs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/ leave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2560320" y="2514600"/>
            <a:ext cx="91" cy="25603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310896" y="2788920"/>
            <a:ext cx="259689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9184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φ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(·),  φ: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LN–Lin(64)–GELU–LN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609344" y="3246120"/>
            <a:ext cx="91" cy="15544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365760" y="340156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(γ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r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k,i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609344" y="3712464"/>
            <a:ext cx="91" cy="128016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310896" y="3858768"/>
            <a:ext cx="2596896" cy="457200"/>
          </a:xfrm>
          <a:prstGeom prst="roundRect">
            <a:avLst>
              <a:gd name="adj" fmla="val 14000"/>
            </a:avLst>
          </a:prstGeom>
          <a:solidFill>
            <a:srgbClr val="ECE5F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29184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⊥ projection, bounded norm 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≤ 0.05‖v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609344" y="4315968"/>
            <a:ext cx="91" cy="16459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1042416" y="4507992"/>
            <a:ext cx="201168" cy="201168"/>
          </a:xfrm>
          <a:prstGeom prst="rect">
            <a:avLst/>
          </a:prstGeom>
          <a:solidFill>
            <a:srgbClr val="ECE5F6"/>
          </a:solidFill>
          <a:ln w="9525">
            <a:solidFill>
              <a:srgbClr val="7B5EA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289304" y="44988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ṽ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‖ṽ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 = ‖v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3392424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703320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014216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325112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36008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946904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257800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568696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154680" y="18288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(RMS-normalized)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3493008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54" name="Shape 51"/>
          <p:cNvSpPr/>
          <p:nvPr/>
        </p:nvSpPr>
        <p:spPr>
          <a:xfrm flipH="1">
            <a:off x="3648456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55" name="Shape 52"/>
          <p:cNvSpPr/>
          <p:nvPr/>
        </p:nvSpPr>
        <p:spPr>
          <a:xfrm>
            <a:off x="3584448" y="868680"/>
            <a:ext cx="128016" cy="128016"/>
          </a:xfrm>
          <a:prstGeom prst="ellipse">
            <a:avLst/>
          </a:prstGeom>
          <a:solidFill>
            <a:srgbClr val="E0EEEB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803904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57" name="Shape 54"/>
          <p:cNvSpPr/>
          <p:nvPr/>
        </p:nvSpPr>
        <p:spPr>
          <a:xfrm flipH="1">
            <a:off x="3959352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58" name="Shape 55"/>
          <p:cNvSpPr/>
          <p:nvPr/>
        </p:nvSpPr>
        <p:spPr>
          <a:xfrm>
            <a:off x="3895344" y="868680"/>
            <a:ext cx="128016" cy="128016"/>
          </a:xfrm>
          <a:prstGeom prst="ellipse">
            <a:avLst/>
          </a:prstGeom>
          <a:solidFill>
            <a:srgbClr val="D5E8E4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114800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0" name="Shape 57"/>
          <p:cNvSpPr/>
          <p:nvPr/>
        </p:nvSpPr>
        <p:spPr>
          <a:xfrm flipH="1">
            <a:off x="4270248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1" name="Shape 58"/>
          <p:cNvSpPr/>
          <p:nvPr/>
        </p:nvSpPr>
        <p:spPr>
          <a:xfrm>
            <a:off x="4206240" y="868680"/>
            <a:ext cx="128016" cy="128016"/>
          </a:xfrm>
          <a:prstGeom prst="ellipse">
            <a:avLst/>
          </a:prstGeom>
          <a:solidFill>
            <a:srgbClr val="62A89B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425696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3" name="Shape 60"/>
          <p:cNvSpPr/>
          <p:nvPr/>
        </p:nvSpPr>
        <p:spPr>
          <a:xfrm flipH="1">
            <a:off x="4581144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4" name="Shape 61"/>
          <p:cNvSpPr/>
          <p:nvPr/>
        </p:nvSpPr>
        <p:spPr>
          <a:xfrm>
            <a:off x="4517136" y="868680"/>
            <a:ext cx="128016" cy="128016"/>
          </a:xfrm>
          <a:prstGeom prst="ellipse">
            <a:avLst/>
          </a:prstGeom>
          <a:solidFill>
            <a:srgbClr val="439787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736592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6" name="Shape 63"/>
          <p:cNvSpPr/>
          <p:nvPr/>
        </p:nvSpPr>
        <p:spPr>
          <a:xfrm flipH="1">
            <a:off x="4892040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7" name="Shape 64"/>
          <p:cNvSpPr/>
          <p:nvPr/>
        </p:nvSpPr>
        <p:spPr>
          <a:xfrm>
            <a:off x="4828032" y="868680"/>
            <a:ext cx="128016" cy="128016"/>
          </a:xfrm>
          <a:prstGeom prst="ellipse">
            <a:avLst/>
          </a:prstGeom>
          <a:solidFill>
            <a:srgbClr val="4D9C8E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047488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9" name="Shape 66"/>
          <p:cNvSpPr/>
          <p:nvPr/>
        </p:nvSpPr>
        <p:spPr>
          <a:xfrm flipH="1">
            <a:off x="5202936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70" name="Shape 67"/>
          <p:cNvSpPr/>
          <p:nvPr/>
        </p:nvSpPr>
        <p:spPr>
          <a:xfrm>
            <a:off x="5138928" y="868680"/>
            <a:ext cx="128016" cy="128016"/>
          </a:xfrm>
          <a:prstGeom prst="ellipse">
            <a:avLst/>
          </a:prstGeom>
          <a:solidFill>
            <a:srgbClr val="58A295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358384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72" name="Shape 69"/>
          <p:cNvSpPr/>
          <p:nvPr/>
        </p:nvSpPr>
        <p:spPr>
          <a:xfrm flipH="1">
            <a:off x="5513832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5449824" y="868680"/>
            <a:ext cx="128016" cy="128016"/>
          </a:xfrm>
          <a:prstGeom prst="ellipse">
            <a:avLst/>
          </a:prstGeom>
          <a:solidFill>
            <a:srgbClr val="D5E8E4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200400" y="822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</a:t>
            </a:r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ĉ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3282696" y="1188720"/>
            <a:ext cx="259689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3300984" y="1188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g(a, b) = </a:t>
            </a:r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[a, b, b−a, a⊙b]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ĉ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g(a,b)−g(a,0)−g(0,b)+g(0,0) )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residual, a = h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 = h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i+1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3584448" y="2331720"/>
            <a:ext cx="128016" cy="128016"/>
          </a:xfrm>
          <a:prstGeom prst="ellipse">
            <a:avLst/>
          </a:prstGeom>
          <a:solidFill>
            <a:srgbClr val="E0EEEB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895344" y="2331720"/>
            <a:ext cx="128016" cy="128016"/>
          </a:xfrm>
          <a:prstGeom prst="ellipse">
            <a:avLst/>
          </a:prstGeom>
          <a:solidFill>
            <a:srgbClr val="D5E8E4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4206240" y="2331720"/>
            <a:ext cx="128016" cy="128016"/>
          </a:xfrm>
          <a:prstGeom prst="ellipse">
            <a:avLst/>
          </a:prstGeom>
          <a:solidFill>
            <a:srgbClr val="62A89B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517136" y="2331720"/>
            <a:ext cx="128016" cy="128016"/>
          </a:xfrm>
          <a:prstGeom prst="ellipse">
            <a:avLst/>
          </a:prstGeom>
          <a:solidFill>
            <a:srgbClr val="439787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828032" y="2331720"/>
            <a:ext cx="128016" cy="128016"/>
          </a:xfrm>
          <a:prstGeom prst="ellipse">
            <a:avLst/>
          </a:prstGeom>
          <a:solidFill>
            <a:srgbClr val="4D9C8E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5138928" y="2331720"/>
            <a:ext cx="128016" cy="128016"/>
          </a:xfrm>
          <a:prstGeom prst="ellipse">
            <a:avLst/>
          </a:prstGeom>
          <a:solidFill>
            <a:srgbClr val="58A295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49824" y="2331720"/>
            <a:ext cx="128016" cy="128016"/>
          </a:xfrm>
          <a:prstGeom prst="ellipse">
            <a:avLst/>
          </a:prstGeom>
          <a:solidFill>
            <a:srgbClr val="D5E8E4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114800" y="2578608"/>
            <a:ext cx="91" cy="731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5" name="Shape 82"/>
          <p:cNvSpPr/>
          <p:nvPr/>
        </p:nvSpPr>
        <p:spPr>
          <a:xfrm>
            <a:off x="4114800" y="2651760"/>
            <a:ext cx="1243584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6" name="Shape 83"/>
          <p:cNvSpPr/>
          <p:nvPr/>
        </p:nvSpPr>
        <p:spPr>
          <a:xfrm flipV="1">
            <a:off x="5358384" y="2578608"/>
            <a:ext cx="91" cy="731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7" name="Text 84"/>
          <p:cNvSpPr txBox="1"/>
          <p:nvPr/>
        </p:nvSpPr>
        <p:spPr>
          <a:xfrm>
            <a:off x="4023360" y="2670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150" dirty="0"/>
          </a:p>
        </p:txBody>
      </p:sp>
      <p:sp>
        <p:nvSpPr>
          <p:cNvPr id="88" name="Text 85"/>
          <p:cNvSpPr txBox="1"/>
          <p:nvPr/>
        </p:nvSpPr>
        <p:spPr>
          <a:xfrm>
            <a:off x="5266944" y="2670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150" dirty="0"/>
          </a:p>
        </p:txBody>
      </p:sp>
      <p:sp>
        <p:nvSpPr>
          <p:cNvPr id="89" name="Text 86"/>
          <p:cNvSpPr txBox="1"/>
          <p:nvPr/>
        </p:nvSpPr>
        <p:spPr>
          <a:xfrm>
            <a:off x="3246120" y="288950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</a:t>
            </a:r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(s, e) = </a:t>
            </a:r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i∈[s,e)</a:t>
            </a:r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ĉ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150" dirty="0"/>
          </a:p>
        </p:txBody>
      </p:sp>
      <p:sp>
        <p:nvSpPr>
          <p:cNvPr id="90" name="Shape 87"/>
          <p:cNvSpPr/>
          <p:nvPr/>
        </p:nvSpPr>
        <p:spPr>
          <a:xfrm>
            <a:off x="3429000" y="3584448"/>
            <a:ext cx="2304288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91" name="Shape 88"/>
          <p:cNvSpPr/>
          <p:nvPr/>
        </p:nvSpPr>
        <p:spPr>
          <a:xfrm>
            <a:off x="3843772" y="3474720"/>
            <a:ext cx="1474744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Shape 89"/>
          <p:cNvSpPr/>
          <p:nvPr/>
        </p:nvSpPr>
        <p:spPr>
          <a:xfrm>
            <a:off x="4120286" y="3474720"/>
            <a:ext cx="921715" cy="219456"/>
          </a:xfrm>
          <a:prstGeom prst="rect">
            <a:avLst/>
          </a:prstGeom>
          <a:solidFill>
            <a:srgbClr val="D3EEE8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258544" y="3438144"/>
            <a:ext cx="69128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222222"/>
            </a:solidFill>
            <a:prstDash val="dash"/>
          </a:ln>
        </p:spPr>
      </p:sp>
      <p:sp>
        <p:nvSpPr>
          <p:cNvPr id="94" name="Text 91"/>
          <p:cNvSpPr txBox="1"/>
          <p:nvPr/>
        </p:nvSpPr>
        <p:spPr>
          <a:xfrm>
            <a:off x="3475086" y="3236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B</a:t>
            </a:r>
            <a:endParaRPr lang="en-US" sz="900" dirty="0"/>
          </a:p>
        </p:txBody>
      </p:sp>
      <p:sp>
        <p:nvSpPr>
          <p:cNvPr id="95" name="Text 92"/>
          <p:cNvSpPr txBox="1"/>
          <p:nvPr/>
        </p:nvSpPr>
        <p:spPr>
          <a:xfrm>
            <a:off x="4258544" y="32369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E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R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4968118" y="3730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3246120" y="391363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local residual: 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coverage × purity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w.r.t. top-scoring anchors (no GT at inference)</a:t>
            </a:r>
            <a:endParaRPr lang="en-US" sz="1000" dirty="0"/>
          </a:p>
        </p:txBody>
      </p:sp>
      <p:sp>
        <p:nvSpPr>
          <p:cNvPr id="98" name="Text 95"/>
          <p:cNvSpPr txBox="1"/>
          <p:nvPr/>
        </p:nvSpPr>
        <p:spPr>
          <a:xfrm>
            <a:off x="3246120" y="449884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S(s, e) ∈ [−1, 1]</a:t>
            </a:r>
            <a:endParaRPr lang="en-US" sz="1150" dirty="0"/>
          </a:p>
        </p:txBody>
      </p:sp>
      <p:sp>
        <p:nvSpPr>
          <p:cNvPr id="99" name="Shape 96"/>
          <p:cNvSpPr/>
          <p:nvPr/>
        </p:nvSpPr>
        <p:spPr>
          <a:xfrm>
            <a:off x="6254496" y="320040"/>
            <a:ext cx="2596896" cy="868680"/>
          </a:xfrm>
          <a:prstGeom prst="roundRect">
            <a:avLst>
              <a:gd name="adj" fmla="val 7368"/>
            </a:avLst>
          </a:prstGeom>
          <a:solidFill>
            <a:srgbClr val="EEF0F3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291072" y="3200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V→Q interaction (×3, independent)</a:t>
            </a:r>
            <a:endParaRPr lang="en-US" sz="10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GELU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v̂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⊙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Attn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v̂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Q̂, 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Q̂)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 flipH="1">
            <a:off x="6821424" y="1188720"/>
            <a:ext cx="274320" cy="20116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02" name="Shape 99"/>
          <p:cNvSpPr/>
          <p:nvPr/>
        </p:nvSpPr>
        <p:spPr>
          <a:xfrm>
            <a:off x="6236208" y="1417320"/>
            <a:ext cx="1170432" cy="457200"/>
          </a:xfrm>
          <a:prstGeom prst="roundRect">
            <a:avLst>
              <a:gd name="adj" fmla="val 14000"/>
            </a:avLst>
          </a:prstGeom>
          <a:solidFill>
            <a:srgbClr val="F9DCD9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236208" y="14173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E,i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050" dirty="0"/>
          </a:p>
        </p:txBody>
      </p:sp>
      <p:sp>
        <p:nvSpPr>
          <p:cNvPr id="104" name="Shape 101"/>
          <p:cNvSpPr/>
          <p:nvPr/>
        </p:nvSpPr>
        <p:spPr>
          <a:xfrm>
            <a:off x="6268212" y="2587752"/>
            <a:ext cx="118872" cy="109728"/>
          </a:xfrm>
          <a:prstGeom prst="rect">
            <a:avLst/>
          </a:prstGeom>
          <a:solidFill>
            <a:srgbClr val="E5A8A3"/>
          </a:solidFill>
          <a:ln/>
        </p:spPr>
      </p:sp>
      <p:sp>
        <p:nvSpPr>
          <p:cNvPr id="105" name="Shape 102"/>
          <p:cNvSpPr/>
          <p:nvPr/>
        </p:nvSpPr>
        <p:spPr>
          <a:xfrm>
            <a:off x="6432804" y="2560320"/>
            <a:ext cx="118872" cy="137160"/>
          </a:xfrm>
          <a:prstGeom prst="rect">
            <a:avLst/>
          </a:prstGeom>
          <a:solidFill>
            <a:srgbClr val="E4A29E"/>
          </a:solidFill>
          <a:ln/>
        </p:spPr>
      </p:sp>
      <p:sp>
        <p:nvSpPr>
          <p:cNvPr id="106" name="Shape 103"/>
          <p:cNvSpPr/>
          <p:nvPr/>
        </p:nvSpPr>
        <p:spPr>
          <a:xfrm>
            <a:off x="6597396" y="2313432"/>
            <a:ext cx="118872" cy="384048"/>
          </a:xfrm>
          <a:prstGeom prst="rect">
            <a:avLst/>
          </a:prstGeom>
          <a:solidFill>
            <a:srgbClr val="D57069"/>
          </a:solidFill>
          <a:ln/>
        </p:spPr>
      </p:sp>
      <p:sp>
        <p:nvSpPr>
          <p:cNvPr id="107" name="Shape 104"/>
          <p:cNvSpPr/>
          <p:nvPr/>
        </p:nvSpPr>
        <p:spPr>
          <a:xfrm>
            <a:off x="6761988" y="2231136"/>
            <a:ext cx="118872" cy="466344"/>
          </a:xfrm>
          <a:prstGeom prst="rect">
            <a:avLst/>
          </a:prstGeom>
          <a:solidFill>
            <a:srgbClr val="D05F57"/>
          </a:solidFill>
          <a:ln/>
        </p:spPr>
      </p:sp>
      <p:sp>
        <p:nvSpPr>
          <p:cNvPr id="108" name="Shape 105"/>
          <p:cNvSpPr/>
          <p:nvPr/>
        </p:nvSpPr>
        <p:spPr>
          <a:xfrm>
            <a:off x="6926580" y="2258568"/>
            <a:ext cx="118872" cy="438912"/>
          </a:xfrm>
          <a:prstGeom prst="rect">
            <a:avLst/>
          </a:prstGeom>
          <a:solidFill>
            <a:srgbClr val="D1655D"/>
          </a:solidFill>
          <a:ln/>
        </p:spPr>
      </p:sp>
      <p:sp>
        <p:nvSpPr>
          <p:cNvPr id="109" name="Shape 106"/>
          <p:cNvSpPr/>
          <p:nvPr/>
        </p:nvSpPr>
        <p:spPr>
          <a:xfrm>
            <a:off x="7091172" y="2532888"/>
            <a:ext cx="118872" cy="164592"/>
          </a:xfrm>
          <a:prstGeom prst="rect">
            <a:avLst/>
          </a:prstGeom>
          <a:solidFill>
            <a:srgbClr val="E29C98"/>
          </a:solidFill>
          <a:ln/>
        </p:spPr>
      </p:sp>
      <p:sp>
        <p:nvSpPr>
          <p:cNvPr id="110" name="Shape 107"/>
          <p:cNvSpPr/>
          <p:nvPr/>
        </p:nvSpPr>
        <p:spPr>
          <a:xfrm>
            <a:off x="7255764" y="2615184"/>
            <a:ext cx="118872" cy="82296"/>
          </a:xfrm>
          <a:prstGeom prst="rect">
            <a:avLst/>
          </a:prstGeom>
          <a:solidFill>
            <a:srgbClr val="E7ADA9"/>
          </a:solidFill>
          <a:ln/>
        </p:spPr>
      </p:sp>
      <p:sp>
        <p:nvSpPr>
          <p:cNvPr id="111" name="Shape 108"/>
          <p:cNvSpPr/>
          <p:nvPr/>
        </p:nvSpPr>
        <p:spPr>
          <a:xfrm>
            <a:off x="6222492" y="2697480"/>
            <a:ext cx="1197864" cy="91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112" name="Shape 109"/>
          <p:cNvSpPr/>
          <p:nvPr/>
        </p:nvSpPr>
        <p:spPr>
          <a:xfrm>
            <a:off x="6597396" y="2743200"/>
            <a:ext cx="91" cy="6400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113" name="Shape 110"/>
          <p:cNvSpPr/>
          <p:nvPr/>
        </p:nvSpPr>
        <p:spPr>
          <a:xfrm>
            <a:off x="6597396" y="2807208"/>
            <a:ext cx="448056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114" name="Shape 111"/>
          <p:cNvSpPr/>
          <p:nvPr/>
        </p:nvSpPr>
        <p:spPr>
          <a:xfrm flipV="1">
            <a:off x="7045452" y="2743200"/>
            <a:ext cx="91" cy="6400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115" name="Shape 112"/>
          <p:cNvSpPr/>
          <p:nvPr/>
        </p:nvSpPr>
        <p:spPr>
          <a:xfrm>
            <a:off x="6821424" y="1874520"/>
            <a:ext cx="91" cy="13716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16" name="Text 113"/>
          <p:cNvSpPr txBox="1"/>
          <p:nvPr/>
        </p:nvSpPr>
        <p:spPr>
          <a:xfrm>
            <a:off x="6190488" y="29260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E(s,e) = </a:t>
            </a:r>
            <a:pPr algn="ctr" indent="0" marL="0">
              <a:buNone/>
            </a:pPr>
            <a:r>
              <a:rPr lang="en-US" sz="105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i∈[s,e]</a:t>
            </a:r>
            <a:pPr algn="ctr" indent="0" marL="0">
              <a:buNone/>
            </a:pPr>
            <a:r>
              <a:rPr lang="en-US" sz="105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050" dirty="0"/>
          </a:p>
        </p:txBody>
      </p:sp>
      <p:sp>
        <p:nvSpPr>
          <p:cNvPr id="117" name="Shape 114"/>
          <p:cNvSpPr/>
          <p:nvPr/>
        </p:nvSpPr>
        <p:spPr>
          <a:xfrm>
            <a:off x="8010144" y="1188720"/>
            <a:ext cx="173736" cy="20116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18" name="Shape 115"/>
          <p:cNvSpPr/>
          <p:nvPr/>
        </p:nvSpPr>
        <p:spPr>
          <a:xfrm>
            <a:off x="7498080" y="141732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FBEBC9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119" name="Text 116"/>
          <p:cNvSpPr txBox="1"/>
          <p:nvPr/>
        </p:nvSpPr>
        <p:spPr>
          <a:xfrm>
            <a:off x="7498080" y="14173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i−1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i+1</a:t>
            </a:r>
            <a:endParaRPr lang="en-US" sz="1050" dirty="0"/>
          </a:p>
        </p:txBody>
      </p:sp>
      <p:sp>
        <p:nvSpPr>
          <p:cNvPr id="120" name="Shape 117"/>
          <p:cNvSpPr/>
          <p:nvPr/>
        </p:nvSpPr>
        <p:spPr>
          <a:xfrm>
            <a:off x="8183880" y="2075688"/>
            <a:ext cx="91" cy="16459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21" name="Shape 118"/>
          <p:cNvSpPr/>
          <p:nvPr/>
        </p:nvSpPr>
        <p:spPr>
          <a:xfrm>
            <a:off x="7498080" y="2258568"/>
            <a:ext cx="13716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7516368" y="225856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(s) = </a:t>
            </a:r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·Δ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τ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(e) = </a:t>
            </a:r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·Δ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τ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950" dirty="0"/>
          </a:p>
        </p:txBody>
      </p:sp>
      <p:sp>
        <p:nvSpPr>
          <p:cNvPr id="123" name="Text 120"/>
          <p:cNvSpPr txBox="1"/>
          <p:nvPr/>
        </p:nvSpPr>
        <p:spPr>
          <a:xfrm>
            <a:off x="6217920" y="33101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τ</a:t>
            </a:r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readout of the conditioner's enter / leave cue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6446520" y="4069080"/>
            <a:ext cx="2212848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125" name="Shape 122"/>
          <p:cNvSpPr/>
          <p:nvPr/>
        </p:nvSpPr>
        <p:spPr>
          <a:xfrm>
            <a:off x="6446520" y="3745650"/>
            <a:ext cx="2212848" cy="445045"/>
          </a:xfrm>
          <a:custGeom>
            <a:avLst/>
            <a:gdLst/>
            <a:ahLst/>
            <a:cxnLst/>
            <a:rect l="l" t="t" r="r" b="b"/>
            <a:pathLst>
              <a:path w="2212848" h="445045">
                <a:moveTo>
                  <a:pt x="0" y="323430"/>
                </a:moveTo>
                <a:lnTo>
                  <a:pt x="27661" y="323430"/>
                </a:lnTo>
                <a:lnTo>
                  <a:pt x="55321" y="323430"/>
                </a:lnTo>
                <a:lnTo>
                  <a:pt x="82982" y="323430"/>
                </a:lnTo>
                <a:lnTo>
                  <a:pt x="110642" y="323430"/>
                </a:lnTo>
                <a:lnTo>
                  <a:pt x="138303" y="323430"/>
                </a:lnTo>
                <a:lnTo>
                  <a:pt x="165964" y="323430"/>
                </a:lnTo>
                <a:lnTo>
                  <a:pt x="193624" y="323430"/>
                </a:lnTo>
                <a:lnTo>
                  <a:pt x="221285" y="323430"/>
                </a:lnTo>
                <a:lnTo>
                  <a:pt x="248945" y="323430"/>
                </a:lnTo>
                <a:lnTo>
                  <a:pt x="276606" y="323430"/>
                </a:lnTo>
                <a:lnTo>
                  <a:pt x="304267" y="323430"/>
                </a:lnTo>
                <a:lnTo>
                  <a:pt x="331927" y="323430"/>
                </a:lnTo>
                <a:lnTo>
                  <a:pt x="359588" y="323430"/>
                </a:lnTo>
                <a:lnTo>
                  <a:pt x="387248" y="323430"/>
                </a:lnTo>
                <a:lnTo>
                  <a:pt x="414909" y="323430"/>
                </a:lnTo>
                <a:lnTo>
                  <a:pt x="442570" y="323430"/>
                </a:lnTo>
                <a:lnTo>
                  <a:pt x="470230" y="323426"/>
                </a:lnTo>
                <a:lnTo>
                  <a:pt x="497891" y="323389"/>
                </a:lnTo>
                <a:lnTo>
                  <a:pt x="525551" y="323124"/>
                </a:lnTo>
                <a:lnTo>
                  <a:pt x="553212" y="321653"/>
                </a:lnTo>
                <a:lnTo>
                  <a:pt x="580873" y="315425"/>
                </a:lnTo>
                <a:lnTo>
                  <a:pt x="608533" y="295492"/>
                </a:lnTo>
                <a:lnTo>
                  <a:pt x="636194" y="247872"/>
                </a:lnTo>
                <a:lnTo>
                  <a:pt x="663854" y="165098"/>
                </a:lnTo>
                <a:lnTo>
                  <a:pt x="691515" y="66349"/>
                </a:lnTo>
                <a:lnTo>
                  <a:pt x="719176" y="0"/>
                </a:lnTo>
                <a:lnTo>
                  <a:pt x="746836" y="8146"/>
                </a:lnTo>
                <a:lnTo>
                  <a:pt x="774497" y="85290"/>
                </a:lnTo>
                <a:lnTo>
                  <a:pt x="802157" y="184058"/>
                </a:lnTo>
                <a:lnTo>
                  <a:pt x="829818" y="260228"/>
                </a:lnTo>
                <a:lnTo>
                  <a:pt x="857479" y="301223"/>
                </a:lnTo>
                <a:lnTo>
                  <a:pt x="885139" y="317384"/>
                </a:lnTo>
                <a:lnTo>
                  <a:pt x="912800" y="322155"/>
                </a:lnTo>
                <a:lnTo>
                  <a:pt x="940460" y="323222"/>
                </a:lnTo>
                <a:lnTo>
                  <a:pt x="968121" y="323404"/>
                </a:lnTo>
                <a:lnTo>
                  <a:pt x="995782" y="323427"/>
                </a:lnTo>
                <a:lnTo>
                  <a:pt x="1023442" y="323430"/>
                </a:lnTo>
                <a:lnTo>
                  <a:pt x="1051103" y="323430"/>
                </a:lnTo>
                <a:lnTo>
                  <a:pt x="1078763" y="323430"/>
                </a:lnTo>
                <a:lnTo>
                  <a:pt x="1106424" y="323430"/>
                </a:lnTo>
                <a:lnTo>
                  <a:pt x="1134085" y="323430"/>
                </a:lnTo>
                <a:lnTo>
                  <a:pt x="1161745" y="323430"/>
                </a:lnTo>
                <a:lnTo>
                  <a:pt x="1189406" y="323430"/>
                </a:lnTo>
                <a:lnTo>
                  <a:pt x="1217066" y="323430"/>
                </a:lnTo>
                <a:lnTo>
                  <a:pt x="1244727" y="323430"/>
                </a:lnTo>
                <a:lnTo>
                  <a:pt x="1272388" y="323430"/>
                </a:lnTo>
                <a:lnTo>
                  <a:pt x="1300048" y="323434"/>
                </a:lnTo>
                <a:lnTo>
                  <a:pt x="1327709" y="323465"/>
                </a:lnTo>
                <a:lnTo>
                  <a:pt x="1355369" y="323665"/>
                </a:lnTo>
                <a:lnTo>
                  <a:pt x="1383030" y="324662"/>
                </a:lnTo>
                <a:lnTo>
                  <a:pt x="1410691" y="328443"/>
                </a:lnTo>
                <a:lnTo>
                  <a:pt x="1438351" y="339231"/>
                </a:lnTo>
                <a:lnTo>
                  <a:pt x="1466012" y="362016"/>
                </a:lnTo>
                <a:lnTo>
                  <a:pt x="1493672" y="396444"/>
                </a:lnTo>
                <a:lnTo>
                  <a:pt x="1521333" y="430482"/>
                </a:lnTo>
                <a:lnTo>
                  <a:pt x="1548994" y="445045"/>
                </a:lnTo>
                <a:lnTo>
                  <a:pt x="1576654" y="430482"/>
                </a:lnTo>
                <a:lnTo>
                  <a:pt x="1604315" y="396444"/>
                </a:lnTo>
                <a:lnTo>
                  <a:pt x="1631975" y="362016"/>
                </a:lnTo>
                <a:lnTo>
                  <a:pt x="1659636" y="339231"/>
                </a:lnTo>
                <a:lnTo>
                  <a:pt x="1687297" y="328443"/>
                </a:lnTo>
                <a:lnTo>
                  <a:pt x="1714957" y="324662"/>
                </a:lnTo>
                <a:lnTo>
                  <a:pt x="1742618" y="323665"/>
                </a:lnTo>
                <a:lnTo>
                  <a:pt x="1770278" y="323465"/>
                </a:lnTo>
                <a:lnTo>
                  <a:pt x="1797939" y="323434"/>
                </a:lnTo>
                <a:lnTo>
                  <a:pt x="1825600" y="323430"/>
                </a:lnTo>
                <a:lnTo>
                  <a:pt x="1853260" y="323430"/>
                </a:lnTo>
                <a:lnTo>
                  <a:pt x="1880921" y="323430"/>
                </a:lnTo>
                <a:lnTo>
                  <a:pt x="1908581" y="323430"/>
                </a:lnTo>
                <a:lnTo>
                  <a:pt x="1936242" y="323430"/>
                </a:lnTo>
                <a:lnTo>
                  <a:pt x="1963903" y="323430"/>
                </a:lnTo>
                <a:lnTo>
                  <a:pt x="1991563" y="323430"/>
                </a:lnTo>
                <a:lnTo>
                  <a:pt x="2019224" y="323430"/>
                </a:lnTo>
                <a:lnTo>
                  <a:pt x="2046884" y="323430"/>
                </a:lnTo>
                <a:lnTo>
                  <a:pt x="2074545" y="323430"/>
                </a:lnTo>
                <a:lnTo>
                  <a:pt x="2102206" y="323430"/>
                </a:lnTo>
                <a:lnTo>
                  <a:pt x="2129866" y="323430"/>
                </a:lnTo>
                <a:lnTo>
                  <a:pt x="2157527" y="323430"/>
                </a:lnTo>
                <a:lnTo>
                  <a:pt x="2185187" y="323430"/>
                </a:lnTo>
                <a:lnTo>
                  <a:pt x="2212848" y="32343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D08A1E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6446520" y="3738982"/>
            <a:ext cx="2212848" cy="449257"/>
          </a:xfrm>
          <a:custGeom>
            <a:avLst/>
            <a:gdLst/>
            <a:ahLst/>
            <a:cxnLst/>
            <a:rect l="l" t="t" r="r" b="b"/>
            <a:pathLst>
              <a:path w="2212848" h="449257">
                <a:moveTo>
                  <a:pt x="0" y="330098"/>
                </a:moveTo>
                <a:lnTo>
                  <a:pt x="27661" y="330098"/>
                </a:lnTo>
                <a:lnTo>
                  <a:pt x="55321" y="330098"/>
                </a:lnTo>
                <a:lnTo>
                  <a:pt x="82982" y="330098"/>
                </a:lnTo>
                <a:lnTo>
                  <a:pt x="110642" y="330098"/>
                </a:lnTo>
                <a:lnTo>
                  <a:pt x="138303" y="330098"/>
                </a:lnTo>
                <a:lnTo>
                  <a:pt x="165964" y="330098"/>
                </a:lnTo>
                <a:lnTo>
                  <a:pt x="193624" y="330098"/>
                </a:lnTo>
                <a:lnTo>
                  <a:pt x="221285" y="330098"/>
                </a:lnTo>
                <a:lnTo>
                  <a:pt x="248945" y="330098"/>
                </a:lnTo>
                <a:lnTo>
                  <a:pt x="276606" y="330098"/>
                </a:lnTo>
                <a:lnTo>
                  <a:pt x="304267" y="330098"/>
                </a:lnTo>
                <a:lnTo>
                  <a:pt x="331927" y="330098"/>
                </a:lnTo>
                <a:lnTo>
                  <a:pt x="359588" y="330098"/>
                </a:lnTo>
                <a:lnTo>
                  <a:pt x="387248" y="330098"/>
                </a:lnTo>
                <a:lnTo>
                  <a:pt x="414909" y="330098"/>
                </a:lnTo>
                <a:lnTo>
                  <a:pt x="442570" y="330099"/>
                </a:lnTo>
                <a:lnTo>
                  <a:pt x="470230" y="330100"/>
                </a:lnTo>
                <a:lnTo>
                  <a:pt x="497891" y="330113"/>
                </a:lnTo>
                <a:lnTo>
                  <a:pt x="525551" y="330211"/>
                </a:lnTo>
                <a:lnTo>
                  <a:pt x="553212" y="330753"/>
                </a:lnTo>
                <a:lnTo>
                  <a:pt x="580873" y="333047"/>
                </a:lnTo>
                <a:lnTo>
                  <a:pt x="608533" y="340392"/>
                </a:lnTo>
                <a:lnTo>
                  <a:pt x="636194" y="357936"/>
                </a:lnTo>
                <a:lnTo>
                  <a:pt x="663854" y="388431"/>
                </a:lnTo>
                <a:lnTo>
                  <a:pt x="691515" y="424812"/>
                </a:lnTo>
                <a:lnTo>
                  <a:pt x="719176" y="449257"/>
                </a:lnTo>
                <a:lnTo>
                  <a:pt x="746836" y="446256"/>
                </a:lnTo>
                <a:lnTo>
                  <a:pt x="774497" y="417834"/>
                </a:lnTo>
                <a:lnTo>
                  <a:pt x="802157" y="381446"/>
                </a:lnTo>
                <a:lnTo>
                  <a:pt x="829818" y="353383"/>
                </a:lnTo>
                <a:lnTo>
                  <a:pt x="857479" y="338280"/>
                </a:lnTo>
                <a:lnTo>
                  <a:pt x="885139" y="332326"/>
                </a:lnTo>
                <a:lnTo>
                  <a:pt x="912800" y="330568"/>
                </a:lnTo>
                <a:lnTo>
                  <a:pt x="940460" y="330175"/>
                </a:lnTo>
                <a:lnTo>
                  <a:pt x="968121" y="330108"/>
                </a:lnTo>
                <a:lnTo>
                  <a:pt x="995782" y="330099"/>
                </a:lnTo>
                <a:lnTo>
                  <a:pt x="1023442" y="330098"/>
                </a:lnTo>
                <a:lnTo>
                  <a:pt x="1051103" y="330098"/>
                </a:lnTo>
                <a:lnTo>
                  <a:pt x="1078763" y="330098"/>
                </a:lnTo>
                <a:lnTo>
                  <a:pt x="1106424" y="330098"/>
                </a:lnTo>
                <a:lnTo>
                  <a:pt x="1134085" y="330098"/>
                </a:lnTo>
                <a:lnTo>
                  <a:pt x="1161745" y="330098"/>
                </a:lnTo>
                <a:lnTo>
                  <a:pt x="1189406" y="330098"/>
                </a:lnTo>
                <a:lnTo>
                  <a:pt x="1217066" y="330098"/>
                </a:lnTo>
                <a:lnTo>
                  <a:pt x="1244727" y="330098"/>
                </a:lnTo>
                <a:lnTo>
                  <a:pt x="1272388" y="330097"/>
                </a:lnTo>
                <a:lnTo>
                  <a:pt x="1300048" y="330088"/>
                </a:lnTo>
                <a:lnTo>
                  <a:pt x="1327709" y="330004"/>
                </a:lnTo>
                <a:lnTo>
                  <a:pt x="1355369" y="329461"/>
                </a:lnTo>
                <a:lnTo>
                  <a:pt x="1383030" y="326753"/>
                </a:lnTo>
                <a:lnTo>
                  <a:pt x="1410691" y="316491"/>
                </a:lnTo>
                <a:lnTo>
                  <a:pt x="1438351" y="287211"/>
                </a:lnTo>
                <a:lnTo>
                  <a:pt x="1466012" y="225364"/>
                </a:lnTo>
                <a:lnTo>
                  <a:pt x="1493672" y="131916"/>
                </a:lnTo>
                <a:lnTo>
                  <a:pt x="1521333" y="39530"/>
                </a:lnTo>
                <a:lnTo>
                  <a:pt x="1548994" y="0"/>
                </a:lnTo>
                <a:lnTo>
                  <a:pt x="1576654" y="39530"/>
                </a:lnTo>
                <a:lnTo>
                  <a:pt x="1604315" y="131916"/>
                </a:lnTo>
                <a:lnTo>
                  <a:pt x="1631975" y="225364"/>
                </a:lnTo>
                <a:lnTo>
                  <a:pt x="1659636" y="287211"/>
                </a:lnTo>
                <a:lnTo>
                  <a:pt x="1687297" y="316491"/>
                </a:lnTo>
                <a:lnTo>
                  <a:pt x="1714957" y="326753"/>
                </a:lnTo>
                <a:lnTo>
                  <a:pt x="1742618" y="329461"/>
                </a:lnTo>
                <a:lnTo>
                  <a:pt x="1770278" y="330004"/>
                </a:lnTo>
                <a:lnTo>
                  <a:pt x="1797939" y="330088"/>
                </a:lnTo>
                <a:lnTo>
                  <a:pt x="1825600" y="330097"/>
                </a:lnTo>
                <a:lnTo>
                  <a:pt x="1853260" y="330098"/>
                </a:lnTo>
                <a:lnTo>
                  <a:pt x="1880921" y="330098"/>
                </a:lnTo>
                <a:lnTo>
                  <a:pt x="1908581" y="330098"/>
                </a:lnTo>
                <a:lnTo>
                  <a:pt x="1936242" y="330098"/>
                </a:lnTo>
                <a:lnTo>
                  <a:pt x="1963903" y="330098"/>
                </a:lnTo>
                <a:lnTo>
                  <a:pt x="1991563" y="330098"/>
                </a:lnTo>
                <a:lnTo>
                  <a:pt x="2019224" y="330098"/>
                </a:lnTo>
                <a:lnTo>
                  <a:pt x="2046884" y="330098"/>
                </a:lnTo>
                <a:lnTo>
                  <a:pt x="2074545" y="330098"/>
                </a:lnTo>
                <a:lnTo>
                  <a:pt x="2102206" y="330098"/>
                </a:lnTo>
                <a:lnTo>
                  <a:pt x="2129866" y="330098"/>
                </a:lnTo>
                <a:lnTo>
                  <a:pt x="2157527" y="330098"/>
                </a:lnTo>
                <a:lnTo>
                  <a:pt x="2185187" y="330098"/>
                </a:lnTo>
                <a:lnTo>
                  <a:pt x="2212848" y="330098"/>
                </a:lnTo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D08A1E"/>
            </a:solidFill>
            <a:prstDash val="dash"/>
          </a:ln>
        </p:spPr>
      </p:sp>
      <p:sp>
        <p:nvSpPr>
          <p:cNvPr id="127" name="Text 124"/>
          <p:cNvSpPr txBox="1"/>
          <p:nvPr/>
        </p:nvSpPr>
        <p:spPr>
          <a:xfrm>
            <a:off x="6765280" y="36484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050" dirty="0"/>
          </a:p>
        </p:txBody>
      </p:sp>
      <p:sp>
        <p:nvSpPr>
          <p:cNvPr id="128" name="Text 125"/>
          <p:cNvSpPr txBox="1"/>
          <p:nvPr/>
        </p:nvSpPr>
        <p:spPr>
          <a:xfrm>
            <a:off x="8068666" y="36484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buNone/>
            </a:pPr>
            <a:r>
              <a:rPr lang="en-US" sz="105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050" dirty="0"/>
          </a:p>
        </p:txBody>
      </p:sp>
      <p:sp>
        <p:nvSpPr>
          <p:cNvPr id="129" name="Text 126"/>
          <p:cNvSpPr txBox="1"/>
          <p:nvPr/>
        </p:nvSpPr>
        <p:spPr>
          <a:xfrm>
            <a:off x="8293608" y="4114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130" name="Text 127"/>
          <p:cNvSpPr txBox="1"/>
          <p:nvPr/>
        </p:nvSpPr>
        <p:spPr>
          <a:xfrm>
            <a:off x="6217920" y="45262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½(T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(s) + T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(e)) on the (s, e) grid</a:t>
            </a:r>
            <a:endParaRPr lang="en-US" sz="1050" dirty="0"/>
          </a:p>
        </p:txBody>
      </p:sp>
      <p:sp>
        <p:nvSpPr>
          <p:cNvPr id="131" name="Text 128"/>
          <p:cNvSpPr txBox="1"/>
          <p:nvPr/>
        </p:nvSpPr>
        <p:spPr>
          <a:xfrm>
            <a:off x="6217920" y="47365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00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00" i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(64-d) also feeds the HD head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9354312" y="566928"/>
            <a:ext cx="91440" cy="91440"/>
          </a:xfrm>
          <a:prstGeom prst="rect">
            <a:avLst/>
          </a:prstGeom>
          <a:solidFill>
            <a:srgbClr val="D2DB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9445752" y="566928"/>
            <a:ext cx="91440" cy="91440"/>
          </a:xfrm>
          <a:prstGeom prst="rect">
            <a:avLst/>
          </a:prstGeom>
          <a:solidFill>
            <a:srgbClr val="B1C1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9537192" y="566928"/>
            <a:ext cx="91440" cy="91440"/>
          </a:xfrm>
          <a:prstGeom prst="rect">
            <a:avLst/>
          </a:prstGeom>
          <a:solidFill>
            <a:srgbClr val="9AAF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9628632" y="566928"/>
            <a:ext cx="91440" cy="91440"/>
          </a:xfrm>
          <a:prstGeom prst="rect">
            <a:avLst/>
          </a:prstGeom>
          <a:solidFill>
            <a:srgbClr val="9AAF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9720072" y="566928"/>
            <a:ext cx="91440" cy="91440"/>
          </a:xfrm>
          <a:prstGeom prst="rect">
            <a:avLst/>
          </a:prstGeom>
          <a:solidFill>
            <a:srgbClr val="A5B7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9811512" y="566928"/>
            <a:ext cx="91440" cy="91440"/>
          </a:xfrm>
          <a:prstGeom prst="rect">
            <a:avLst/>
          </a:prstGeom>
          <a:solidFill>
            <a:srgbClr val="B5C4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9354312" y="65836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9445752" y="658368"/>
            <a:ext cx="91440" cy="91440"/>
          </a:xfrm>
          <a:prstGeom prst="rect">
            <a:avLst/>
          </a:prstGeom>
          <a:solidFill>
            <a:srgbClr val="ACBD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9537192" y="658368"/>
            <a:ext cx="91440" cy="91440"/>
          </a:xfrm>
          <a:prstGeom prst="rect">
            <a:avLst/>
          </a:prstGeom>
          <a:solidFill>
            <a:srgbClr val="A7B9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9628632" y="658368"/>
            <a:ext cx="91440" cy="91440"/>
          </a:xfrm>
          <a:prstGeom prst="rect">
            <a:avLst/>
          </a:prstGeom>
          <a:solidFill>
            <a:srgbClr val="A5B7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9720072" y="658368"/>
            <a:ext cx="91440" cy="91440"/>
          </a:xfrm>
          <a:prstGeom prst="rect">
            <a:avLst/>
          </a:prstGeom>
          <a:solidFill>
            <a:srgbClr val="9AAE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9811512" y="658368"/>
            <a:ext cx="91440" cy="91440"/>
          </a:xfrm>
          <a:prstGeom prst="rect">
            <a:avLst/>
          </a:prstGeom>
          <a:solidFill>
            <a:srgbClr val="98AD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9354312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9445752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9537192" y="749808"/>
            <a:ext cx="91440" cy="91440"/>
          </a:xfrm>
          <a:prstGeom prst="rect">
            <a:avLst/>
          </a:prstGeom>
          <a:solidFill>
            <a:srgbClr val="C8D3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9628632" y="749808"/>
            <a:ext cx="91440" cy="91440"/>
          </a:xfrm>
          <a:prstGeom prst="rect">
            <a:avLst/>
          </a:prstGeom>
          <a:solidFill>
            <a:srgbClr val="AFC0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9720072" y="749808"/>
            <a:ext cx="91440" cy="91440"/>
          </a:xfrm>
          <a:prstGeom prst="rect">
            <a:avLst/>
          </a:prstGeom>
          <a:solidFill>
            <a:srgbClr val="8AA2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9811512" y="749808"/>
            <a:ext cx="91440" cy="91440"/>
          </a:xfrm>
          <a:prstGeom prst="rect">
            <a:avLst/>
          </a:prstGeom>
          <a:solidFill>
            <a:srgbClr val="829C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9354312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9445752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9537192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628632" y="841248"/>
            <a:ext cx="91440" cy="91440"/>
          </a:xfrm>
          <a:prstGeom prst="rect">
            <a:avLst/>
          </a:prstGeom>
          <a:solidFill>
            <a:srgbClr val="BBC9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720072" y="841248"/>
            <a:ext cx="91440" cy="91440"/>
          </a:xfrm>
          <a:prstGeom prst="rect">
            <a:avLst/>
          </a:prstGeom>
          <a:solidFill>
            <a:srgbClr val="8DA4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9811512" y="841248"/>
            <a:ext cx="91440" cy="91440"/>
          </a:xfrm>
          <a:prstGeom prst="rect">
            <a:avLst/>
          </a:prstGeom>
          <a:solidFill>
            <a:srgbClr val="8FA6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9354312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9445752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537192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628632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9720072" y="932688"/>
            <a:ext cx="91440" cy="91440"/>
          </a:xfrm>
          <a:prstGeom prst="rect">
            <a:avLst/>
          </a:prstGeom>
          <a:solidFill>
            <a:srgbClr val="A0B4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9811512" y="932688"/>
            <a:ext cx="91440" cy="91440"/>
          </a:xfrm>
          <a:prstGeom prst="rect">
            <a:avLst/>
          </a:prstGeom>
          <a:solidFill>
            <a:srgbClr val="B5C4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935431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944575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953719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62863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72007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811512" y="1024128"/>
            <a:ext cx="91440" cy="91440"/>
          </a:xfrm>
          <a:prstGeom prst="rect">
            <a:avLst/>
          </a:prstGeom>
          <a:solidFill>
            <a:srgbClr val="E1E7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9354312" y="566928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9262872" y="274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C̃</a:t>
            </a:r>
            <a:endParaRPr lang="en-US" sz="1150" dirty="0"/>
          </a:p>
        </p:txBody>
      </p:sp>
      <p:sp>
        <p:nvSpPr>
          <p:cNvPr id="170" name="Shape 167"/>
          <p:cNvSpPr/>
          <p:nvPr/>
        </p:nvSpPr>
        <p:spPr>
          <a:xfrm>
            <a:off x="9628632" y="1133856"/>
            <a:ext cx="923544" cy="237744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  <a:headEnd type="none"/>
            <a:tailEnd type="none"/>
          </a:ln>
        </p:spPr>
      </p:sp>
      <p:sp>
        <p:nvSpPr>
          <p:cNvPr id="171" name="Shape 168"/>
          <p:cNvSpPr/>
          <p:nvPr/>
        </p:nvSpPr>
        <p:spPr>
          <a:xfrm>
            <a:off x="10012680" y="566928"/>
            <a:ext cx="91440" cy="91440"/>
          </a:xfrm>
          <a:prstGeom prst="rect">
            <a:avLst/>
          </a:prstGeom>
          <a:solidFill>
            <a:srgbClr val="F4D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0104120" y="566928"/>
            <a:ext cx="91440" cy="91440"/>
          </a:xfrm>
          <a:prstGeom prst="rect">
            <a:avLst/>
          </a:prstGeom>
          <a:solidFill>
            <a:srgbClr val="F4D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10195560" y="566928"/>
            <a:ext cx="91440" cy="91440"/>
          </a:xfrm>
          <a:prstGeom prst="rect">
            <a:avLst/>
          </a:prstGeom>
          <a:solidFill>
            <a:srgbClr val="ECBE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10287000" y="566928"/>
            <a:ext cx="91440" cy="91440"/>
          </a:xfrm>
          <a:prstGeom prst="rect">
            <a:avLst/>
          </a:prstGeom>
          <a:solidFill>
            <a:srgbClr val="E39F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0378440" y="566928"/>
            <a:ext cx="91440" cy="91440"/>
          </a:xfrm>
          <a:prstGeom prst="rect">
            <a:avLst/>
          </a:prstGeom>
          <a:solidFill>
            <a:srgbClr val="E4A39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10469880" y="566928"/>
            <a:ext cx="91440" cy="91440"/>
          </a:xfrm>
          <a:prstGeom prst="rect">
            <a:avLst/>
          </a:prstGeom>
          <a:solidFill>
            <a:srgbClr val="E7AC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10012680" y="65836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10104120" y="658368"/>
            <a:ext cx="91440" cy="91440"/>
          </a:xfrm>
          <a:prstGeom prst="rect">
            <a:avLst/>
          </a:prstGeom>
          <a:solidFill>
            <a:srgbClr val="F4D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10195560" y="658368"/>
            <a:ext cx="91440" cy="91440"/>
          </a:xfrm>
          <a:prstGeom prst="rect">
            <a:avLst/>
          </a:prstGeom>
          <a:solidFill>
            <a:srgbClr val="E9B5B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10287000" y="658368"/>
            <a:ext cx="91440" cy="91440"/>
          </a:xfrm>
          <a:prstGeom prst="rect">
            <a:avLst/>
          </a:prstGeom>
          <a:solidFill>
            <a:srgbClr val="DD8C8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0378440" y="658368"/>
            <a:ext cx="91440" cy="91440"/>
          </a:xfrm>
          <a:prstGeom prst="rect">
            <a:avLst/>
          </a:prstGeom>
          <a:solidFill>
            <a:srgbClr val="E095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0469880" y="658368"/>
            <a:ext cx="91440" cy="91440"/>
          </a:xfrm>
          <a:prstGeom prst="rect">
            <a:avLst/>
          </a:prstGeom>
          <a:solidFill>
            <a:srgbClr val="E4A39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10012680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10104120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0195560" y="749808"/>
            <a:ext cx="91440" cy="91440"/>
          </a:xfrm>
          <a:prstGeom prst="rect">
            <a:avLst/>
          </a:prstGeom>
          <a:solidFill>
            <a:srgbClr val="E4A5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10287000" y="749808"/>
            <a:ext cx="91440" cy="91440"/>
          </a:xfrm>
          <a:prstGeom prst="rect">
            <a:avLst/>
          </a:prstGeom>
          <a:solidFill>
            <a:srgbClr val="D3696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10378440" y="749808"/>
            <a:ext cx="91440" cy="91440"/>
          </a:xfrm>
          <a:prstGeom prst="rect">
            <a:avLst/>
          </a:prstGeom>
          <a:solidFill>
            <a:srgbClr val="D97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10469880" y="749808"/>
            <a:ext cx="91440" cy="91440"/>
          </a:xfrm>
          <a:prstGeom prst="rect">
            <a:avLst/>
          </a:prstGeom>
          <a:solidFill>
            <a:srgbClr val="E095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10012680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10104120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10195560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10287000" y="841248"/>
            <a:ext cx="91440" cy="91440"/>
          </a:xfrm>
          <a:prstGeom prst="rect">
            <a:avLst/>
          </a:prstGeom>
          <a:solidFill>
            <a:srgbClr val="E29C9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10378440" y="841248"/>
            <a:ext cx="91440" cy="91440"/>
          </a:xfrm>
          <a:prstGeom prst="rect">
            <a:avLst/>
          </a:prstGeom>
          <a:solidFill>
            <a:srgbClr val="E4A4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10469880" y="841248"/>
            <a:ext cx="91440" cy="91440"/>
          </a:xfrm>
          <a:prstGeom prst="rect">
            <a:avLst/>
          </a:prstGeom>
          <a:solidFill>
            <a:srgbClr val="E8B2A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10012680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10104120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10195560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10287000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10378440" y="932688"/>
            <a:ext cx="91440" cy="91440"/>
          </a:xfrm>
          <a:prstGeom prst="rect">
            <a:avLst/>
          </a:prstGeom>
          <a:solidFill>
            <a:srgbClr val="F1D1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10469880" y="932688"/>
            <a:ext cx="91440" cy="91440"/>
          </a:xfrm>
          <a:prstGeom prst="rect">
            <a:avLst/>
          </a:prstGeom>
          <a:solidFill>
            <a:srgbClr val="F2D3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1001268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1010412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1019556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028700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037844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10469880" y="1024128"/>
            <a:ext cx="91440" cy="91440"/>
          </a:xfrm>
          <a:prstGeom prst="rect">
            <a:avLst/>
          </a:prstGeom>
          <a:solidFill>
            <a:srgbClr val="F4D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10012680" y="566928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08" name="Text 205"/>
          <p:cNvSpPr txBox="1"/>
          <p:nvPr/>
        </p:nvSpPr>
        <p:spPr>
          <a:xfrm>
            <a:off x="9921240" y="274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150" dirty="0"/>
          </a:p>
        </p:txBody>
      </p:sp>
      <p:sp>
        <p:nvSpPr>
          <p:cNvPr id="209" name="Shape 206"/>
          <p:cNvSpPr/>
          <p:nvPr/>
        </p:nvSpPr>
        <p:spPr>
          <a:xfrm>
            <a:off x="10287000" y="1133856"/>
            <a:ext cx="265176" cy="237744"/>
          </a:xfrm>
          <a:prstGeom prst="line">
            <a:avLst/>
          </a:prstGeom>
          <a:noFill/>
          <a:ln w="12700">
            <a:solidFill>
              <a:srgbClr val="C8453C"/>
            </a:solidFill>
            <a:prstDash val="solid"/>
            <a:headEnd type="none"/>
            <a:tailEnd type="none"/>
          </a:ln>
        </p:spPr>
      </p:sp>
      <p:sp>
        <p:nvSpPr>
          <p:cNvPr id="210" name="Shape 207"/>
          <p:cNvSpPr/>
          <p:nvPr/>
        </p:nvSpPr>
        <p:spPr>
          <a:xfrm>
            <a:off x="10671048" y="566928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10762488" y="566928"/>
            <a:ext cx="91440" cy="91440"/>
          </a:xfrm>
          <a:prstGeom prst="rect">
            <a:avLst/>
          </a:prstGeom>
          <a:solidFill>
            <a:srgbClr val="E3EF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10853928" y="566928"/>
            <a:ext cx="91440" cy="91440"/>
          </a:xfrm>
          <a:prstGeom prst="rect">
            <a:avLst/>
          </a:prstGeom>
          <a:solidFill>
            <a:srgbClr val="ADD2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10945368" y="566928"/>
            <a:ext cx="91440" cy="91440"/>
          </a:xfrm>
          <a:prstGeom prst="rect">
            <a:avLst/>
          </a:prstGeom>
          <a:solidFill>
            <a:srgbClr val="89BE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11036808" y="566928"/>
            <a:ext cx="91440" cy="91440"/>
          </a:xfrm>
          <a:prstGeom prst="rect">
            <a:avLst/>
          </a:prstGeom>
          <a:solidFill>
            <a:srgbClr val="75B2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11128248" y="566928"/>
            <a:ext cx="91440" cy="91440"/>
          </a:xfrm>
          <a:prstGeom prst="rect">
            <a:avLst/>
          </a:prstGeom>
          <a:solidFill>
            <a:srgbClr val="83BAB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10671048" y="65836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762488" y="658368"/>
            <a:ext cx="91440" cy="91440"/>
          </a:xfrm>
          <a:prstGeom prst="rect">
            <a:avLst/>
          </a:prstGeom>
          <a:solidFill>
            <a:srgbClr val="DFED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0853928" y="658368"/>
            <a:ext cx="91440" cy="91440"/>
          </a:xfrm>
          <a:prstGeom prst="rect">
            <a:avLst/>
          </a:prstGeom>
          <a:solidFill>
            <a:srgbClr val="A1CBC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0945368" y="658368"/>
            <a:ext cx="91440" cy="91440"/>
          </a:xfrm>
          <a:prstGeom prst="rect">
            <a:avLst/>
          </a:prstGeom>
          <a:solidFill>
            <a:srgbClr val="77B4A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11036808" y="658368"/>
            <a:ext cx="91440" cy="91440"/>
          </a:xfrm>
          <a:prstGeom prst="rect">
            <a:avLst/>
          </a:prstGeom>
          <a:solidFill>
            <a:srgbClr val="61A7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11128248" y="658368"/>
            <a:ext cx="91440" cy="91440"/>
          </a:xfrm>
          <a:prstGeom prst="rect">
            <a:avLst/>
          </a:prstGeom>
          <a:solidFill>
            <a:srgbClr val="75B2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0671048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0762488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0853928" y="749808"/>
            <a:ext cx="91440" cy="91440"/>
          </a:xfrm>
          <a:prstGeom prst="rect">
            <a:avLst/>
          </a:prstGeom>
          <a:solidFill>
            <a:srgbClr val="9EC9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10945368" y="749808"/>
            <a:ext cx="91440" cy="91440"/>
          </a:xfrm>
          <a:prstGeom prst="rect">
            <a:avLst/>
          </a:prstGeom>
          <a:solidFill>
            <a:srgbClr val="6CADA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1036808" y="749808"/>
            <a:ext cx="91440" cy="91440"/>
          </a:xfrm>
          <a:prstGeom prst="rect">
            <a:avLst/>
          </a:prstGeom>
          <a:solidFill>
            <a:srgbClr val="519F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11128248" y="749808"/>
            <a:ext cx="91440" cy="91440"/>
          </a:xfrm>
          <a:prstGeom prst="rect">
            <a:avLst/>
          </a:prstGeom>
          <a:solidFill>
            <a:srgbClr val="6CADA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10671048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10762488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10853928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10945368" y="841248"/>
            <a:ext cx="91440" cy="91440"/>
          </a:xfrm>
          <a:prstGeom prst="rect">
            <a:avLst/>
          </a:prstGeom>
          <a:solidFill>
            <a:srgbClr val="9EC9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11036808" y="841248"/>
            <a:ext cx="91440" cy="91440"/>
          </a:xfrm>
          <a:prstGeom prst="rect">
            <a:avLst/>
          </a:prstGeom>
          <a:solidFill>
            <a:srgbClr val="7AB5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11128248" y="841248"/>
            <a:ext cx="91440" cy="91440"/>
          </a:xfrm>
          <a:prstGeom prst="rect">
            <a:avLst/>
          </a:prstGeom>
          <a:solidFill>
            <a:srgbClr val="8EC0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10671048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10762488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10853928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10945368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11036808" y="932688"/>
            <a:ext cx="91440" cy="91440"/>
          </a:xfrm>
          <a:prstGeom prst="rect">
            <a:avLst/>
          </a:prstGeom>
          <a:solidFill>
            <a:srgbClr val="ADD2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11128248" y="932688"/>
            <a:ext cx="91440" cy="91440"/>
          </a:xfrm>
          <a:prstGeom prst="rect">
            <a:avLst/>
          </a:prstGeom>
          <a:solidFill>
            <a:srgbClr val="B9D8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1067104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076248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1085392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1094536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1103680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11128248" y="1024128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10671048" y="566928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47" name="Text 244"/>
          <p:cNvSpPr txBox="1"/>
          <p:nvPr/>
        </p:nvSpPr>
        <p:spPr>
          <a:xfrm>
            <a:off x="10579608" y="274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150" dirty="0"/>
          </a:p>
        </p:txBody>
      </p:sp>
      <p:sp>
        <p:nvSpPr>
          <p:cNvPr id="248" name="Shape 245"/>
          <p:cNvSpPr/>
          <p:nvPr/>
        </p:nvSpPr>
        <p:spPr>
          <a:xfrm flipH="1">
            <a:off x="10552176" y="1133856"/>
            <a:ext cx="393192" cy="237744"/>
          </a:xfrm>
          <a:prstGeom prst="line">
            <a:avLst/>
          </a:prstGeom>
          <a:noFill/>
          <a:ln w="12700">
            <a:solidFill>
              <a:srgbClr val="2E8B7A"/>
            </a:solidFill>
            <a:prstDash val="solid"/>
            <a:headEnd type="none"/>
            <a:tailEnd type="none"/>
          </a:ln>
        </p:spPr>
      </p:sp>
      <p:sp>
        <p:nvSpPr>
          <p:cNvPr id="249" name="Shape 246"/>
          <p:cNvSpPr/>
          <p:nvPr/>
        </p:nvSpPr>
        <p:spPr>
          <a:xfrm>
            <a:off x="11329416" y="566928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11420856" y="566928"/>
            <a:ext cx="91440" cy="91440"/>
          </a:xfrm>
          <a:prstGeom prst="rect">
            <a:avLst/>
          </a:prstGeom>
          <a:solidFill>
            <a:srgbClr val="FFFF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11512296" y="566928"/>
            <a:ext cx="91440" cy="91440"/>
          </a:xfrm>
          <a:prstGeom prst="rect">
            <a:avLst/>
          </a:prstGeom>
          <a:solidFill>
            <a:srgbClr val="FD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11603736" y="566928"/>
            <a:ext cx="91440" cy="91440"/>
          </a:xfrm>
          <a:prstGeom prst="rect">
            <a:avLst/>
          </a:prstGeom>
          <a:solidFill>
            <a:srgbClr val="EED4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11695176" y="566928"/>
            <a:ext cx="91440" cy="91440"/>
          </a:xfrm>
          <a:prstGeom prst="rect">
            <a:avLst/>
          </a:prstGeom>
          <a:solidFill>
            <a:srgbClr val="EED4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11786616" y="566928"/>
            <a:ext cx="91440" cy="91440"/>
          </a:xfrm>
          <a:prstGeom prst="rect">
            <a:avLst/>
          </a:prstGeom>
          <a:solidFill>
            <a:srgbClr val="FD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11329416" y="65836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11420856" y="658368"/>
            <a:ext cx="91440" cy="91440"/>
          </a:xfrm>
          <a:prstGeom prst="rect">
            <a:avLst/>
          </a:prstGeom>
          <a:solidFill>
            <a:srgbClr val="FAF2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11512296" y="658368"/>
            <a:ext cx="91440" cy="91440"/>
          </a:xfrm>
          <a:prstGeom prst="rect">
            <a:avLst/>
          </a:prstGeom>
          <a:solidFill>
            <a:srgbClr val="F8EE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11603736" y="658368"/>
            <a:ext cx="91440" cy="91440"/>
          </a:xfrm>
          <a:prstGeom prst="rect">
            <a:avLst/>
          </a:prstGeom>
          <a:solidFill>
            <a:srgbClr val="E8C7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11695176" y="658368"/>
            <a:ext cx="91440" cy="91440"/>
          </a:xfrm>
          <a:prstGeom prst="rect">
            <a:avLst/>
          </a:prstGeom>
          <a:solidFill>
            <a:srgbClr val="E8C7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1786616" y="658368"/>
            <a:ext cx="91440" cy="91440"/>
          </a:xfrm>
          <a:prstGeom prst="rect">
            <a:avLst/>
          </a:prstGeom>
          <a:solidFill>
            <a:srgbClr val="F8EE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11329416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11420856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11512296" y="749808"/>
            <a:ext cx="91440" cy="91440"/>
          </a:xfrm>
          <a:prstGeom prst="rect">
            <a:avLst/>
          </a:prstGeom>
          <a:solidFill>
            <a:srgbClr val="E6C2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11603736" y="749808"/>
            <a:ext cx="91440" cy="91440"/>
          </a:xfrm>
          <a:prstGeom prst="rect">
            <a:avLst/>
          </a:prstGeom>
          <a:solidFill>
            <a:srgbClr val="D79A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11695176" y="749808"/>
            <a:ext cx="91440" cy="91440"/>
          </a:xfrm>
          <a:prstGeom prst="rect">
            <a:avLst/>
          </a:prstGeom>
          <a:solidFill>
            <a:srgbClr val="D79A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11786616" y="749808"/>
            <a:ext cx="91440" cy="91440"/>
          </a:xfrm>
          <a:prstGeom prst="rect">
            <a:avLst/>
          </a:prstGeom>
          <a:solidFill>
            <a:srgbClr val="E6C2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11329416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11420856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1512296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11603736" y="841248"/>
            <a:ext cx="91440" cy="91440"/>
          </a:xfrm>
          <a:prstGeom prst="rect">
            <a:avLst/>
          </a:prstGeom>
          <a:solidFill>
            <a:srgbClr val="E5BF8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11695176" y="841248"/>
            <a:ext cx="91440" cy="91440"/>
          </a:xfrm>
          <a:prstGeom prst="rect">
            <a:avLst/>
          </a:prstGeom>
          <a:solidFill>
            <a:srgbClr val="E5BF8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11786616" y="841248"/>
            <a:ext cx="91440" cy="91440"/>
          </a:xfrm>
          <a:prstGeom prst="rect">
            <a:avLst/>
          </a:prstGeom>
          <a:solidFill>
            <a:srgbClr val="F5E6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11329416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11420856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11512296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11603736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11695176" y="932688"/>
            <a:ext cx="91440" cy="91440"/>
          </a:xfrm>
          <a:prstGeom prst="rect">
            <a:avLst/>
          </a:prstGeom>
          <a:solidFill>
            <a:srgbClr val="EDD3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11786616" y="932688"/>
            <a:ext cx="91440" cy="91440"/>
          </a:xfrm>
          <a:prstGeom prst="rect">
            <a:avLst/>
          </a:prstGeom>
          <a:solidFill>
            <a:srgbClr val="FDFBF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1132941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142085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1151229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1160373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169517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11786616" y="1024128"/>
            <a:ext cx="91440" cy="91440"/>
          </a:xfrm>
          <a:prstGeom prst="rect">
            <a:avLst/>
          </a:prstGeom>
          <a:solidFill>
            <a:srgbClr val="FE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11329416" y="566928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86" name="Text 283"/>
          <p:cNvSpPr txBox="1"/>
          <p:nvPr/>
        </p:nvSpPr>
        <p:spPr>
          <a:xfrm>
            <a:off x="11237976" y="274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½T</a:t>
            </a:r>
            <a:endParaRPr lang="en-US" sz="1150" dirty="0"/>
          </a:p>
        </p:txBody>
      </p:sp>
      <p:sp>
        <p:nvSpPr>
          <p:cNvPr id="287" name="Shape 284"/>
          <p:cNvSpPr/>
          <p:nvPr/>
        </p:nvSpPr>
        <p:spPr>
          <a:xfrm flipH="1">
            <a:off x="10552176" y="1133856"/>
            <a:ext cx="1051560" cy="237744"/>
          </a:xfrm>
          <a:prstGeom prst="line">
            <a:avLst/>
          </a:prstGeom>
          <a:noFill/>
          <a:ln w="12700">
            <a:solidFill>
              <a:srgbClr val="D08A1E"/>
            </a:solidFill>
            <a:prstDash val="solid"/>
            <a:headEnd type="none"/>
            <a:tailEnd type="none"/>
          </a:ln>
        </p:spPr>
      </p:sp>
      <p:sp>
        <p:nvSpPr>
          <p:cNvPr id="288" name="Shape 285"/>
          <p:cNvSpPr/>
          <p:nvPr/>
        </p:nvSpPr>
        <p:spPr>
          <a:xfrm>
            <a:off x="10424160" y="137160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10472806" y="1499616"/>
            <a:ext cx="15874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290" name="Shape 287"/>
          <p:cNvSpPr/>
          <p:nvPr/>
        </p:nvSpPr>
        <p:spPr>
          <a:xfrm>
            <a:off x="10552176" y="1420246"/>
            <a:ext cx="91" cy="15874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291" name="Shape 288"/>
          <p:cNvSpPr/>
          <p:nvPr/>
        </p:nvSpPr>
        <p:spPr>
          <a:xfrm>
            <a:off x="10552176" y="1627632"/>
            <a:ext cx="91" cy="15544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92" name="Shape 289"/>
          <p:cNvSpPr/>
          <p:nvPr/>
        </p:nvSpPr>
        <p:spPr>
          <a:xfrm>
            <a:off x="10113264" y="1810512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10222992" y="1810512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10332720" y="1810512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10442448" y="1810512"/>
            <a:ext cx="109728" cy="109728"/>
          </a:xfrm>
          <a:prstGeom prst="rect">
            <a:avLst/>
          </a:prstGeom>
          <a:solidFill>
            <a:srgbClr val="EAE9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10552176" y="1810512"/>
            <a:ext cx="109728" cy="109728"/>
          </a:xfrm>
          <a:prstGeom prst="rect">
            <a:avLst/>
          </a:prstGeom>
          <a:solidFill>
            <a:srgbClr val="D1CF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10661904" y="1810512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10771632" y="1810512"/>
            <a:ext cx="109728" cy="109728"/>
          </a:xfrm>
          <a:prstGeom prst="rect">
            <a:avLst/>
          </a:prstGeom>
          <a:solidFill>
            <a:srgbClr val="C0BC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10881360" y="1810512"/>
            <a:ext cx="109728" cy="109728"/>
          </a:xfrm>
          <a:prstGeom prst="rect">
            <a:avLst/>
          </a:prstGeom>
          <a:solidFill>
            <a:srgbClr val="CAC7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10113264" y="192024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10222992" y="1920240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10332720" y="1920240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10442448" y="1920240"/>
            <a:ext cx="109728" cy="109728"/>
          </a:xfrm>
          <a:prstGeom prst="rect">
            <a:avLst/>
          </a:prstGeom>
          <a:solidFill>
            <a:srgbClr val="E6E4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552176" y="1920240"/>
            <a:ext cx="109728" cy="109728"/>
          </a:xfrm>
          <a:prstGeom prst="rect">
            <a:avLst/>
          </a:prstGeom>
          <a:solidFill>
            <a:srgbClr val="C6C2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661904" y="1920240"/>
            <a:ext cx="109728" cy="109728"/>
          </a:xfrm>
          <a:prstGeom prst="rect">
            <a:avLst/>
          </a:prstGeom>
          <a:solidFill>
            <a:srgbClr val="9C96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771632" y="1920240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881360" y="1920240"/>
            <a:ext cx="109728" cy="109728"/>
          </a:xfrm>
          <a:prstGeom prst="rect">
            <a:avLst/>
          </a:prstGeom>
          <a:solidFill>
            <a:srgbClr val="C0BC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113264" y="202996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02996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332720" y="2029968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442448" y="2029968"/>
            <a:ext cx="109728" cy="109728"/>
          </a:xfrm>
          <a:prstGeom prst="rect">
            <a:avLst/>
          </a:prstGeom>
          <a:solidFill>
            <a:srgbClr val="DFDD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552176" y="2029968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661904" y="2029968"/>
            <a:ext cx="109728" cy="109728"/>
          </a:xfrm>
          <a:prstGeom prst="rect">
            <a:avLst/>
          </a:prstGeom>
          <a:solidFill>
            <a:srgbClr val="7870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771632" y="2029968"/>
            <a:ext cx="109728" cy="109728"/>
          </a:xfrm>
          <a:prstGeom prst="rect">
            <a:avLst/>
          </a:prstGeom>
          <a:solidFill>
            <a:srgbClr val="9C96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881360" y="2029968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113264" y="213969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213969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332720" y="213969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442448" y="2139696"/>
            <a:ext cx="109728" cy="109728"/>
          </a:xfrm>
          <a:prstGeom prst="rect">
            <a:avLst/>
          </a:prstGeom>
          <a:solidFill>
            <a:srgbClr val="D1CF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552176" y="2139696"/>
            <a:ext cx="109728" cy="109728"/>
          </a:xfrm>
          <a:prstGeom prst="rect">
            <a:avLst/>
          </a:prstGeom>
          <a:solidFill>
            <a:srgbClr val="8C85A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2139696"/>
            <a:ext cx="109728" cy="109728"/>
          </a:xfrm>
          <a:prstGeom prst="rect">
            <a:avLst/>
          </a:prstGeom>
          <a:solidFill>
            <a:srgbClr val="3B2F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771632" y="2139696"/>
            <a:ext cx="109728" cy="109728"/>
          </a:xfrm>
          <a:prstGeom prst="rect">
            <a:avLst/>
          </a:prstGeom>
          <a:solidFill>
            <a:srgbClr val="7870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881360" y="2139696"/>
            <a:ext cx="109728" cy="109728"/>
          </a:xfrm>
          <a:prstGeom prst="rect">
            <a:avLst/>
          </a:prstGeom>
          <a:solidFill>
            <a:srgbClr val="9C96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113264" y="22494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222992" y="22494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332720" y="22494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442448" y="22494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552176" y="2249424"/>
            <a:ext cx="109728" cy="109728"/>
          </a:xfrm>
          <a:prstGeom prst="rect">
            <a:avLst/>
          </a:prstGeom>
          <a:solidFill>
            <a:srgbClr val="D1CF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2249424"/>
            <a:ext cx="109728" cy="109728"/>
          </a:xfrm>
          <a:prstGeom prst="rect">
            <a:avLst/>
          </a:prstGeom>
          <a:solidFill>
            <a:srgbClr val="8C85A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771632" y="2249424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881360" y="2249424"/>
            <a:ext cx="109728" cy="109728"/>
          </a:xfrm>
          <a:prstGeom prst="rect">
            <a:avLst/>
          </a:prstGeom>
          <a:solidFill>
            <a:srgbClr val="C6C2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113264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222992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0332720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0442448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0552176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0661904" y="2359152"/>
            <a:ext cx="109728" cy="109728"/>
          </a:xfrm>
          <a:prstGeom prst="rect">
            <a:avLst/>
          </a:prstGeom>
          <a:solidFill>
            <a:srgbClr val="D1CF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0771632" y="2359152"/>
            <a:ext cx="109728" cy="109728"/>
          </a:xfrm>
          <a:prstGeom prst="rect">
            <a:avLst/>
          </a:prstGeom>
          <a:solidFill>
            <a:srgbClr val="DFDD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0881360" y="2359152"/>
            <a:ext cx="109728" cy="109728"/>
          </a:xfrm>
          <a:prstGeom prst="rect">
            <a:avLst/>
          </a:prstGeom>
          <a:solidFill>
            <a:srgbClr val="E6E4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0113264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0222992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0332720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0442448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0552176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0661904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0771632" y="2468880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0881360" y="2468880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0113264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0222992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0332720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0442448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0552176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0661904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0771632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0881360" y="2578608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0113264" y="1810512"/>
            <a:ext cx="877824" cy="87782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57" name="Text 354"/>
          <p:cNvSpPr txBox="1"/>
          <p:nvPr/>
        </p:nvSpPr>
        <p:spPr>
          <a:xfrm>
            <a:off x="1106424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F(s, e)</a:t>
            </a:r>
            <a:endParaRPr lang="en-US" sz="1150" dirty="0"/>
          </a:p>
        </p:txBody>
      </p:sp>
      <p:sp>
        <p:nvSpPr>
          <p:cNvPr id="358" name="Text 355"/>
          <p:cNvSpPr txBox="1"/>
          <p:nvPr/>
        </p:nvSpPr>
        <p:spPr>
          <a:xfrm>
            <a:off x="9189720" y="277063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valid spans → NMS (0.5) → top-30</a:t>
            </a:r>
            <a:endParaRPr lang="en-US" sz="1000" dirty="0"/>
          </a:p>
        </p:txBody>
      </p:sp>
      <p:sp>
        <p:nvSpPr>
          <p:cNvPr id="359" name="Shape 356"/>
          <p:cNvSpPr/>
          <p:nvPr/>
        </p:nvSpPr>
        <p:spPr>
          <a:xfrm>
            <a:off x="9208008" y="3090672"/>
            <a:ext cx="2688336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0" name="Text 357"/>
          <p:cNvSpPr txBox="1"/>
          <p:nvPr/>
        </p:nvSpPr>
        <p:spPr>
          <a:xfrm>
            <a:off x="9235440" y="31272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 = 0.5ℒ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+ 0.1(ℒ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050" dirty="0"/>
          </a:p>
        </p:txBody>
      </p:sp>
      <p:sp>
        <p:nvSpPr>
          <p:cNvPr id="361" name="Text 358"/>
          <p:cNvSpPr txBox="1"/>
          <p:nvPr/>
        </p:nvSpPr>
        <p:spPr>
          <a:xfrm>
            <a:off x="9281160" y="3474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</a:t>
            </a:r>
            <a:endParaRPr lang="en-US" sz="1100" dirty="0"/>
          </a:p>
        </p:txBody>
      </p:sp>
      <p:sp>
        <p:nvSpPr>
          <p:cNvPr id="362" name="Text 359"/>
          <p:cNvSpPr txBox="1"/>
          <p:nvPr/>
        </p:nvSpPr>
        <p:spPr>
          <a:xfrm>
            <a:off x="9921240" y="34747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soft-IoU KL + calibration + pairs</a:t>
            </a:r>
            <a:endParaRPr lang="en-US" sz="900" dirty="0"/>
          </a:p>
        </p:txBody>
      </p:sp>
      <p:sp>
        <p:nvSpPr>
          <p:cNvPr id="363" name="Text 360"/>
          <p:cNvSpPr txBox="1"/>
          <p:nvPr/>
        </p:nvSpPr>
        <p:spPr>
          <a:xfrm>
            <a:off x="9281160" y="37033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100" dirty="0"/>
          </a:p>
        </p:txBody>
      </p:sp>
      <p:sp>
        <p:nvSpPr>
          <p:cNvPr id="364" name="Text 361"/>
          <p:cNvSpPr txBox="1"/>
          <p:nvPr/>
        </p:nvSpPr>
        <p:spPr>
          <a:xfrm>
            <a:off x="9921240" y="37033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four-corner counterfactual hinge</a:t>
            </a:r>
            <a:endParaRPr lang="en-US" sz="900" dirty="0"/>
          </a:p>
        </p:txBody>
      </p:sp>
      <p:sp>
        <p:nvSpPr>
          <p:cNvPr id="365" name="Text 362"/>
          <p:cNvSpPr txBox="1"/>
          <p:nvPr/>
        </p:nvSpPr>
        <p:spPr>
          <a:xfrm>
            <a:off x="9281160" y="39319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100" dirty="0"/>
          </a:p>
        </p:txBody>
      </p:sp>
      <p:sp>
        <p:nvSpPr>
          <p:cNvPr id="366" name="Text 363"/>
          <p:cNvSpPr txBox="1"/>
          <p:nvPr/>
        </p:nvSpPr>
        <p:spPr>
          <a:xfrm>
            <a:off x="9921240" y="39319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coverage-gap hinge</a:t>
            </a:r>
            <a:endParaRPr lang="en-US" sz="900" dirty="0"/>
          </a:p>
        </p:txBody>
      </p:sp>
      <p:sp>
        <p:nvSpPr>
          <p:cNvPr id="367" name="Text 364"/>
          <p:cNvSpPr txBox="1"/>
          <p:nvPr/>
        </p:nvSpPr>
        <p:spPr>
          <a:xfrm>
            <a:off x="9281160" y="41605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100" dirty="0"/>
          </a:p>
        </p:txBody>
      </p:sp>
      <p:sp>
        <p:nvSpPr>
          <p:cNvPr id="368" name="Text 365"/>
          <p:cNvSpPr txBox="1"/>
          <p:nvPr/>
        </p:nvSpPr>
        <p:spPr>
          <a:xfrm>
            <a:off x="9921240" y="4160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/ end temporal quality</a:t>
            </a:r>
            <a:endParaRPr lang="en-US" sz="900" dirty="0"/>
          </a:p>
        </p:txBody>
      </p:sp>
      <p:sp>
        <p:nvSpPr>
          <p:cNvPr id="369" name="Text 366"/>
          <p:cNvSpPr txBox="1"/>
          <p:nvPr/>
        </p:nvSpPr>
        <p:spPr>
          <a:xfrm>
            <a:off x="9281160" y="43891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</a:t>
            </a:r>
            <a:endParaRPr lang="en-US" sz="1100" dirty="0"/>
          </a:p>
        </p:txBody>
      </p:sp>
      <p:sp>
        <p:nvSpPr>
          <p:cNvPr id="370" name="Text 367"/>
          <p:cNvSpPr txBox="1"/>
          <p:nvPr/>
        </p:nvSpPr>
        <p:spPr>
          <a:xfrm>
            <a:off x="9921240" y="43891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BCE (Gaussian target)</a:t>
            </a:r>
            <a:endParaRPr lang="en-US" sz="900" dirty="0"/>
          </a:p>
        </p:txBody>
      </p:sp>
      <p:sp>
        <p:nvSpPr>
          <p:cNvPr id="371" name="Text 368"/>
          <p:cNvSpPr txBox="1"/>
          <p:nvPr/>
        </p:nvSpPr>
        <p:spPr>
          <a:xfrm>
            <a:off x="9281160" y="4617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5E7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</a:t>
            </a:r>
            <a:endParaRPr lang="en-US" sz="1100" dirty="0"/>
          </a:p>
        </p:txBody>
      </p:sp>
      <p:sp>
        <p:nvSpPr>
          <p:cNvPr id="372" name="Text 369"/>
          <p:cNvSpPr txBox="1"/>
          <p:nvPr/>
        </p:nvSpPr>
        <p:spPr>
          <a:xfrm>
            <a:off x="9921240" y="46177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soft BCE + top-16 hard neg.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11930" y="640080"/>
            <a:ext cx="2228850" cy="4069080"/>
          </a:xfrm>
          <a:prstGeom prst="rect">
            <a:avLst/>
          </a:prstGeom>
          <a:solidFill>
            <a:srgbClr val="9CA3AF">
              <a:alpha val="1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11930" y="640080"/>
            <a:ext cx="91" cy="4069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6240780" y="640080"/>
            <a:ext cx="91" cy="4069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6" name="Text 3"/>
          <p:cNvSpPr txBox="1"/>
          <p:nvPr/>
        </p:nvSpPr>
        <p:spPr>
          <a:xfrm>
            <a:off x="1783080" y="128016"/>
            <a:ext cx="594360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man is chopping vegetables in the kitchen.”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81051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1051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9" name="Shape 6"/>
          <p:cNvSpPr/>
          <p:nvPr/>
        </p:nvSpPr>
        <p:spPr>
          <a:xfrm>
            <a:off x="216831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0" name="Shape 7"/>
          <p:cNvSpPr/>
          <p:nvPr/>
        </p:nvSpPr>
        <p:spPr>
          <a:xfrm>
            <a:off x="186555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346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346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3" name="Shape 10"/>
          <p:cNvSpPr/>
          <p:nvPr/>
        </p:nvSpPr>
        <p:spPr>
          <a:xfrm>
            <a:off x="291126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4" name="Shape 11"/>
          <p:cNvSpPr/>
          <p:nvPr/>
        </p:nvSpPr>
        <p:spPr>
          <a:xfrm>
            <a:off x="260850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15390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16" name="Shape 13"/>
          <p:cNvSpPr/>
          <p:nvPr/>
        </p:nvSpPr>
        <p:spPr>
          <a:xfrm>
            <a:off x="2598188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17" name="Shape 14"/>
          <p:cNvSpPr/>
          <p:nvPr/>
        </p:nvSpPr>
        <p:spPr>
          <a:xfrm>
            <a:off x="329641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641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9" name="Shape 16"/>
          <p:cNvSpPr/>
          <p:nvPr/>
        </p:nvSpPr>
        <p:spPr>
          <a:xfrm>
            <a:off x="365421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5145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61553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22" name="Shape 19"/>
          <p:cNvSpPr/>
          <p:nvPr/>
        </p:nvSpPr>
        <p:spPr>
          <a:xfrm>
            <a:off x="3444350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23" name="Shape 20"/>
          <p:cNvSpPr/>
          <p:nvPr/>
        </p:nvSpPr>
        <p:spPr>
          <a:xfrm>
            <a:off x="403936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3936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25" name="Shape 22"/>
          <p:cNvSpPr/>
          <p:nvPr/>
        </p:nvSpPr>
        <p:spPr>
          <a:xfrm>
            <a:off x="439716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26" name="Shape 23"/>
          <p:cNvSpPr/>
          <p:nvPr/>
        </p:nvSpPr>
        <p:spPr>
          <a:xfrm>
            <a:off x="409440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42120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28" name="Shape 25"/>
          <p:cNvSpPr/>
          <p:nvPr/>
        </p:nvSpPr>
        <p:spPr>
          <a:xfrm>
            <a:off x="4324918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29" name="Shape 26"/>
          <p:cNvSpPr/>
          <p:nvPr/>
        </p:nvSpPr>
        <p:spPr>
          <a:xfrm>
            <a:off x="446597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0" name="Shape 27"/>
          <p:cNvSpPr/>
          <p:nvPr/>
        </p:nvSpPr>
        <p:spPr>
          <a:xfrm>
            <a:off x="454854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Shape 28"/>
          <p:cNvSpPr/>
          <p:nvPr/>
        </p:nvSpPr>
        <p:spPr>
          <a:xfrm>
            <a:off x="478231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8231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33" name="Shape 30"/>
          <p:cNvSpPr/>
          <p:nvPr/>
        </p:nvSpPr>
        <p:spPr>
          <a:xfrm>
            <a:off x="514011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34" name="Shape 31"/>
          <p:cNvSpPr/>
          <p:nvPr/>
        </p:nvSpPr>
        <p:spPr>
          <a:xfrm>
            <a:off x="483735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85070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36" name="Shape 33"/>
          <p:cNvSpPr/>
          <p:nvPr/>
        </p:nvSpPr>
        <p:spPr>
          <a:xfrm>
            <a:off x="5067868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37" name="Shape 34"/>
          <p:cNvSpPr/>
          <p:nvPr/>
        </p:nvSpPr>
        <p:spPr>
          <a:xfrm>
            <a:off x="520892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8" name="Shape 35"/>
          <p:cNvSpPr/>
          <p:nvPr/>
        </p:nvSpPr>
        <p:spPr>
          <a:xfrm>
            <a:off x="529149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9" name="Shape 36"/>
          <p:cNvSpPr/>
          <p:nvPr/>
        </p:nvSpPr>
        <p:spPr>
          <a:xfrm>
            <a:off x="552526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2526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41" name="Shape 38"/>
          <p:cNvSpPr/>
          <p:nvPr/>
        </p:nvSpPr>
        <p:spPr>
          <a:xfrm>
            <a:off x="588306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42" name="Shape 39"/>
          <p:cNvSpPr/>
          <p:nvPr/>
        </p:nvSpPr>
        <p:spPr>
          <a:xfrm>
            <a:off x="558030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828020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44" name="Shape 41"/>
          <p:cNvSpPr/>
          <p:nvPr/>
        </p:nvSpPr>
        <p:spPr>
          <a:xfrm>
            <a:off x="5810818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45" name="Shape 42"/>
          <p:cNvSpPr/>
          <p:nvPr/>
        </p:nvSpPr>
        <p:spPr>
          <a:xfrm>
            <a:off x="595187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6" name="Shape 43"/>
          <p:cNvSpPr/>
          <p:nvPr/>
        </p:nvSpPr>
        <p:spPr>
          <a:xfrm>
            <a:off x="603444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7" name="Shape 44"/>
          <p:cNvSpPr/>
          <p:nvPr/>
        </p:nvSpPr>
        <p:spPr>
          <a:xfrm>
            <a:off x="626821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6821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49" name="Shape 46"/>
          <p:cNvSpPr/>
          <p:nvPr/>
        </p:nvSpPr>
        <p:spPr>
          <a:xfrm>
            <a:off x="662601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50" name="Shape 47"/>
          <p:cNvSpPr/>
          <p:nvPr/>
        </p:nvSpPr>
        <p:spPr>
          <a:xfrm>
            <a:off x="632325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64544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52" name="Shape 49"/>
          <p:cNvSpPr/>
          <p:nvPr/>
        </p:nvSpPr>
        <p:spPr>
          <a:xfrm>
            <a:off x="6347342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53" name="Shape 50"/>
          <p:cNvSpPr/>
          <p:nvPr/>
        </p:nvSpPr>
        <p:spPr>
          <a:xfrm>
            <a:off x="669482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4" name="Shape 51"/>
          <p:cNvSpPr/>
          <p:nvPr/>
        </p:nvSpPr>
        <p:spPr>
          <a:xfrm>
            <a:off x="677739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5" name="Shape 52"/>
          <p:cNvSpPr/>
          <p:nvPr/>
        </p:nvSpPr>
        <p:spPr>
          <a:xfrm>
            <a:off x="701116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01116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57" name="Shape 54"/>
          <p:cNvSpPr/>
          <p:nvPr/>
        </p:nvSpPr>
        <p:spPr>
          <a:xfrm>
            <a:off x="736896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58" name="Shape 55"/>
          <p:cNvSpPr/>
          <p:nvPr/>
        </p:nvSpPr>
        <p:spPr>
          <a:xfrm>
            <a:off x="706620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43777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0" name="Shape 57"/>
          <p:cNvSpPr/>
          <p:nvPr/>
        </p:nvSpPr>
        <p:spPr>
          <a:xfrm>
            <a:off x="752034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274320" y="128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62" name="Text 59"/>
          <p:cNvSpPr txBox="1"/>
          <p:nvPr/>
        </p:nvSpPr>
        <p:spPr>
          <a:xfrm>
            <a:off x="274320" y="713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274320" y="161848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</a:t>
            </a:r>
            <a:pPr algn="l" indent="0" marL="0">
              <a:buNone/>
            </a:pPr>
            <a:r>
              <a:rPr lang="en-US" sz="13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E(t)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query–clip agreement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274320" y="2697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 </a:t>
            </a:r>
            <a:pPr algn="l" indent="0" marL="0">
              <a:buNone/>
            </a:pPr>
            <a:r>
              <a:rPr lang="en-US" sz="130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S(t)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coverage</a:t>
            </a:r>
            <a:endParaRPr lang="en-US" sz="1300" dirty="0"/>
          </a:p>
        </p:txBody>
      </p:sp>
      <p:sp>
        <p:nvSpPr>
          <p:cNvPr id="65" name="Text 62"/>
          <p:cNvSpPr txBox="1"/>
          <p:nvPr/>
        </p:nvSpPr>
        <p:spPr>
          <a:xfrm>
            <a:off x="274320" y="3776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 </a:t>
            </a:r>
            <a:pPr algn="l" indent="0" marL="0">
              <a:buNone/>
            </a:pPr>
            <a:r>
              <a:rPr lang="en-US" sz="13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buNone/>
            </a:pPr>
            <a:r>
              <a:rPr lang="en-US" sz="130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l" indent="0" marL="0">
              <a:buNone/>
            </a:pPr>
            <a:r>
              <a:rPr lang="en-US" sz="13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T</a:t>
            </a:r>
            <a:pPr algn="l" indent="0" marL="0">
              <a:buNone/>
            </a:pPr>
            <a:r>
              <a:rPr lang="en-US" sz="130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enter / leave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1783080" y="2322576"/>
            <a:ext cx="594360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67" name="Shape 64"/>
          <p:cNvSpPr/>
          <p:nvPr/>
        </p:nvSpPr>
        <p:spPr>
          <a:xfrm>
            <a:off x="1783080" y="1726367"/>
            <a:ext cx="5943600" cy="596209"/>
          </a:xfrm>
          <a:custGeom>
            <a:avLst/>
            <a:gdLst/>
            <a:ahLst/>
            <a:cxnLst/>
            <a:rect l="l" t="t" r="r" b="b"/>
            <a:pathLst>
              <a:path w="5943600" h="596209">
                <a:moveTo>
                  <a:pt x="0" y="596209"/>
                </a:moveTo>
                <a:lnTo>
                  <a:pt x="0" y="499048"/>
                </a:lnTo>
                <a:lnTo>
                  <a:pt x="33020" y="499300"/>
                </a:lnTo>
                <a:lnTo>
                  <a:pt x="66040" y="504536"/>
                </a:lnTo>
                <a:lnTo>
                  <a:pt x="99060" y="510354"/>
                </a:lnTo>
                <a:lnTo>
                  <a:pt x="132080" y="513545"/>
                </a:lnTo>
                <a:lnTo>
                  <a:pt x="165100" y="513776"/>
                </a:lnTo>
                <a:lnTo>
                  <a:pt x="198120" y="513222"/>
                </a:lnTo>
                <a:lnTo>
                  <a:pt x="231140" y="514557"/>
                </a:lnTo>
                <a:lnTo>
                  <a:pt x="264160" y="518790"/>
                </a:lnTo>
                <a:lnTo>
                  <a:pt x="297180" y="524475"/>
                </a:lnTo>
                <a:lnTo>
                  <a:pt x="330200" y="528807"/>
                </a:lnTo>
                <a:lnTo>
                  <a:pt x="363220" y="529805"/>
                </a:lnTo>
                <a:lnTo>
                  <a:pt x="396240" y="527982"/>
                </a:lnTo>
                <a:lnTo>
                  <a:pt x="429260" y="526233"/>
                </a:lnTo>
                <a:lnTo>
                  <a:pt x="462280" y="527892"/>
                </a:lnTo>
                <a:lnTo>
                  <a:pt x="495300" y="534136"/>
                </a:lnTo>
                <a:lnTo>
                  <a:pt x="528320" y="542404"/>
                </a:lnTo>
                <a:lnTo>
                  <a:pt x="561340" y="546793"/>
                </a:lnTo>
                <a:lnTo>
                  <a:pt x="594360" y="540127"/>
                </a:lnTo>
                <a:lnTo>
                  <a:pt x="627380" y="516480"/>
                </a:lnTo>
                <a:lnTo>
                  <a:pt x="660400" y="473118"/>
                </a:lnTo>
                <a:lnTo>
                  <a:pt x="693420" y="411764"/>
                </a:lnTo>
                <a:lnTo>
                  <a:pt x="726440" y="339554"/>
                </a:lnTo>
                <a:lnTo>
                  <a:pt x="759460" y="269182"/>
                </a:lnTo>
                <a:lnTo>
                  <a:pt x="792480" y="216674"/>
                </a:lnTo>
                <a:lnTo>
                  <a:pt x="825500" y="196014"/>
                </a:lnTo>
                <a:lnTo>
                  <a:pt x="858520" y="212820"/>
                </a:lnTo>
                <a:lnTo>
                  <a:pt x="891540" y="261370"/>
                </a:lnTo>
                <a:lnTo>
                  <a:pt x="924560" y="327517"/>
                </a:lnTo>
                <a:lnTo>
                  <a:pt x="957580" y="395442"/>
                </a:lnTo>
                <a:lnTo>
                  <a:pt x="990600" y="453476"/>
                </a:lnTo>
                <a:lnTo>
                  <a:pt x="1023620" y="495948"/>
                </a:lnTo>
                <a:lnTo>
                  <a:pt x="1056640" y="521873"/>
                </a:lnTo>
                <a:lnTo>
                  <a:pt x="1089660" y="533137"/>
                </a:lnTo>
                <a:lnTo>
                  <a:pt x="1122680" y="533663"/>
                </a:lnTo>
                <a:lnTo>
                  <a:pt x="1155700" y="528972"/>
                </a:lnTo>
                <a:lnTo>
                  <a:pt x="1188720" y="524961"/>
                </a:lnTo>
                <a:lnTo>
                  <a:pt x="1221740" y="525763"/>
                </a:lnTo>
                <a:lnTo>
                  <a:pt x="1254760" y="531880"/>
                </a:lnTo>
                <a:lnTo>
                  <a:pt x="1287780" y="539982"/>
                </a:lnTo>
                <a:lnTo>
                  <a:pt x="1320800" y="544846"/>
                </a:lnTo>
                <a:lnTo>
                  <a:pt x="1353820" y="542426"/>
                </a:lnTo>
                <a:lnTo>
                  <a:pt x="1386840" y="532260"/>
                </a:lnTo>
                <a:lnTo>
                  <a:pt x="1419860" y="517773"/>
                </a:lnTo>
                <a:lnTo>
                  <a:pt x="1452880" y="504336"/>
                </a:lnTo>
                <a:lnTo>
                  <a:pt x="1485900" y="496331"/>
                </a:lnTo>
                <a:lnTo>
                  <a:pt x="1518920" y="495036"/>
                </a:lnTo>
                <a:lnTo>
                  <a:pt x="1551940" y="498561"/>
                </a:lnTo>
                <a:lnTo>
                  <a:pt x="1584960" y="503674"/>
                </a:lnTo>
                <a:lnTo>
                  <a:pt x="1617980" y="508173"/>
                </a:lnTo>
                <a:lnTo>
                  <a:pt x="1651000" y="512156"/>
                </a:lnTo>
                <a:lnTo>
                  <a:pt x="1684020" y="517402"/>
                </a:lnTo>
                <a:lnTo>
                  <a:pt x="1717040" y="525382"/>
                </a:lnTo>
                <a:lnTo>
                  <a:pt x="1750060" y="535436"/>
                </a:lnTo>
                <a:lnTo>
                  <a:pt x="1783080" y="544486"/>
                </a:lnTo>
                <a:lnTo>
                  <a:pt x="1816100" y="548650"/>
                </a:lnTo>
                <a:lnTo>
                  <a:pt x="1849120" y="545732"/>
                </a:lnTo>
                <a:lnTo>
                  <a:pt x="1882140" y="536901"/>
                </a:lnTo>
                <a:lnTo>
                  <a:pt x="1915160" y="526319"/>
                </a:lnTo>
                <a:lnTo>
                  <a:pt x="1948180" y="518766"/>
                </a:lnTo>
                <a:lnTo>
                  <a:pt x="1981200" y="516621"/>
                </a:lnTo>
                <a:lnTo>
                  <a:pt x="2014220" y="517986"/>
                </a:lnTo>
                <a:lnTo>
                  <a:pt x="2047240" y="517030"/>
                </a:lnTo>
                <a:lnTo>
                  <a:pt x="2080260" y="506196"/>
                </a:lnTo>
                <a:lnTo>
                  <a:pt x="2113280" y="478881"/>
                </a:lnTo>
                <a:lnTo>
                  <a:pt x="2146300" y="431377"/>
                </a:lnTo>
                <a:lnTo>
                  <a:pt x="2179320" y="364294"/>
                </a:lnTo>
                <a:lnTo>
                  <a:pt x="2212340" y="284316"/>
                </a:lnTo>
                <a:lnTo>
                  <a:pt x="2245360" y="204441"/>
                </a:lnTo>
                <a:lnTo>
                  <a:pt x="2278380" y="138782"/>
                </a:lnTo>
                <a:lnTo>
                  <a:pt x="2311400" y="94779"/>
                </a:lnTo>
                <a:lnTo>
                  <a:pt x="2344420" y="71489"/>
                </a:lnTo>
                <a:lnTo>
                  <a:pt x="2377440" y="64375"/>
                </a:lnTo>
                <a:lnTo>
                  <a:pt x="2410460" y="69665"/>
                </a:lnTo>
                <a:lnTo>
                  <a:pt x="2443480" y="84887"/>
                </a:lnTo>
                <a:lnTo>
                  <a:pt x="2476500" y="107103"/>
                </a:lnTo>
                <a:lnTo>
                  <a:pt x="2509520" y="131577"/>
                </a:lnTo>
                <a:lnTo>
                  <a:pt x="2542540" y="152361"/>
                </a:lnTo>
                <a:lnTo>
                  <a:pt x="2575560" y="164527"/>
                </a:lnTo>
                <a:lnTo>
                  <a:pt x="2608580" y="166499"/>
                </a:lnTo>
                <a:lnTo>
                  <a:pt x="2641600" y="160797"/>
                </a:lnTo>
                <a:lnTo>
                  <a:pt x="2674620" y="152530"/>
                </a:lnTo>
                <a:lnTo>
                  <a:pt x="2707640" y="146420"/>
                </a:lnTo>
                <a:lnTo>
                  <a:pt x="2740660" y="144132"/>
                </a:lnTo>
                <a:lnTo>
                  <a:pt x="2773680" y="143525"/>
                </a:lnTo>
                <a:lnTo>
                  <a:pt x="2806700" y="140229"/>
                </a:lnTo>
                <a:lnTo>
                  <a:pt x="2839720" y="130519"/>
                </a:lnTo>
                <a:lnTo>
                  <a:pt x="2872740" y="113667"/>
                </a:lnTo>
                <a:lnTo>
                  <a:pt x="2905760" y="92339"/>
                </a:lnTo>
                <a:lnTo>
                  <a:pt x="2938780" y="70931"/>
                </a:lnTo>
                <a:lnTo>
                  <a:pt x="2971800" y="53020"/>
                </a:lnTo>
                <a:lnTo>
                  <a:pt x="3004820" y="39654"/>
                </a:lnTo>
                <a:lnTo>
                  <a:pt x="3037840" y="29519"/>
                </a:lnTo>
                <a:lnTo>
                  <a:pt x="3070860" y="20744"/>
                </a:lnTo>
                <a:lnTo>
                  <a:pt x="3103880" y="12946"/>
                </a:lnTo>
                <a:lnTo>
                  <a:pt x="3136900" y="7992"/>
                </a:lnTo>
                <a:lnTo>
                  <a:pt x="3169920" y="8866"/>
                </a:lnTo>
                <a:lnTo>
                  <a:pt x="3202940" y="17372"/>
                </a:lnTo>
                <a:lnTo>
                  <a:pt x="3235960" y="32283"/>
                </a:lnTo>
                <a:lnTo>
                  <a:pt x="3268980" y="49318"/>
                </a:lnTo>
                <a:lnTo>
                  <a:pt x="3302000" y="63168"/>
                </a:lnTo>
                <a:lnTo>
                  <a:pt x="3335020" y="70396"/>
                </a:lnTo>
                <a:lnTo>
                  <a:pt x="3368040" y="71412"/>
                </a:lnTo>
                <a:lnTo>
                  <a:pt x="3401060" y="70235"/>
                </a:lnTo>
                <a:lnTo>
                  <a:pt x="3434080" y="72125"/>
                </a:lnTo>
                <a:lnTo>
                  <a:pt x="3467100" y="80512"/>
                </a:lnTo>
                <a:lnTo>
                  <a:pt x="3500120" y="95080"/>
                </a:lnTo>
                <a:lnTo>
                  <a:pt x="3533140" y="112128"/>
                </a:lnTo>
                <a:lnTo>
                  <a:pt x="3566160" y="126872"/>
                </a:lnTo>
                <a:lnTo>
                  <a:pt x="3599180" y="136162"/>
                </a:lnTo>
                <a:lnTo>
                  <a:pt x="3632200" y="139904"/>
                </a:lnTo>
                <a:lnTo>
                  <a:pt x="3665220" y="140405"/>
                </a:lnTo>
                <a:lnTo>
                  <a:pt x="3698240" y="140239"/>
                </a:lnTo>
                <a:lnTo>
                  <a:pt x="3731260" y="140202"/>
                </a:lnTo>
                <a:lnTo>
                  <a:pt x="3764280" y="138792"/>
                </a:lnTo>
                <a:lnTo>
                  <a:pt x="3797300" y="133529"/>
                </a:lnTo>
                <a:lnTo>
                  <a:pt x="3830320" y="123159"/>
                </a:lnTo>
                <a:lnTo>
                  <a:pt x="3863340" y="109096"/>
                </a:lnTo>
                <a:lnTo>
                  <a:pt x="3896360" y="95008"/>
                </a:lnTo>
                <a:lnTo>
                  <a:pt x="3929380" y="84673"/>
                </a:lnTo>
                <a:lnTo>
                  <a:pt x="3962400" y="79494"/>
                </a:lnTo>
                <a:lnTo>
                  <a:pt x="3995420" y="77357"/>
                </a:lnTo>
                <a:lnTo>
                  <a:pt x="4028440" y="73713"/>
                </a:lnTo>
                <a:lnTo>
                  <a:pt x="4061460" y="64337"/>
                </a:lnTo>
                <a:lnTo>
                  <a:pt x="4094480" y="48102"/>
                </a:lnTo>
                <a:lnTo>
                  <a:pt x="4127500" y="28043"/>
                </a:lnTo>
                <a:lnTo>
                  <a:pt x="4160520" y="10047"/>
                </a:lnTo>
                <a:lnTo>
                  <a:pt x="4193540" y="0"/>
                </a:lnTo>
                <a:lnTo>
                  <a:pt x="4226560" y="1174"/>
                </a:lnTo>
                <a:lnTo>
                  <a:pt x="4259580" y="13484"/>
                </a:lnTo>
                <a:lnTo>
                  <a:pt x="4292600" y="35013"/>
                </a:lnTo>
                <a:lnTo>
                  <a:pt x="4325620" y="64739"/>
                </a:lnTo>
                <a:lnTo>
                  <a:pt x="4358640" y="104429"/>
                </a:lnTo>
                <a:lnTo>
                  <a:pt x="4391660" y="157776"/>
                </a:lnTo>
                <a:lnTo>
                  <a:pt x="4424680" y="226248"/>
                </a:lnTo>
                <a:lnTo>
                  <a:pt x="4457700" y="304262"/>
                </a:lnTo>
                <a:lnTo>
                  <a:pt x="4490720" y="379317"/>
                </a:lnTo>
                <a:lnTo>
                  <a:pt x="4523740" y="438960"/>
                </a:lnTo>
                <a:lnTo>
                  <a:pt x="4556760" y="477731"/>
                </a:lnTo>
                <a:lnTo>
                  <a:pt x="4589780" y="498120"/>
                </a:lnTo>
                <a:lnTo>
                  <a:pt x="4622800" y="507330"/>
                </a:lnTo>
                <a:lnTo>
                  <a:pt x="4655820" y="513355"/>
                </a:lnTo>
                <a:lnTo>
                  <a:pt x="4688840" y="521662"/>
                </a:lnTo>
                <a:lnTo>
                  <a:pt x="4721860" y="533273"/>
                </a:lnTo>
                <a:lnTo>
                  <a:pt x="4754880" y="545004"/>
                </a:lnTo>
                <a:lnTo>
                  <a:pt x="4787900" y="551834"/>
                </a:lnTo>
                <a:lnTo>
                  <a:pt x="4820920" y="550150"/>
                </a:lnTo>
                <a:lnTo>
                  <a:pt x="4853940" y="540043"/>
                </a:lnTo>
                <a:lnTo>
                  <a:pt x="4886960" y="525335"/>
                </a:lnTo>
                <a:lnTo>
                  <a:pt x="4919980" y="511453"/>
                </a:lnTo>
                <a:lnTo>
                  <a:pt x="4953000" y="502528"/>
                </a:lnTo>
                <a:lnTo>
                  <a:pt x="4986020" y="499529"/>
                </a:lnTo>
                <a:lnTo>
                  <a:pt x="5019040" y="500494"/>
                </a:lnTo>
                <a:lnTo>
                  <a:pt x="5052060" y="502512"/>
                </a:lnTo>
                <a:lnTo>
                  <a:pt x="5085080" y="503986"/>
                </a:lnTo>
                <a:lnTo>
                  <a:pt x="5118100" y="505619"/>
                </a:lnTo>
                <a:lnTo>
                  <a:pt x="5151120" y="509501"/>
                </a:lnTo>
                <a:lnTo>
                  <a:pt x="5184140" y="517028"/>
                </a:lnTo>
                <a:lnTo>
                  <a:pt x="5217160" y="527210"/>
                </a:lnTo>
                <a:lnTo>
                  <a:pt x="5250180" y="536686"/>
                </a:lnTo>
                <a:lnTo>
                  <a:pt x="5283200" y="541564"/>
                </a:lnTo>
                <a:lnTo>
                  <a:pt x="5316220" y="539936"/>
                </a:lnTo>
                <a:lnTo>
                  <a:pt x="5349240" y="533361"/>
                </a:lnTo>
                <a:lnTo>
                  <a:pt x="5382260" y="526222"/>
                </a:lnTo>
                <a:lnTo>
                  <a:pt x="5415280" y="523223"/>
                </a:lnTo>
                <a:lnTo>
                  <a:pt x="5448300" y="526545"/>
                </a:lnTo>
                <a:lnTo>
                  <a:pt x="5481320" y="534436"/>
                </a:lnTo>
                <a:lnTo>
                  <a:pt x="5514340" y="542160"/>
                </a:lnTo>
                <a:lnTo>
                  <a:pt x="5547360" y="544738"/>
                </a:lnTo>
                <a:lnTo>
                  <a:pt x="5580380" y="539804"/>
                </a:lnTo>
                <a:lnTo>
                  <a:pt x="5613400" y="528837"/>
                </a:lnTo>
                <a:lnTo>
                  <a:pt x="5646420" y="516097"/>
                </a:lnTo>
                <a:lnTo>
                  <a:pt x="5679440" y="506040"/>
                </a:lnTo>
                <a:lnTo>
                  <a:pt x="5712460" y="500923"/>
                </a:lnTo>
                <a:lnTo>
                  <a:pt x="5745480" y="500058"/>
                </a:lnTo>
                <a:lnTo>
                  <a:pt x="5778500" y="501064"/>
                </a:lnTo>
                <a:lnTo>
                  <a:pt x="5811520" y="502072"/>
                </a:lnTo>
                <a:lnTo>
                  <a:pt x="5844540" y="503269"/>
                </a:lnTo>
                <a:lnTo>
                  <a:pt x="5877560" y="506682"/>
                </a:lnTo>
                <a:lnTo>
                  <a:pt x="5910580" y="514338"/>
                </a:lnTo>
                <a:lnTo>
                  <a:pt x="5943600" y="526157"/>
                </a:lnTo>
                <a:lnTo>
                  <a:pt x="5943600" y="596209"/>
                </a:lnTo>
                <a:close/>
              </a:path>
            </a:pathLst>
          </a:custGeom>
          <a:solidFill>
            <a:srgbClr val="F9DCD9">
              <a:alpha val="75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1783080" y="1726367"/>
            <a:ext cx="5943600" cy="551834"/>
          </a:xfrm>
          <a:custGeom>
            <a:avLst/>
            <a:gdLst/>
            <a:ahLst/>
            <a:cxnLst/>
            <a:rect l="l" t="t" r="r" b="b"/>
            <a:pathLst>
              <a:path w="5943600" h="551834">
                <a:moveTo>
                  <a:pt x="0" y="499048"/>
                </a:moveTo>
                <a:lnTo>
                  <a:pt x="33020" y="499300"/>
                </a:lnTo>
                <a:lnTo>
                  <a:pt x="66040" y="504536"/>
                </a:lnTo>
                <a:lnTo>
                  <a:pt x="99060" y="510354"/>
                </a:lnTo>
                <a:lnTo>
                  <a:pt x="132080" y="513545"/>
                </a:lnTo>
                <a:lnTo>
                  <a:pt x="165100" y="513776"/>
                </a:lnTo>
                <a:lnTo>
                  <a:pt x="198120" y="513222"/>
                </a:lnTo>
                <a:lnTo>
                  <a:pt x="231140" y="514557"/>
                </a:lnTo>
                <a:lnTo>
                  <a:pt x="264160" y="518790"/>
                </a:lnTo>
                <a:lnTo>
                  <a:pt x="297180" y="524475"/>
                </a:lnTo>
                <a:lnTo>
                  <a:pt x="330200" y="528807"/>
                </a:lnTo>
                <a:lnTo>
                  <a:pt x="363220" y="529805"/>
                </a:lnTo>
                <a:lnTo>
                  <a:pt x="396240" y="527982"/>
                </a:lnTo>
                <a:lnTo>
                  <a:pt x="429260" y="526233"/>
                </a:lnTo>
                <a:lnTo>
                  <a:pt x="462280" y="527892"/>
                </a:lnTo>
                <a:lnTo>
                  <a:pt x="495300" y="534136"/>
                </a:lnTo>
                <a:lnTo>
                  <a:pt x="528320" y="542404"/>
                </a:lnTo>
                <a:lnTo>
                  <a:pt x="561340" y="546793"/>
                </a:lnTo>
                <a:lnTo>
                  <a:pt x="594360" y="540127"/>
                </a:lnTo>
                <a:lnTo>
                  <a:pt x="627380" y="516480"/>
                </a:lnTo>
                <a:lnTo>
                  <a:pt x="660400" y="473118"/>
                </a:lnTo>
                <a:lnTo>
                  <a:pt x="693420" y="411764"/>
                </a:lnTo>
                <a:lnTo>
                  <a:pt x="726440" y="339554"/>
                </a:lnTo>
                <a:lnTo>
                  <a:pt x="759460" y="269182"/>
                </a:lnTo>
                <a:lnTo>
                  <a:pt x="792480" y="216674"/>
                </a:lnTo>
                <a:lnTo>
                  <a:pt x="825500" y="196014"/>
                </a:lnTo>
                <a:lnTo>
                  <a:pt x="858520" y="212820"/>
                </a:lnTo>
                <a:lnTo>
                  <a:pt x="891540" y="261370"/>
                </a:lnTo>
                <a:lnTo>
                  <a:pt x="924560" y="327517"/>
                </a:lnTo>
                <a:lnTo>
                  <a:pt x="957580" y="395442"/>
                </a:lnTo>
                <a:lnTo>
                  <a:pt x="990600" y="453476"/>
                </a:lnTo>
                <a:lnTo>
                  <a:pt x="1023620" y="495948"/>
                </a:lnTo>
                <a:lnTo>
                  <a:pt x="1056640" y="521873"/>
                </a:lnTo>
                <a:lnTo>
                  <a:pt x="1089660" y="533137"/>
                </a:lnTo>
                <a:lnTo>
                  <a:pt x="1122680" y="533663"/>
                </a:lnTo>
                <a:lnTo>
                  <a:pt x="1155700" y="528972"/>
                </a:lnTo>
                <a:lnTo>
                  <a:pt x="1188720" y="524961"/>
                </a:lnTo>
                <a:lnTo>
                  <a:pt x="1221740" y="525763"/>
                </a:lnTo>
                <a:lnTo>
                  <a:pt x="1254760" y="531880"/>
                </a:lnTo>
                <a:lnTo>
                  <a:pt x="1287780" y="539982"/>
                </a:lnTo>
                <a:lnTo>
                  <a:pt x="1320800" y="544846"/>
                </a:lnTo>
                <a:lnTo>
                  <a:pt x="1353820" y="542426"/>
                </a:lnTo>
                <a:lnTo>
                  <a:pt x="1386840" y="532260"/>
                </a:lnTo>
                <a:lnTo>
                  <a:pt x="1419860" y="517773"/>
                </a:lnTo>
                <a:lnTo>
                  <a:pt x="1452880" y="504336"/>
                </a:lnTo>
                <a:lnTo>
                  <a:pt x="1485900" y="496331"/>
                </a:lnTo>
                <a:lnTo>
                  <a:pt x="1518920" y="495036"/>
                </a:lnTo>
                <a:lnTo>
                  <a:pt x="1551940" y="498561"/>
                </a:lnTo>
                <a:lnTo>
                  <a:pt x="1584960" y="503674"/>
                </a:lnTo>
                <a:lnTo>
                  <a:pt x="1617980" y="508173"/>
                </a:lnTo>
                <a:lnTo>
                  <a:pt x="1651000" y="512156"/>
                </a:lnTo>
                <a:lnTo>
                  <a:pt x="1684020" y="517402"/>
                </a:lnTo>
                <a:lnTo>
                  <a:pt x="1717040" y="525382"/>
                </a:lnTo>
                <a:lnTo>
                  <a:pt x="1750060" y="535436"/>
                </a:lnTo>
                <a:lnTo>
                  <a:pt x="1783080" y="544486"/>
                </a:lnTo>
                <a:lnTo>
                  <a:pt x="1816100" y="548650"/>
                </a:lnTo>
                <a:lnTo>
                  <a:pt x="1849120" y="545732"/>
                </a:lnTo>
                <a:lnTo>
                  <a:pt x="1882140" y="536901"/>
                </a:lnTo>
                <a:lnTo>
                  <a:pt x="1915160" y="526319"/>
                </a:lnTo>
                <a:lnTo>
                  <a:pt x="1948180" y="518766"/>
                </a:lnTo>
                <a:lnTo>
                  <a:pt x="1981200" y="516621"/>
                </a:lnTo>
                <a:lnTo>
                  <a:pt x="2014220" y="517986"/>
                </a:lnTo>
                <a:lnTo>
                  <a:pt x="2047240" y="517030"/>
                </a:lnTo>
                <a:lnTo>
                  <a:pt x="2080260" y="506196"/>
                </a:lnTo>
                <a:lnTo>
                  <a:pt x="2113280" y="478881"/>
                </a:lnTo>
                <a:lnTo>
                  <a:pt x="2146300" y="431377"/>
                </a:lnTo>
                <a:lnTo>
                  <a:pt x="2179320" y="364294"/>
                </a:lnTo>
                <a:lnTo>
                  <a:pt x="2212340" y="284316"/>
                </a:lnTo>
                <a:lnTo>
                  <a:pt x="2245360" y="204441"/>
                </a:lnTo>
                <a:lnTo>
                  <a:pt x="2278380" y="138782"/>
                </a:lnTo>
                <a:lnTo>
                  <a:pt x="2311400" y="94779"/>
                </a:lnTo>
                <a:lnTo>
                  <a:pt x="2344420" y="71489"/>
                </a:lnTo>
                <a:lnTo>
                  <a:pt x="2377440" y="64375"/>
                </a:lnTo>
                <a:lnTo>
                  <a:pt x="2410460" y="69665"/>
                </a:lnTo>
                <a:lnTo>
                  <a:pt x="2443480" y="84887"/>
                </a:lnTo>
                <a:lnTo>
                  <a:pt x="2476500" y="107103"/>
                </a:lnTo>
                <a:lnTo>
                  <a:pt x="2509520" y="131577"/>
                </a:lnTo>
                <a:lnTo>
                  <a:pt x="2542540" y="152361"/>
                </a:lnTo>
                <a:lnTo>
                  <a:pt x="2575560" y="164527"/>
                </a:lnTo>
                <a:lnTo>
                  <a:pt x="2608580" y="166499"/>
                </a:lnTo>
                <a:lnTo>
                  <a:pt x="2641600" y="160797"/>
                </a:lnTo>
                <a:lnTo>
                  <a:pt x="2674620" y="152530"/>
                </a:lnTo>
                <a:lnTo>
                  <a:pt x="2707640" y="146420"/>
                </a:lnTo>
                <a:lnTo>
                  <a:pt x="2740660" y="144132"/>
                </a:lnTo>
                <a:lnTo>
                  <a:pt x="2773680" y="143525"/>
                </a:lnTo>
                <a:lnTo>
                  <a:pt x="2806700" y="140229"/>
                </a:lnTo>
                <a:lnTo>
                  <a:pt x="2839720" y="130519"/>
                </a:lnTo>
                <a:lnTo>
                  <a:pt x="2872740" y="113667"/>
                </a:lnTo>
                <a:lnTo>
                  <a:pt x="2905760" y="92339"/>
                </a:lnTo>
                <a:lnTo>
                  <a:pt x="2938780" y="70931"/>
                </a:lnTo>
                <a:lnTo>
                  <a:pt x="2971800" y="53020"/>
                </a:lnTo>
                <a:lnTo>
                  <a:pt x="3004820" y="39654"/>
                </a:lnTo>
                <a:lnTo>
                  <a:pt x="3037840" y="29519"/>
                </a:lnTo>
                <a:lnTo>
                  <a:pt x="3070860" y="20744"/>
                </a:lnTo>
                <a:lnTo>
                  <a:pt x="3103880" y="12946"/>
                </a:lnTo>
                <a:lnTo>
                  <a:pt x="3136900" y="7992"/>
                </a:lnTo>
                <a:lnTo>
                  <a:pt x="3169920" y="8866"/>
                </a:lnTo>
                <a:lnTo>
                  <a:pt x="3202940" y="17372"/>
                </a:lnTo>
                <a:lnTo>
                  <a:pt x="3235960" y="32283"/>
                </a:lnTo>
                <a:lnTo>
                  <a:pt x="3268980" y="49318"/>
                </a:lnTo>
                <a:lnTo>
                  <a:pt x="3302000" y="63168"/>
                </a:lnTo>
                <a:lnTo>
                  <a:pt x="3335020" y="70396"/>
                </a:lnTo>
                <a:lnTo>
                  <a:pt x="3368040" y="71412"/>
                </a:lnTo>
                <a:lnTo>
                  <a:pt x="3401060" y="70235"/>
                </a:lnTo>
                <a:lnTo>
                  <a:pt x="3434080" y="72125"/>
                </a:lnTo>
                <a:lnTo>
                  <a:pt x="3467100" y="80512"/>
                </a:lnTo>
                <a:lnTo>
                  <a:pt x="3500120" y="95080"/>
                </a:lnTo>
                <a:lnTo>
                  <a:pt x="3533140" y="112128"/>
                </a:lnTo>
                <a:lnTo>
                  <a:pt x="3566160" y="126872"/>
                </a:lnTo>
                <a:lnTo>
                  <a:pt x="3599180" y="136162"/>
                </a:lnTo>
                <a:lnTo>
                  <a:pt x="3632200" y="139904"/>
                </a:lnTo>
                <a:lnTo>
                  <a:pt x="3665220" y="140405"/>
                </a:lnTo>
                <a:lnTo>
                  <a:pt x="3698240" y="140239"/>
                </a:lnTo>
                <a:lnTo>
                  <a:pt x="3731260" y="140202"/>
                </a:lnTo>
                <a:lnTo>
                  <a:pt x="3764280" y="138792"/>
                </a:lnTo>
                <a:lnTo>
                  <a:pt x="3797300" y="133529"/>
                </a:lnTo>
                <a:lnTo>
                  <a:pt x="3830320" y="123159"/>
                </a:lnTo>
                <a:lnTo>
                  <a:pt x="3863340" y="109096"/>
                </a:lnTo>
                <a:lnTo>
                  <a:pt x="3896360" y="95008"/>
                </a:lnTo>
                <a:lnTo>
                  <a:pt x="3929380" y="84673"/>
                </a:lnTo>
                <a:lnTo>
                  <a:pt x="3962400" y="79494"/>
                </a:lnTo>
                <a:lnTo>
                  <a:pt x="3995420" y="77357"/>
                </a:lnTo>
                <a:lnTo>
                  <a:pt x="4028440" y="73713"/>
                </a:lnTo>
                <a:lnTo>
                  <a:pt x="4061460" y="64337"/>
                </a:lnTo>
                <a:lnTo>
                  <a:pt x="4094480" y="48102"/>
                </a:lnTo>
                <a:lnTo>
                  <a:pt x="4127500" y="28043"/>
                </a:lnTo>
                <a:lnTo>
                  <a:pt x="4160520" y="10047"/>
                </a:lnTo>
                <a:lnTo>
                  <a:pt x="4193540" y="0"/>
                </a:lnTo>
                <a:lnTo>
                  <a:pt x="4226560" y="1174"/>
                </a:lnTo>
                <a:lnTo>
                  <a:pt x="4259580" y="13484"/>
                </a:lnTo>
                <a:lnTo>
                  <a:pt x="4292600" y="35013"/>
                </a:lnTo>
                <a:lnTo>
                  <a:pt x="4325620" y="64739"/>
                </a:lnTo>
                <a:lnTo>
                  <a:pt x="4358640" y="104429"/>
                </a:lnTo>
                <a:lnTo>
                  <a:pt x="4391660" y="157776"/>
                </a:lnTo>
                <a:lnTo>
                  <a:pt x="4424680" y="226248"/>
                </a:lnTo>
                <a:lnTo>
                  <a:pt x="4457700" y="304262"/>
                </a:lnTo>
                <a:lnTo>
                  <a:pt x="4490720" y="379317"/>
                </a:lnTo>
                <a:lnTo>
                  <a:pt x="4523740" y="438960"/>
                </a:lnTo>
                <a:lnTo>
                  <a:pt x="4556760" y="477731"/>
                </a:lnTo>
                <a:lnTo>
                  <a:pt x="4589780" y="498120"/>
                </a:lnTo>
                <a:lnTo>
                  <a:pt x="4622800" y="507330"/>
                </a:lnTo>
                <a:lnTo>
                  <a:pt x="4655820" y="513355"/>
                </a:lnTo>
                <a:lnTo>
                  <a:pt x="4688840" y="521662"/>
                </a:lnTo>
                <a:lnTo>
                  <a:pt x="4721860" y="533273"/>
                </a:lnTo>
                <a:lnTo>
                  <a:pt x="4754880" y="545004"/>
                </a:lnTo>
                <a:lnTo>
                  <a:pt x="4787900" y="551834"/>
                </a:lnTo>
                <a:lnTo>
                  <a:pt x="4820920" y="550150"/>
                </a:lnTo>
                <a:lnTo>
                  <a:pt x="4853940" y="540043"/>
                </a:lnTo>
                <a:lnTo>
                  <a:pt x="4886960" y="525335"/>
                </a:lnTo>
                <a:lnTo>
                  <a:pt x="4919980" y="511453"/>
                </a:lnTo>
                <a:lnTo>
                  <a:pt x="4953000" y="502528"/>
                </a:lnTo>
                <a:lnTo>
                  <a:pt x="4986020" y="499529"/>
                </a:lnTo>
                <a:lnTo>
                  <a:pt x="5019040" y="500494"/>
                </a:lnTo>
                <a:lnTo>
                  <a:pt x="5052060" y="502512"/>
                </a:lnTo>
                <a:lnTo>
                  <a:pt x="5085080" y="503986"/>
                </a:lnTo>
                <a:lnTo>
                  <a:pt x="5118100" y="505619"/>
                </a:lnTo>
                <a:lnTo>
                  <a:pt x="5151120" y="509501"/>
                </a:lnTo>
                <a:lnTo>
                  <a:pt x="5184140" y="517028"/>
                </a:lnTo>
                <a:lnTo>
                  <a:pt x="5217160" y="527210"/>
                </a:lnTo>
                <a:lnTo>
                  <a:pt x="5250180" y="536686"/>
                </a:lnTo>
                <a:lnTo>
                  <a:pt x="5283200" y="541564"/>
                </a:lnTo>
                <a:lnTo>
                  <a:pt x="5316220" y="539936"/>
                </a:lnTo>
                <a:lnTo>
                  <a:pt x="5349240" y="533361"/>
                </a:lnTo>
                <a:lnTo>
                  <a:pt x="5382260" y="526222"/>
                </a:lnTo>
                <a:lnTo>
                  <a:pt x="5415280" y="523223"/>
                </a:lnTo>
                <a:lnTo>
                  <a:pt x="5448300" y="526545"/>
                </a:lnTo>
                <a:lnTo>
                  <a:pt x="5481320" y="534436"/>
                </a:lnTo>
                <a:lnTo>
                  <a:pt x="5514340" y="542160"/>
                </a:lnTo>
                <a:lnTo>
                  <a:pt x="5547360" y="544738"/>
                </a:lnTo>
                <a:lnTo>
                  <a:pt x="5580380" y="539804"/>
                </a:lnTo>
                <a:lnTo>
                  <a:pt x="5613400" y="528837"/>
                </a:lnTo>
                <a:lnTo>
                  <a:pt x="5646420" y="516097"/>
                </a:lnTo>
                <a:lnTo>
                  <a:pt x="5679440" y="506040"/>
                </a:lnTo>
                <a:lnTo>
                  <a:pt x="5712460" y="500923"/>
                </a:lnTo>
                <a:lnTo>
                  <a:pt x="5745480" y="500058"/>
                </a:lnTo>
                <a:lnTo>
                  <a:pt x="5778500" y="501064"/>
                </a:lnTo>
                <a:lnTo>
                  <a:pt x="5811520" y="502072"/>
                </a:lnTo>
                <a:lnTo>
                  <a:pt x="5844540" y="503269"/>
                </a:lnTo>
                <a:lnTo>
                  <a:pt x="5877560" y="506682"/>
                </a:lnTo>
                <a:lnTo>
                  <a:pt x="5910580" y="514338"/>
                </a:lnTo>
                <a:lnTo>
                  <a:pt x="5943600" y="526157"/>
                </a:lnTo>
              </a:path>
            </a:pathLst>
          </a:custGeom>
          <a:solidFill>
            <a:srgbClr val="FFFFFF">
              <a:alpha val="0"/>
            </a:srgbClr>
          </a:solidFill>
          <a:ln w="22225">
            <a:solidFill>
              <a:srgbClr val="C8453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783080" y="3401568"/>
            <a:ext cx="594360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70" name="Shape 67"/>
          <p:cNvSpPr/>
          <p:nvPr/>
        </p:nvSpPr>
        <p:spPr>
          <a:xfrm>
            <a:off x="1783080" y="2772994"/>
            <a:ext cx="5943600" cy="628574"/>
          </a:xfrm>
          <a:custGeom>
            <a:avLst/>
            <a:gdLst/>
            <a:ahLst/>
            <a:cxnLst/>
            <a:rect l="l" t="t" r="r" b="b"/>
            <a:pathLst>
              <a:path w="5943600" h="628574">
                <a:moveTo>
                  <a:pt x="0" y="628574"/>
                </a:moveTo>
                <a:lnTo>
                  <a:pt x="0" y="584665"/>
                </a:lnTo>
                <a:lnTo>
                  <a:pt x="33020" y="584650"/>
                </a:lnTo>
                <a:lnTo>
                  <a:pt x="66040" y="584625"/>
                </a:lnTo>
                <a:lnTo>
                  <a:pt x="99060" y="584582"/>
                </a:lnTo>
                <a:lnTo>
                  <a:pt x="132080" y="584511"/>
                </a:lnTo>
                <a:lnTo>
                  <a:pt x="165100" y="584396"/>
                </a:lnTo>
                <a:lnTo>
                  <a:pt x="198120" y="584217"/>
                </a:lnTo>
                <a:lnTo>
                  <a:pt x="231140" y="583945"/>
                </a:lnTo>
                <a:lnTo>
                  <a:pt x="264160" y="583541"/>
                </a:lnTo>
                <a:lnTo>
                  <a:pt x="297180" y="582960"/>
                </a:lnTo>
                <a:lnTo>
                  <a:pt x="330200" y="582145"/>
                </a:lnTo>
                <a:lnTo>
                  <a:pt x="363220" y="581035"/>
                </a:lnTo>
                <a:lnTo>
                  <a:pt x="396240" y="579568"/>
                </a:lnTo>
                <a:lnTo>
                  <a:pt x="429260" y="577685"/>
                </a:lnTo>
                <a:lnTo>
                  <a:pt x="462280" y="575342"/>
                </a:lnTo>
                <a:lnTo>
                  <a:pt x="495300" y="572518"/>
                </a:lnTo>
                <a:lnTo>
                  <a:pt x="528320" y="569226"/>
                </a:lnTo>
                <a:lnTo>
                  <a:pt x="561340" y="565522"/>
                </a:lnTo>
                <a:lnTo>
                  <a:pt x="594360" y="561510"/>
                </a:lnTo>
                <a:lnTo>
                  <a:pt x="627380" y="557339"/>
                </a:lnTo>
                <a:lnTo>
                  <a:pt x="660400" y="553203"/>
                </a:lnTo>
                <a:lnTo>
                  <a:pt x="693420" y="549325"/>
                </a:lnTo>
                <a:lnTo>
                  <a:pt x="726440" y="545934"/>
                </a:lnTo>
                <a:lnTo>
                  <a:pt x="759460" y="543252"/>
                </a:lnTo>
                <a:lnTo>
                  <a:pt x="792480" y="541459"/>
                </a:lnTo>
                <a:lnTo>
                  <a:pt x="825500" y="540682"/>
                </a:lnTo>
                <a:lnTo>
                  <a:pt x="858520" y="540975"/>
                </a:lnTo>
                <a:lnTo>
                  <a:pt x="891540" y="542313"/>
                </a:lnTo>
                <a:lnTo>
                  <a:pt x="924560" y="544594"/>
                </a:lnTo>
                <a:lnTo>
                  <a:pt x="957580" y="547653"/>
                </a:lnTo>
                <a:lnTo>
                  <a:pt x="990600" y="551281"/>
                </a:lnTo>
                <a:lnTo>
                  <a:pt x="1023620" y="555243"/>
                </a:lnTo>
                <a:lnTo>
                  <a:pt x="1056640" y="559308"/>
                </a:lnTo>
                <a:lnTo>
                  <a:pt x="1089660" y="563263"/>
                </a:lnTo>
                <a:lnTo>
                  <a:pt x="1122680" y="566934"/>
                </a:lnTo>
                <a:lnTo>
                  <a:pt x="1155700" y="570190"/>
                </a:lnTo>
                <a:lnTo>
                  <a:pt x="1188720" y="572948"/>
                </a:lnTo>
                <a:lnTo>
                  <a:pt x="1221740" y="575167"/>
                </a:lnTo>
                <a:lnTo>
                  <a:pt x="1254760" y="576841"/>
                </a:lnTo>
                <a:lnTo>
                  <a:pt x="1287780" y="577990"/>
                </a:lnTo>
                <a:lnTo>
                  <a:pt x="1320800" y="578646"/>
                </a:lnTo>
                <a:lnTo>
                  <a:pt x="1353820" y="578847"/>
                </a:lnTo>
                <a:lnTo>
                  <a:pt x="1386840" y="578623"/>
                </a:lnTo>
                <a:lnTo>
                  <a:pt x="1419860" y="577994"/>
                </a:lnTo>
                <a:lnTo>
                  <a:pt x="1452880" y="576964"/>
                </a:lnTo>
                <a:lnTo>
                  <a:pt x="1485900" y="575518"/>
                </a:lnTo>
                <a:lnTo>
                  <a:pt x="1518920" y="573620"/>
                </a:lnTo>
                <a:lnTo>
                  <a:pt x="1551940" y="571214"/>
                </a:lnTo>
                <a:lnTo>
                  <a:pt x="1584960" y="568218"/>
                </a:lnTo>
                <a:lnTo>
                  <a:pt x="1617980" y="564528"/>
                </a:lnTo>
                <a:lnTo>
                  <a:pt x="1651000" y="560017"/>
                </a:lnTo>
                <a:lnTo>
                  <a:pt x="1684020" y="554533"/>
                </a:lnTo>
                <a:lnTo>
                  <a:pt x="1717040" y="547900"/>
                </a:lnTo>
                <a:lnTo>
                  <a:pt x="1750060" y="539920"/>
                </a:lnTo>
                <a:lnTo>
                  <a:pt x="1783080" y="530377"/>
                </a:lnTo>
                <a:lnTo>
                  <a:pt x="1816100" y="519046"/>
                </a:lnTo>
                <a:lnTo>
                  <a:pt x="1849120" y="505701"/>
                </a:lnTo>
                <a:lnTo>
                  <a:pt x="1882140" y="490135"/>
                </a:lnTo>
                <a:lnTo>
                  <a:pt x="1915160" y="472184"/>
                </a:lnTo>
                <a:lnTo>
                  <a:pt x="1948180" y="451748"/>
                </a:lnTo>
                <a:lnTo>
                  <a:pt x="1981200" y="428824"/>
                </a:lnTo>
                <a:lnTo>
                  <a:pt x="2014220" y="403529"/>
                </a:lnTo>
                <a:lnTo>
                  <a:pt x="2047240" y="376124"/>
                </a:lnTo>
                <a:lnTo>
                  <a:pt x="2080260" y="347011"/>
                </a:lnTo>
                <a:lnTo>
                  <a:pt x="2113280" y="316726"/>
                </a:lnTo>
                <a:lnTo>
                  <a:pt x="2146300" y="285899"/>
                </a:lnTo>
                <a:lnTo>
                  <a:pt x="2179320" y="255208"/>
                </a:lnTo>
                <a:lnTo>
                  <a:pt x="2212340" y="225321"/>
                </a:lnTo>
                <a:lnTo>
                  <a:pt x="2245360" y="196834"/>
                </a:lnTo>
                <a:lnTo>
                  <a:pt x="2278380" y="170232"/>
                </a:lnTo>
                <a:lnTo>
                  <a:pt x="2311400" y="145863"/>
                </a:lnTo>
                <a:lnTo>
                  <a:pt x="2344420" y="123927"/>
                </a:lnTo>
                <a:lnTo>
                  <a:pt x="2377440" y="104491"/>
                </a:lnTo>
                <a:lnTo>
                  <a:pt x="2410460" y="87511"/>
                </a:lnTo>
                <a:lnTo>
                  <a:pt x="2443480" y="72856"/>
                </a:lnTo>
                <a:lnTo>
                  <a:pt x="2476500" y="60342"/>
                </a:lnTo>
                <a:lnTo>
                  <a:pt x="2509520" y="49753"/>
                </a:lnTo>
                <a:lnTo>
                  <a:pt x="2542540" y="40860"/>
                </a:lnTo>
                <a:lnTo>
                  <a:pt x="2575560" y="33440"/>
                </a:lnTo>
                <a:lnTo>
                  <a:pt x="2608580" y="27282"/>
                </a:lnTo>
                <a:lnTo>
                  <a:pt x="2641600" y="22195"/>
                </a:lnTo>
                <a:lnTo>
                  <a:pt x="2674620" y="18008"/>
                </a:lnTo>
                <a:lnTo>
                  <a:pt x="2707640" y="14572"/>
                </a:lnTo>
                <a:lnTo>
                  <a:pt x="2740660" y="11759"/>
                </a:lnTo>
                <a:lnTo>
                  <a:pt x="2773680" y="9462"/>
                </a:lnTo>
                <a:lnTo>
                  <a:pt x="2806700" y="7589"/>
                </a:lnTo>
                <a:lnTo>
                  <a:pt x="2839720" y="6065"/>
                </a:lnTo>
                <a:lnTo>
                  <a:pt x="2872740" y="4825"/>
                </a:lnTo>
                <a:lnTo>
                  <a:pt x="2905760" y="3818"/>
                </a:lnTo>
                <a:lnTo>
                  <a:pt x="2938780" y="3002"/>
                </a:lnTo>
                <a:lnTo>
                  <a:pt x="2971800" y="2341"/>
                </a:lnTo>
                <a:lnTo>
                  <a:pt x="3004820" y="1807"/>
                </a:lnTo>
                <a:lnTo>
                  <a:pt x="3037840" y="1376"/>
                </a:lnTo>
                <a:lnTo>
                  <a:pt x="3070860" y="1029"/>
                </a:lnTo>
                <a:lnTo>
                  <a:pt x="3103880" y="753"/>
                </a:lnTo>
                <a:lnTo>
                  <a:pt x="3136900" y="533"/>
                </a:lnTo>
                <a:lnTo>
                  <a:pt x="3169920" y="360"/>
                </a:lnTo>
                <a:lnTo>
                  <a:pt x="3202940" y="228"/>
                </a:lnTo>
                <a:lnTo>
                  <a:pt x="3235960" y="129"/>
                </a:lnTo>
                <a:lnTo>
                  <a:pt x="3268980" y="60"/>
                </a:lnTo>
                <a:lnTo>
                  <a:pt x="3302000" y="18"/>
                </a:lnTo>
                <a:lnTo>
                  <a:pt x="3335020" y="0"/>
                </a:lnTo>
                <a:lnTo>
                  <a:pt x="3368040" y="6"/>
                </a:lnTo>
                <a:lnTo>
                  <a:pt x="3401060" y="36"/>
                </a:lnTo>
                <a:lnTo>
                  <a:pt x="3434080" y="91"/>
                </a:lnTo>
                <a:lnTo>
                  <a:pt x="3467100" y="175"/>
                </a:lnTo>
                <a:lnTo>
                  <a:pt x="3500120" y="290"/>
                </a:lnTo>
                <a:lnTo>
                  <a:pt x="3533140" y="441"/>
                </a:lnTo>
                <a:lnTo>
                  <a:pt x="3566160" y="636"/>
                </a:lnTo>
                <a:lnTo>
                  <a:pt x="3599180" y="883"/>
                </a:lnTo>
                <a:lnTo>
                  <a:pt x="3632200" y="1193"/>
                </a:lnTo>
                <a:lnTo>
                  <a:pt x="3665220" y="1580"/>
                </a:lnTo>
                <a:lnTo>
                  <a:pt x="3698240" y="2060"/>
                </a:lnTo>
                <a:lnTo>
                  <a:pt x="3731260" y="2654"/>
                </a:lnTo>
                <a:lnTo>
                  <a:pt x="3764280" y="3389"/>
                </a:lnTo>
                <a:lnTo>
                  <a:pt x="3797300" y="4295"/>
                </a:lnTo>
                <a:lnTo>
                  <a:pt x="3830320" y="5413"/>
                </a:lnTo>
                <a:lnTo>
                  <a:pt x="3863340" y="6788"/>
                </a:lnTo>
                <a:lnTo>
                  <a:pt x="3896360" y="8478"/>
                </a:lnTo>
                <a:lnTo>
                  <a:pt x="3929380" y="10553"/>
                </a:lnTo>
                <a:lnTo>
                  <a:pt x="3962400" y="13095"/>
                </a:lnTo>
                <a:lnTo>
                  <a:pt x="3995420" y="16204"/>
                </a:lnTo>
                <a:lnTo>
                  <a:pt x="4028440" y="19999"/>
                </a:lnTo>
                <a:lnTo>
                  <a:pt x="4061460" y="24616"/>
                </a:lnTo>
                <a:lnTo>
                  <a:pt x="4094480" y="30216"/>
                </a:lnTo>
                <a:lnTo>
                  <a:pt x="4127500" y="36979"/>
                </a:lnTo>
                <a:lnTo>
                  <a:pt x="4160520" y="45108"/>
                </a:lnTo>
                <a:lnTo>
                  <a:pt x="4193540" y="54821"/>
                </a:lnTo>
                <a:lnTo>
                  <a:pt x="4226560" y="66345"/>
                </a:lnTo>
                <a:lnTo>
                  <a:pt x="4259580" y="79903"/>
                </a:lnTo>
                <a:lnTo>
                  <a:pt x="4292600" y="95700"/>
                </a:lnTo>
                <a:lnTo>
                  <a:pt x="4325620" y="113897"/>
                </a:lnTo>
                <a:lnTo>
                  <a:pt x="4358640" y="134584"/>
                </a:lnTo>
                <a:lnTo>
                  <a:pt x="4391660" y="157753"/>
                </a:lnTo>
                <a:lnTo>
                  <a:pt x="4424680" y="183272"/>
                </a:lnTo>
                <a:lnTo>
                  <a:pt x="4457700" y="210869"/>
                </a:lnTo>
                <a:lnTo>
                  <a:pt x="4490720" y="240125"/>
                </a:lnTo>
                <a:lnTo>
                  <a:pt x="4523740" y="270494"/>
                </a:lnTo>
                <a:lnTo>
                  <a:pt x="4556760" y="301338"/>
                </a:lnTo>
                <a:lnTo>
                  <a:pt x="4589780" y="331977"/>
                </a:lnTo>
                <a:lnTo>
                  <a:pt x="4622800" y="361750"/>
                </a:lnTo>
                <a:lnTo>
                  <a:pt x="4655820" y="390068"/>
                </a:lnTo>
                <a:lnTo>
                  <a:pt x="4688840" y="416460"/>
                </a:lnTo>
                <a:lnTo>
                  <a:pt x="4721860" y="440593"/>
                </a:lnTo>
                <a:lnTo>
                  <a:pt x="4754880" y="462280"/>
                </a:lnTo>
                <a:lnTo>
                  <a:pt x="4787900" y="481466"/>
                </a:lnTo>
                <a:lnTo>
                  <a:pt x="4820920" y="498207"/>
                </a:lnTo>
                <a:lnTo>
                  <a:pt x="4853940" y="512639"/>
                </a:lnTo>
                <a:lnTo>
                  <a:pt x="4886960" y="524951"/>
                </a:lnTo>
                <a:lnTo>
                  <a:pt x="4919980" y="535360"/>
                </a:lnTo>
                <a:lnTo>
                  <a:pt x="4953000" y="544096"/>
                </a:lnTo>
                <a:lnTo>
                  <a:pt x="4986020" y="551381"/>
                </a:lnTo>
                <a:lnTo>
                  <a:pt x="5019040" y="557424"/>
                </a:lnTo>
                <a:lnTo>
                  <a:pt x="5052060" y="562414"/>
                </a:lnTo>
                <a:lnTo>
                  <a:pt x="5085080" y="566521"/>
                </a:lnTo>
                <a:lnTo>
                  <a:pt x="5118100" y="569890"/>
                </a:lnTo>
                <a:lnTo>
                  <a:pt x="5151120" y="572647"/>
                </a:lnTo>
                <a:lnTo>
                  <a:pt x="5184140" y="574900"/>
                </a:lnTo>
                <a:lnTo>
                  <a:pt x="5217160" y="576736"/>
                </a:lnTo>
                <a:lnTo>
                  <a:pt x="5250180" y="578232"/>
                </a:lnTo>
                <a:lnTo>
                  <a:pt x="5283200" y="579449"/>
                </a:lnTo>
                <a:lnTo>
                  <a:pt x="5316220" y="580438"/>
                </a:lnTo>
                <a:lnTo>
                  <a:pt x="5349240" y="581241"/>
                </a:lnTo>
                <a:lnTo>
                  <a:pt x="5382260" y="581893"/>
                </a:lnTo>
                <a:lnTo>
                  <a:pt x="5415280" y="582422"/>
                </a:lnTo>
                <a:lnTo>
                  <a:pt x="5448300" y="582851"/>
                </a:lnTo>
                <a:lnTo>
                  <a:pt x="5481320" y="583199"/>
                </a:lnTo>
                <a:lnTo>
                  <a:pt x="5514340" y="583481"/>
                </a:lnTo>
                <a:lnTo>
                  <a:pt x="5547360" y="583709"/>
                </a:lnTo>
                <a:lnTo>
                  <a:pt x="5580380" y="583894"/>
                </a:lnTo>
                <a:lnTo>
                  <a:pt x="5613400" y="584044"/>
                </a:lnTo>
                <a:lnTo>
                  <a:pt x="5646420" y="584166"/>
                </a:lnTo>
                <a:lnTo>
                  <a:pt x="5679440" y="584264"/>
                </a:lnTo>
                <a:lnTo>
                  <a:pt x="5712460" y="584344"/>
                </a:lnTo>
                <a:lnTo>
                  <a:pt x="5745480" y="584408"/>
                </a:lnTo>
                <a:lnTo>
                  <a:pt x="5778500" y="584460"/>
                </a:lnTo>
                <a:lnTo>
                  <a:pt x="5811520" y="584503"/>
                </a:lnTo>
                <a:lnTo>
                  <a:pt x="5844540" y="584537"/>
                </a:lnTo>
                <a:lnTo>
                  <a:pt x="5877560" y="584565"/>
                </a:lnTo>
                <a:lnTo>
                  <a:pt x="5910580" y="584587"/>
                </a:lnTo>
                <a:lnTo>
                  <a:pt x="5943600" y="584606"/>
                </a:lnTo>
                <a:lnTo>
                  <a:pt x="5943600" y="628574"/>
                </a:lnTo>
                <a:close/>
              </a:path>
            </a:pathLst>
          </a:custGeom>
          <a:solidFill>
            <a:srgbClr val="D3EEE8">
              <a:alpha val="75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1783080" y="2772994"/>
            <a:ext cx="5943600" cy="584665"/>
          </a:xfrm>
          <a:custGeom>
            <a:avLst/>
            <a:gdLst/>
            <a:ahLst/>
            <a:cxnLst/>
            <a:rect l="l" t="t" r="r" b="b"/>
            <a:pathLst>
              <a:path w="5943600" h="584665">
                <a:moveTo>
                  <a:pt x="0" y="584665"/>
                </a:moveTo>
                <a:lnTo>
                  <a:pt x="33020" y="584650"/>
                </a:lnTo>
                <a:lnTo>
                  <a:pt x="66040" y="584625"/>
                </a:lnTo>
                <a:lnTo>
                  <a:pt x="99060" y="584582"/>
                </a:lnTo>
                <a:lnTo>
                  <a:pt x="132080" y="584511"/>
                </a:lnTo>
                <a:lnTo>
                  <a:pt x="165100" y="584396"/>
                </a:lnTo>
                <a:lnTo>
                  <a:pt x="198120" y="584217"/>
                </a:lnTo>
                <a:lnTo>
                  <a:pt x="231140" y="583945"/>
                </a:lnTo>
                <a:lnTo>
                  <a:pt x="264160" y="583541"/>
                </a:lnTo>
                <a:lnTo>
                  <a:pt x="297180" y="582960"/>
                </a:lnTo>
                <a:lnTo>
                  <a:pt x="330200" y="582145"/>
                </a:lnTo>
                <a:lnTo>
                  <a:pt x="363220" y="581035"/>
                </a:lnTo>
                <a:lnTo>
                  <a:pt x="396240" y="579568"/>
                </a:lnTo>
                <a:lnTo>
                  <a:pt x="429260" y="577685"/>
                </a:lnTo>
                <a:lnTo>
                  <a:pt x="462280" y="575342"/>
                </a:lnTo>
                <a:lnTo>
                  <a:pt x="495300" y="572518"/>
                </a:lnTo>
                <a:lnTo>
                  <a:pt x="528320" y="569226"/>
                </a:lnTo>
                <a:lnTo>
                  <a:pt x="561340" y="565522"/>
                </a:lnTo>
                <a:lnTo>
                  <a:pt x="594360" y="561510"/>
                </a:lnTo>
                <a:lnTo>
                  <a:pt x="627380" y="557339"/>
                </a:lnTo>
                <a:lnTo>
                  <a:pt x="660400" y="553203"/>
                </a:lnTo>
                <a:lnTo>
                  <a:pt x="693420" y="549325"/>
                </a:lnTo>
                <a:lnTo>
                  <a:pt x="726440" y="545934"/>
                </a:lnTo>
                <a:lnTo>
                  <a:pt x="759460" y="543252"/>
                </a:lnTo>
                <a:lnTo>
                  <a:pt x="792480" y="541459"/>
                </a:lnTo>
                <a:lnTo>
                  <a:pt x="825500" y="540682"/>
                </a:lnTo>
                <a:lnTo>
                  <a:pt x="858520" y="540975"/>
                </a:lnTo>
                <a:lnTo>
                  <a:pt x="891540" y="542313"/>
                </a:lnTo>
                <a:lnTo>
                  <a:pt x="924560" y="544594"/>
                </a:lnTo>
                <a:lnTo>
                  <a:pt x="957580" y="547653"/>
                </a:lnTo>
                <a:lnTo>
                  <a:pt x="990600" y="551281"/>
                </a:lnTo>
                <a:lnTo>
                  <a:pt x="1023620" y="555243"/>
                </a:lnTo>
                <a:lnTo>
                  <a:pt x="1056640" y="559308"/>
                </a:lnTo>
                <a:lnTo>
                  <a:pt x="1089660" y="563263"/>
                </a:lnTo>
                <a:lnTo>
                  <a:pt x="1122680" y="566934"/>
                </a:lnTo>
                <a:lnTo>
                  <a:pt x="1155700" y="570190"/>
                </a:lnTo>
                <a:lnTo>
                  <a:pt x="1188720" y="572948"/>
                </a:lnTo>
                <a:lnTo>
                  <a:pt x="1221740" y="575167"/>
                </a:lnTo>
                <a:lnTo>
                  <a:pt x="1254760" y="576841"/>
                </a:lnTo>
                <a:lnTo>
                  <a:pt x="1287780" y="577990"/>
                </a:lnTo>
                <a:lnTo>
                  <a:pt x="1320800" y="578646"/>
                </a:lnTo>
                <a:lnTo>
                  <a:pt x="1353820" y="578847"/>
                </a:lnTo>
                <a:lnTo>
                  <a:pt x="1386840" y="578623"/>
                </a:lnTo>
                <a:lnTo>
                  <a:pt x="1419860" y="577994"/>
                </a:lnTo>
                <a:lnTo>
                  <a:pt x="1452880" y="576964"/>
                </a:lnTo>
                <a:lnTo>
                  <a:pt x="1485900" y="575518"/>
                </a:lnTo>
                <a:lnTo>
                  <a:pt x="1518920" y="573620"/>
                </a:lnTo>
                <a:lnTo>
                  <a:pt x="1551940" y="571214"/>
                </a:lnTo>
                <a:lnTo>
                  <a:pt x="1584960" y="568218"/>
                </a:lnTo>
                <a:lnTo>
                  <a:pt x="1617980" y="564528"/>
                </a:lnTo>
                <a:lnTo>
                  <a:pt x="1651000" y="560017"/>
                </a:lnTo>
                <a:lnTo>
                  <a:pt x="1684020" y="554533"/>
                </a:lnTo>
                <a:lnTo>
                  <a:pt x="1717040" y="547900"/>
                </a:lnTo>
                <a:lnTo>
                  <a:pt x="1750060" y="539920"/>
                </a:lnTo>
                <a:lnTo>
                  <a:pt x="1783080" y="530377"/>
                </a:lnTo>
                <a:lnTo>
                  <a:pt x="1816100" y="519046"/>
                </a:lnTo>
                <a:lnTo>
                  <a:pt x="1849120" y="505701"/>
                </a:lnTo>
                <a:lnTo>
                  <a:pt x="1882140" y="490135"/>
                </a:lnTo>
                <a:lnTo>
                  <a:pt x="1915160" y="472184"/>
                </a:lnTo>
                <a:lnTo>
                  <a:pt x="1948180" y="451748"/>
                </a:lnTo>
                <a:lnTo>
                  <a:pt x="1981200" y="428824"/>
                </a:lnTo>
                <a:lnTo>
                  <a:pt x="2014220" y="403529"/>
                </a:lnTo>
                <a:lnTo>
                  <a:pt x="2047240" y="376124"/>
                </a:lnTo>
                <a:lnTo>
                  <a:pt x="2080260" y="347011"/>
                </a:lnTo>
                <a:lnTo>
                  <a:pt x="2113280" y="316726"/>
                </a:lnTo>
                <a:lnTo>
                  <a:pt x="2146300" y="285899"/>
                </a:lnTo>
                <a:lnTo>
                  <a:pt x="2179320" y="255208"/>
                </a:lnTo>
                <a:lnTo>
                  <a:pt x="2212340" y="225321"/>
                </a:lnTo>
                <a:lnTo>
                  <a:pt x="2245360" y="196834"/>
                </a:lnTo>
                <a:lnTo>
                  <a:pt x="2278380" y="170232"/>
                </a:lnTo>
                <a:lnTo>
                  <a:pt x="2311400" y="145863"/>
                </a:lnTo>
                <a:lnTo>
                  <a:pt x="2344420" y="123927"/>
                </a:lnTo>
                <a:lnTo>
                  <a:pt x="2377440" y="104491"/>
                </a:lnTo>
                <a:lnTo>
                  <a:pt x="2410460" y="87511"/>
                </a:lnTo>
                <a:lnTo>
                  <a:pt x="2443480" y="72856"/>
                </a:lnTo>
                <a:lnTo>
                  <a:pt x="2476500" y="60342"/>
                </a:lnTo>
                <a:lnTo>
                  <a:pt x="2509520" y="49753"/>
                </a:lnTo>
                <a:lnTo>
                  <a:pt x="2542540" y="40860"/>
                </a:lnTo>
                <a:lnTo>
                  <a:pt x="2575560" y="33440"/>
                </a:lnTo>
                <a:lnTo>
                  <a:pt x="2608580" y="27282"/>
                </a:lnTo>
                <a:lnTo>
                  <a:pt x="2641600" y="22195"/>
                </a:lnTo>
                <a:lnTo>
                  <a:pt x="2674620" y="18008"/>
                </a:lnTo>
                <a:lnTo>
                  <a:pt x="2707640" y="14572"/>
                </a:lnTo>
                <a:lnTo>
                  <a:pt x="2740660" y="11759"/>
                </a:lnTo>
                <a:lnTo>
                  <a:pt x="2773680" y="9462"/>
                </a:lnTo>
                <a:lnTo>
                  <a:pt x="2806700" y="7589"/>
                </a:lnTo>
                <a:lnTo>
                  <a:pt x="2839720" y="6065"/>
                </a:lnTo>
                <a:lnTo>
                  <a:pt x="2872740" y="4825"/>
                </a:lnTo>
                <a:lnTo>
                  <a:pt x="2905760" y="3818"/>
                </a:lnTo>
                <a:lnTo>
                  <a:pt x="2938780" y="3002"/>
                </a:lnTo>
                <a:lnTo>
                  <a:pt x="2971800" y="2341"/>
                </a:lnTo>
                <a:lnTo>
                  <a:pt x="3004820" y="1807"/>
                </a:lnTo>
                <a:lnTo>
                  <a:pt x="3037840" y="1376"/>
                </a:lnTo>
                <a:lnTo>
                  <a:pt x="3070860" y="1029"/>
                </a:lnTo>
                <a:lnTo>
                  <a:pt x="3103880" y="753"/>
                </a:lnTo>
                <a:lnTo>
                  <a:pt x="3136900" y="533"/>
                </a:lnTo>
                <a:lnTo>
                  <a:pt x="3169920" y="360"/>
                </a:lnTo>
                <a:lnTo>
                  <a:pt x="3202940" y="228"/>
                </a:lnTo>
                <a:lnTo>
                  <a:pt x="3235960" y="129"/>
                </a:lnTo>
                <a:lnTo>
                  <a:pt x="3268980" y="60"/>
                </a:lnTo>
                <a:lnTo>
                  <a:pt x="3302000" y="18"/>
                </a:lnTo>
                <a:lnTo>
                  <a:pt x="3335020" y="0"/>
                </a:lnTo>
                <a:lnTo>
                  <a:pt x="3368040" y="6"/>
                </a:lnTo>
                <a:lnTo>
                  <a:pt x="3401060" y="36"/>
                </a:lnTo>
                <a:lnTo>
                  <a:pt x="3434080" y="91"/>
                </a:lnTo>
                <a:lnTo>
                  <a:pt x="3467100" y="175"/>
                </a:lnTo>
                <a:lnTo>
                  <a:pt x="3500120" y="290"/>
                </a:lnTo>
                <a:lnTo>
                  <a:pt x="3533140" y="441"/>
                </a:lnTo>
                <a:lnTo>
                  <a:pt x="3566160" y="636"/>
                </a:lnTo>
                <a:lnTo>
                  <a:pt x="3599180" y="883"/>
                </a:lnTo>
                <a:lnTo>
                  <a:pt x="3632200" y="1193"/>
                </a:lnTo>
                <a:lnTo>
                  <a:pt x="3665220" y="1580"/>
                </a:lnTo>
                <a:lnTo>
                  <a:pt x="3698240" y="2060"/>
                </a:lnTo>
                <a:lnTo>
                  <a:pt x="3731260" y="2654"/>
                </a:lnTo>
                <a:lnTo>
                  <a:pt x="3764280" y="3389"/>
                </a:lnTo>
                <a:lnTo>
                  <a:pt x="3797300" y="4295"/>
                </a:lnTo>
                <a:lnTo>
                  <a:pt x="3830320" y="5413"/>
                </a:lnTo>
                <a:lnTo>
                  <a:pt x="3863340" y="6788"/>
                </a:lnTo>
                <a:lnTo>
                  <a:pt x="3896360" y="8478"/>
                </a:lnTo>
                <a:lnTo>
                  <a:pt x="3929380" y="10553"/>
                </a:lnTo>
                <a:lnTo>
                  <a:pt x="3962400" y="13095"/>
                </a:lnTo>
                <a:lnTo>
                  <a:pt x="3995420" y="16204"/>
                </a:lnTo>
                <a:lnTo>
                  <a:pt x="4028440" y="19999"/>
                </a:lnTo>
                <a:lnTo>
                  <a:pt x="4061460" y="24616"/>
                </a:lnTo>
                <a:lnTo>
                  <a:pt x="4094480" y="30216"/>
                </a:lnTo>
                <a:lnTo>
                  <a:pt x="4127500" y="36979"/>
                </a:lnTo>
                <a:lnTo>
                  <a:pt x="4160520" y="45108"/>
                </a:lnTo>
                <a:lnTo>
                  <a:pt x="4193540" y="54821"/>
                </a:lnTo>
                <a:lnTo>
                  <a:pt x="4226560" y="66345"/>
                </a:lnTo>
                <a:lnTo>
                  <a:pt x="4259580" y="79903"/>
                </a:lnTo>
                <a:lnTo>
                  <a:pt x="4292600" y="95700"/>
                </a:lnTo>
                <a:lnTo>
                  <a:pt x="4325620" y="113897"/>
                </a:lnTo>
                <a:lnTo>
                  <a:pt x="4358640" y="134584"/>
                </a:lnTo>
                <a:lnTo>
                  <a:pt x="4391660" y="157753"/>
                </a:lnTo>
                <a:lnTo>
                  <a:pt x="4424680" y="183272"/>
                </a:lnTo>
                <a:lnTo>
                  <a:pt x="4457700" y="210869"/>
                </a:lnTo>
                <a:lnTo>
                  <a:pt x="4490720" y="240125"/>
                </a:lnTo>
                <a:lnTo>
                  <a:pt x="4523740" y="270494"/>
                </a:lnTo>
                <a:lnTo>
                  <a:pt x="4556760" y="301338"/>
                </a:lnTo>
                <a:lnTo>
                  <a:pt x="4589780" y="331977"/>
                </a:lnTo>
                <a:lnTo>
                  <a:pt x="4622800" y="361750"/>
                </a:lnTo>
                <a:lnTo>
                  <a:pt x="4655820" y="390068"/>
                </a:lnTo>
                <a:lnTo>
                  <a:pt x="4688840" y="416460"/>
                </a:lnTo>
                <a:lnTo>
                  <a:pt x="4721860" y="440593"/>
                </a:lnTo>
                <a:lnTo>
                  <a:pt x="4754880" y="462280"/>
                </a:lnTo>
                <a:lnTo>
                  <a:pt x="4787900" y="481466"/>
                </a:lnTo>
                <a:lnTo>
                  <a:pt x="4820920" y="498207"/>
                </a:lnTo>
                <a:lnTo>
                  <a:pt x="4853940" y="512639"/>
                </a:lnTo>
                <a:lnTo>
                  <a:pt x="4886960" y="524951"/>
                </a:lnTo>
                <a:lnTo>
                  <a:pt x="4919980" y="535360"/>
                </a:lnTo>
                <a:lnTo>
                  <a:pt x="4953000" y="544096"/>
                </a:lnTo>
                <a:lnTo>
                  <a:pt x="4986020" y="551381"/>
                </a:lnTo>
                <a:lnTo>
                  <a:pt x="5019040" y="557424"/>
                </a:lnTo>
                <a:lnTo>
                  <a:pt x="5052060" y="562414"/>
                </a:lnTo>
                <a:lnTo>
                  <a:pt x="5085080" y="566521"/>
                </a:lnTo>
                <a:lnTo>
                  <a:pt x="5118100" y="569890"/>
                </a:lnTo>
                <a:lnTo>
                  <a:pt x="5151120" y="572647"/>
                </a:lnTo>
                <a:lnTo>
                  <a:pt x="5184140" y="574900"/>
                </a:lnTo>
                <a:lnTo>
                  <a:pt x="5217160" y="576736"/>
                </a:lnTo>
                <a:lnTo>
                  <a:pt x="5250180" y="578232"/>
                </a:lnTo>
                <a:lnTo>
                  <a:pt x="5283200" y="579449"/>
                </a:lnTo>
                <a:lnTo>
                  <a:pt x="5316220" y="580438"/>
                </a:lnTo>
                <a:lnTo>
                  <a:pt x="5349240" y="581241"/>
                </a:lnTo>
                <a:lnTo>
                  <a:pt x="5382260" y="581893"/>
                </a:lnTo>
                <a:lnTo>
                  <a:pt x="5415280" y="582422"/>
                </a:lnTo>
                <a:lnTo>
                  <a:pt x="5448300" y="582851"/>
                </a:lnTo>
                <a:lnTo>
                  <a:pt x="5481320" y="583199"/>
                </a:lnTo>
                <a:lnTo>
                  <a:pt x="5514340" y="583481"/>
                </a:lnTo>
                <a:lnTo>
                  <a:pt x="5547360" y="583709"/>
                </a:lnTo>
                <a:lnTo>
                  <a:pt x="5580380" y="583894"/>
                </a:lnTo>
                <a:lnTo>
                  <a:pt x="5613400" y="584044"/>
                </a:lnTo>
                <a:lnTo>
                  <a:pt x="5646420" y="584166"/>
                </a:lnTo>
                <a:lnTo>
                  <a:pt x="5679440" y="584264"/>
                </a:lnTo>
                <a:lnTo>
                  <a:pt x="5712460" y="584344"/>
                </a:lnTo>
                <a:lnTo>
                  <a:pt x="5745480" y="584408"/>
                </a:lnTo>
                <a:lnTo>
                  <a:pt x="5778500" y="584460"/>
                </a:lnTo>
                <a:lnTo>
                  <a:pt x="5811520" y="584503"/>
                </a:lnTo>
                <a:lnTo>
                  <a:pt x="5844540" y="584537"/>
                </a:lnTo>
                <a:lnTo>
                  <a:pt x="5877560" y="584565"/>
                </a:lnTo>
                <a:lnTo>
                  <a:pt x="5910580" y="584587"/>
                </a:lnTo>
                <a:lnTo>
                  <a:pt x="5943600" y="584606"/>
                </a:lnTo>
              </a:path>
            </a:pathLst>
          </a:custGeom>
          <a:solidFill>
            <a:srgbClr val="FFFFFF">
              <a:alpha val="0"/>
            </a:srgbClr>
          </a:solidFill>
          <a:ln w="22225">
            <a:solidFill>
              <a:srgbClr val="2E8B7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783080" y="4096512"/>
            <a:ext cx="594360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1783080" y="3745161"/>
            <a:ext cx="5943600" cy="512286"/>
          </a:xfrm>
          <a:custGeom>
            <a:avLst/>
            <a:gdLst/>
            <a:ahLst/>
            <a:cxnLst/>
            <a:rect l="l" t="t" r="r" b="b"/>
            <a:pathLst>
              <a:path w="5943600" h="512286">
                <a:moveTo>
                  <a:pt x="0" y="351351"/>
                </a:moveTo>
                <a:lnTo>
                  <a:pt x="33020" y="351351"/>
                </a:lnTo>
                <a:lnTo>
                  <a:pt x="66040" y="351351"/>
                </a:lnTo>
                <a:lnTo>
                  <a:pt x="99060" y="351351"/>
                </a:lnTo>
                <a:lnTo>
                  <a:pt x="132080" y="351351"/>
                </a:lnTo>
                <a:lnTo>
                  <a:pt x="165100" y="351351"/>
                </a:lnTo>
                <a:lnTo>
                  <a:pt x="198120" y="351351"/>
                </a:lnTo>
                <a:lnTo>
                  <a:pt x="231140" y="351351"/>
                </a:lnTo>
                <a:lnTo>
                  <a:pt x="264160" y="351351"/>
                </a:lnTo>
                <a:lnTo>
                  <a:pt x="297180" y="351351"/>
                </a:lnTo>
                <a:lnTo>
                  <a:pt x="330200" y="351351"/>
                </a:lnTo>
                <a:lnTo>
                  <a:pt x="363220" y="351351"/>
                </a:lnTo>
                <a:lnTo>
                  <a:pt x="396240" y="351351"/>
                </a:lnTo>
                <a:lnTo>
                  <a:pt x="429260" y="351351"/>
                </a:lnTo>
                <a:lnTo>
                  <a:pt x="462280" y="351351"/>
                </a:lnTo>
                <a:lnTo>
                  <a:pt x="495300" y="351342"/>
                </a:lnTo>
                <a:lnTo>
                  <a:pt x="528320" y="351230"/>
                </a:lnTo>
                <a:lnTo>
                  <a:pt x="561340" y="350273"/>
                </a:lnTo>
                <a:lnTo>
                  <a:pt x="594360" y="345097"/>
                </a:lnTo>
                <a:lnTo>
                  <a:pt x="627380" y="327731"/>
                </a:lnTo>
                <a:lnTo>
                  <a:pt x="660400" y="293244"/>
                </a:lnTo>
                <a:lnTo>
                  <a:pt x="693420" y="258236"/>
                </a:lnTo>
                <a:lnTo>
                  <a:pt x="726440" y="254158"/>
                </a:lnTo>
                <a:lnTo>
                  <a:pt x="759460" y="285274"/>
                </a:lnTo>
                <a:lnTo>
                  <a:pt x="792480" y="322161"/>
                </a:lnTo>
                <a:lnTo>
                  <a:pt x="825500" y="343616"/>
                </a:lnTo>
                <a:lnTo>
                  <a:pt x="858520" y="354043"/>
                </a:lnTo>
                <a:lnTo>
                  <a:pt x="891540" y="368024"/>
                </a:lnTo>
                <a:lnTo>
                  <a:pt x="924560" y="394647"/>
                </a:lnTo>
                <a:lnTo>
                  <a:pt x="957580" y="423795"/>
                </a:lnTo>
                <a:lnTo>
                  <a:pt x="990600" y="430281"/>
                </a:lnTo>
                <a:lnTo>
                  <a:pt x="1023620" y="407366"/>
                </a:lnTo>
                <a:lnTo>
                  <a:pt x="1056640" y="377245"/>
                </a:lnTo>
                <a:lnTo>
                  <a:pt x="1089660" y="359148"/>
                </a:lnTo>
                <a:lnTo>
                  <a:pt x="1122680" y="352880"/>
                </a:lnTo>
                <a:lnTo>
                  <a:pt x="1155700" y="351547"/>
                </a:lnTo>
                <a:lnTo>
                  <a:pt x="1188720" y="351367"/>
                </a:lnTo>
                <a:lnTo>
                  <a:pt x="1221740" y="351352"/>
                </a:lnTo>
                <a:lnTo>
                  <a:pt x="1254760" y="351351"/>
                </a:lnTo>
                <a:lnTo>
                  <a:pt x="1287780" y="351351"/>
                </a:lnTo>
                <a:lnTo>
                  <a:pt x="1320800" y="351351"/>
                </a:lnTo>
                <a:lnTo>
                  <a:pt x="1353820" y="351351"/>
                </a:lnTo>
                <a:lnTo>
                  <a:pt x="1386840" y="351351"/>
                </a:lnTo>
                <a:lnTo>
                  <a:pt x="1419860" y="351351"/>
                </a:lnTo>
                <a:lnTo>
                  <a:pt x="1452880" y="351351"/>
                </a:lnTo>
                <a:lnTo>
                  <a:pt x="1485900" y="351351"/>
                </a:lnTo>
                <a:lnTo>
                  <a:pt x="1518920" y="351351"/>
                </a:lnTo>
                <a:lnTo>
                  <a:pt x="1551940" y="351351"/>
                </a:lnTo>
                <a:lnTo>
                  <a:pt x="1584960" y="351351"/>
                </a:lnTo>
                <a:lnTo>
                  <a:pt x="1617980" y="351351"/>
                </a:lnTo>
                <a:lnTo>
                  <a:pt x="1651000" y="351351"/>
                </a:lnTo>
                <a:lnTo>
                  <a:pt x="1684020" y="351351"/>
                </a:lnTo>
                <a:lnTo>
                  <a:pt x="1717040" y="351351"/>
                </a:lnTo>
                <a:lnTo>
                  <a:pt x="1750060" y="351351"/>
                </a:lnTo>
                <a:lnTo>
                  <a:pt x="1783080" y="351351"/>
                </a:lnTo>
                <a:lnTo>
                  <a:pt x="1816100" y="351351"/>
                </a:lnTo>
                <a:lnTo>
                  <a:pt x="1849120" y="351351"/>
                </a:lnTo>
                <a:lnTo>
                  <a:pt x="1882140" y="351351"/>
                </a:lnTo>
                <a:lnTo>
                  <a:pt x="1915160" y="351344"/>
                </a:lnTo>
                <a:lnTo>
                  <a:pt x="1948180" y="351291"/>
                </a:lnTo>
                <a:lnTo>
                  <a:pt x="1981200" y="350940"/>
                </a:lnTo>
                <a:lnTo>
                  <a:pt x="2014220" y="349130"/>
                </a:lnTo>
                <a:lnTo>
                  <a:pt x="2047240" y="341912"/>
                </a:lnTo>
                <a:lnTo>
                  <a:pt x="2080260" y="319834"/>
                </a:lnTo>
                <a:lnTo>
                  <a:pt x="2113280" y="268667"/>
                </a:lnTo>
                <a:lnTo>
                  <a:pt x="2146300" y="180907"/>
                </a:lnTo>
                <a:lnTo>
                  <a:pt x="2179320" y="75280"/>
                </a:lnTo>
                <a:lnTo>
                  <a:pt x="2212340" y="0"/>
                </a:lnTo>
                <a:lnTo>
                  <a:pt x="2245360" y="0"/>
                </a:lnTo>
                <a:lnTo>
                  <a:pt x="2278380" y="75280"/>
                </a:lnTo>
                <a:lnTo>
                  <a:pt x="2311400" y="180907"/>
                </a:lnTo>
                <a:lnTo>
                  <a:pt x="2344420" y="268667"/>
                </a:lnTo>
                <a:lnTo>
                  <a:pt x="2377440" y="319834"/>
                </a:lnTo>
                <a:lnTo>
                  <a:pt x="2410460" y="341912"/>
                </a:lnTo>
                <a:lnTo>
                  <a:pt x="2443480" y="349130"/>
                </a:lnTo>
                <a:lnTo>
                  <a:pt x="2476500" y="350940"/>
                </a:lnTo>
                <a:lnTo>
                  <a:pt x="2509520" y="351291"/>
                </a:lnTo>
                <a:lnTo>
                  <a:pt x="2542540" y="351344"/>
                </a:lnTo>
                <a:lnTo>
                  <a:pt x="2575560" y="351351"/>
                </a:lnTo>
                <a:lnTo>
                  <a:pt x="2608580" y="351351"/>
                </a:lnTo>
                <a:lnTo>
                  <a:pt x="2641600" y="351351"/>
                </a:lnTo>
                <a:lnTo>
                  <a:pt x="2674620" y="351351"/>
                </a:lnTo>
                <a:lnTo>
                  <a:pt x="2707640" y="351351"/>
                </a:lnTo>
                <a:lnTo>
                  <a:pt x="2740660" y="351351"/>
                </a:lnTo>
                <a:lnTo>
                  <a:pt x="2773680" y="351351"/>
                </a:lnTo>
                <a:lnTo>
                  <a:pt x="2806700" y="351351"/>
                </a:lnTo>
                <a:lnTo>
                  <a:pt x="2839720" y="351351"/>
                </a:lnTo>
                <a:lnTo>
                  <a:pt x="2872740" y="351351"/>
                </a:lnTo>
                <a:lnTo>
                  <a:pt x="2905760" y="351351"/>
                </a:lnTo>
                <a:lnTo>
                  <a:pt x="2938780" y="351351"/>
                </a:lnTo>
                <a:lnTo>
                  <a:pt x="2971800" y="351351"/>
                </a:lnTo>
                <a:lnTo>
                  <a:pt x="3004820" y="351351"/>
                </a:lnTo>
                <a:lnTo>
                  <a:pt x="3037840" y="351351"/>
                </a:lnTo>
                <a:lnTo>
                  <a:pt x="3070860" y="351351"/>
                </a:lnTo>
                <a:lnTo>
                  <a:pt x="3103880" y="351351"/>
                </a:lnTo>
                <a:lnTo>
                  <a:pt x="3136900" y="351351"/>
                </a:lnTo>
                <a:lnTo>
                  <a:pt x="3169920" y="351351"/>
                </a:lnTo>
                <a:lnTo>
                  <a:pt x="3202940" y="351351"/>
                </a:lnTo>
                <a:lnTo>
                  <a:pt x="3235960" y="351351"/>
                </a:lnTo>
                <a:lnTo>
                  <a:pt x="3268980" y="351351"/>
                </a:lnTo>
                <a:lnTo>
                  <a:pt x="3302000" y="351351"/>
                </a:lnTo>
                <a:lnTo>
                  <a:pt x="3335020" y="351351"/>
                </a:lnTo>
                <a:lnTo>
                  <a:pt x="3368040" y="351351"/>
                </a:lnTo>
                <a:lnTo>
                  <a:pt x="3401060" y="351351"/>
                </a:lnTo>
                <a:lnTo>
                  <a:pt x="3434080" y="351351"/>
                </a:lnTo>
                <a:lnTo>
                  <a:pt x="3467100" y="351351"/>
                </a:lnTo>
                <a:lnTo>
                  <a:pt x="3500120" y="351351"/>
                </a:lnTo>
                <a:lnTo>
                  <a:pt x="3533140" y="351351"/>
                </a:lnTo>
                <a:lnTo>
                  <a:pt x="3566160" y="351351"/>
                </a:lnTo>
                <a:lnTo>
                  <a:pt x="3599180" y="351351"/>
                </a:lnTo>
                <a:lnTo>
                  <a:pt x="3632200" y="351351"/>
                </a:lnTo>
                <a:lnTo>
                  <a:pt x="3665220" y="351351"/>
                </a:lnTo>
                <a:lnTo>
                  <a:pt x="3698240" y="351351"/>
                </a:lnTo>
                <a:lnTo>
                  <a:pt x="3731260" y="351351"/>
                </a:lnTo>
                <a:lnTo>
                  <a:pt x="3764280" y="351351"/>
                </a:lnTo>
                <a:lnTo>
                  <a:pt x="3797300" y="351351"/>
                </a:lnTo>
                <a:lnTo>
                  <a:pt x="3830320" y="351351"/>
                </a:lnTo>
                <a:lnTo>
                  <a:pt x="3863340" y="351351"/>
                </a:lnTo>
                <a:lnTo>
                  <a:pt x="3896360" y="351351"/>
                </a:lnTo>
                <a:lnTo>
                  <a:pt x="3929380" y="351351"/>
                </a:lnTo>
                <a:lnTo>
                  <a:pt x="3962400" y="351351"/>
                </a:lnTo>
                <a:lnTo>
                  <a:pt x="3995420" y="351351"/>
                </a:lnTo>
                <a:lnTo>
                  <a:pt x="4028440" y="351351"/>
                </a:lnTo>
                <a:lnTo>
                  <a:pt x="4061460" y="351351"/>
                </a:lnTo>
                <a:lnTo>
                  <a:pt x="4094480" y="351351"/>
                </a:lnTo>
                <a:lnTo>
                  <a:pt x="4127500" y="351352"/>
                </a:lnTo>
                <a:lnTo>
                  <a:pt x="4160520" y="351360"/>
                </a:lnTo>
                <a:lnTo>
                  <a:pt x="4193540" y="351423"/>
                </a:lnTo>
                <a:lnTo>
                  <a:pt x="4226560" y="351789"/>
                </a:lnTo>
                <a:lnTo>
                  <a:pt x="4259580" y="353449"/>
                </a:lnTo>
                <a:lnTo>
                  <a:pt x="4292600" y="359252"/>
                </a:lnTo>
                <a:lnTo>
                  <a:pt x="4325620" y="374734"/>
                </a:lnTo>
                <a:lnTo>
                  <a:pt x="4358640" y="405727"/>
                </a:lnTo>
                <a:lnTo>
                  <a:pt x="4391660" y="450711"/>
                </a:lnTo>
                <a:lnTo>
                  <a:pt x="4424680" y="494007"/>
                </a:lnTo>
                <a:lnTo>
                  <a:pt x="4457700" y="512286"/>
                </a:lnTo>
                <a:lnTo>
                  <a:pt x="4490720" y="494007"/>
                </a:lnTo>
                <a:lnTo>
                  <a:pt x="4523740" y="450711"/>
                </a:lnTo>
                <a:lnTo>
                  <a:pt x="4556760" y="405727"/>
                </a:lnTo>
                <a:lnTo>
                  <a:pt x="4589780" y="374734"/>
                </a:lnTo>
                <a:lnTo>
                  <a:pt x="4622800" y="359252"/>
                </a:lnTo>
                <a:lnTo>
                  <a:pt x="4655820" y="353449"/>
                </a:lnTo>
                <a:lnTo>
                  <a:pt x="4688840" y="351789"/>
                </a:lnTo>
                <a:lnTo>
                  <a:pt x="4721860" y="351423"/>
                </a:lnTo>
                <a:lnTo>
                  <a:pt x="4754880" y="351360"/>
                </a:lnTo>
                <a:lnTo>
                  <a:pt x="4787900" y="351352"/>
                </a:lnTo>
                <a:lnTo>
                  <a:pt x="4820920" y="351351"/>
                </a:lnTo>
                <a:lnTo>
                  <a:pt x="4853940" y="351351"/>
                </a:lnTo>
                <a:lnTo>
                  <a:pt x="4886960" y="351351"/>
                </a:lnTo>
                <a:lnTo>
                  <a:pt x="4919980" y="351351"/>
                </a:lnTo>
                <a:lnTo>
                  <a:pt x="4953000" y="351351"/>
                </a:lnTo>
                <a:lnTo>
                  <a:pt x="4986020" y="351351"/>
                </a:lnTo>
                <a:lnTo>
                  <a:pt x="5019040" y="351351"/>
                </a:lnTo>
                <a:lnTo>
                  <a:pt x="5052060" y="351351"/>
                </a:lnTo>
                <a:lnTo>
                  <a:pt x="5085080" y="351351"/>
                </a:lnTo>
                <a:lnTo>
                  <a:pt x="5118100" y="351351"/>
                </a:lnTo>
                <a:lnTo>
                  <a:pt x="5151120" y="351351"/>
                </a:lnTo>
                <a:lnTo>
                  <a:pt x="5184140" y="351351"/>
                </a:lnTo>
                <a:lnTo>
                  <a:pt x="5217160" y="351351"/>
                </a:lnTo>
                <a:lnTo>
                  <a:pt x="5250180" y="351351"/>
                </a:lnTo>
                <a:lnTo>
                  <a:pt x="5283200" y="351351"/>
                </a:lnTo>
                <a:lnTo>
                  <a:pt x="5316220" y="351351"/>
                </a:lnTo>
                <a:lnTo>
                  <a:pt x="5349240" y="351351"/>
                </a:lnTo>
                <a:lnTo>
                  <a:pt x="5382260" y="351351"/>
                </a:lnTo>
                <a:lnTo>
                  <a:pt x="5415280" y="351351"/>
                </a:lnTo>
                <a:lnTo>
                  <a:pt x="5448300" y="351351"/>
                </a:lnTo>
                <a:lnTo>
                  <a:pt x="5481320" y="351351"/>
                </a:lnTo>
                <a:lnTo>
                  <a:pt x="5514340" y="351351"/>
                </a:lnTo>
                <a:lnTo>
                  <a:pt x="5547360" y="351351"/>
                </a:lnTo>
                <a:lnTo>
                  <a:pt x="5580380" y="351351"/>
                </a:lnTo>
                <a:lnTo>
                  <a:pt x="5613400" y="351351"/>
                </a:lnTo>
                <a:lnTo>
                  <a:pt x="5646420" y="351351"/>
                </a:lnTo>
                <a:lnTo>
                  <a:pt x="5679440" y="351351"/>
                </a:lnTo>
                <a:lnTo>
                  <a:pt x="5712460" y="351351"/>
                </a:lnTo>
                <a:lnTo>
                  <a:pt x="5745480" y="351351"/>
                </a:lnTo>
                <a:lnTo>
                  <a:pt x="5778500" y="351351"/>
                </a:lnTo>
                <a:lnTo>
                  <a:pt x="5811520" y="351351"/>
                </a:lnTo>
                <a:lnTo>
                  <a:pt x="5844540" y="351351"/>
                </a:lnTo>
                <a:lnTo>
                  <a:pt x="5877560" y="351351"/>
                </a:lnTo>
                <a:lnTo>
                  <a:pt x="5910580" y="351351"/>
                </a:lnTo>
                <a:lnTo>
                  <a:pt x="5943600" y="351351"/>
                </a:lnTo>
              </a:path>
            </a:pathLst>
          </a:custGeom>
          <a:solidFill>
            <a:srgbClr val="FFFFFF">
              <a:alpha val="0"/>
            </a:srgbClr>
          </a:solidFill>
          <a:ln w="22225">
            <a:solidFill>
              <a:srgbClr val="D08A1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783080" y="3734410"/>
            <a:ext cx="5943600" cy="518258"/>
          </a:xfrm>
          <a:custGeom>
            <a:avLst/>
            <a:gdLst/>
            <a:ahLst/>
            <a:cxnLst/>
            <a:rect l="l" t="t" r="r" b="b"/>
            <a:pathLst>
              <a:path w="5943600" h="518258">
                <a:moveTo>
                  <a:pt x="0" y="362102"/>
                </a:moveTo>
                <a:lnTo>
                  <a:pt x="33020" y="362102"/>
                </a:lnTo>
                <a:lnTo>
                  <a:pt x="66040" y="362102"/>
                </a:lnTo>
                <a:lnTo>
                  <a:pt x="99060" y="362102"/>
                </a:lnTo>
                <a:lnTo>
                  <a:pt x="132080" y="362102"/>
                </a:lnTo>
                <a:lnTo>
                  <a:pt x="165100" y="362102"/>
                </a:lnTo>
                <a:lnTo>
                  <a:pt x="198120" y="362102"/>
                </a:lnTo>
                <a:lnTo>
                  <a:pt x="231140" y="362102"/>
                </a:lnTo>
                <a:lnTo>
                  <a:pt x="264160" y="362102"/>
                </a:lnTo>
                <a:lnTo>
                  <a:pt x="297180" y="362102"/>
                </a:lnTo>
                <a:lnTo>
                  <a:pt x="330200" y="362102"/>
                </a:lnTo>
                <a:lnTo>
                  <a:pt x="363220" y="362102"/>
                </a:lnTo>
                <a:lnTo>
                  <a:pt x="396240" y="362102"/>
                </a:lnTo>
                <a:lnTo>
                  <a:pt x="429260" y="362102"/>
                </a:lnTo>
                <a:lnTo>
                  <a:pt x="462280" y="362103"/>
                </a:lnTo>
                <a:lnTo>
                  <a:pt x="495300" y="362109"/>
                </a:lnTo>
                <a:lnTo>
                  <a:pt x="528320" y="362199"/>
                </a:lnTo>
                <a:lnTo>
                  <a:pt x="561340" y="362965"/>
                </a:lnTo>
                <a:lnTo>
                  <a:pt x="594360" y="367106"/>
                </a:lnTo>
                <a:lnTo>
                  <a:pt x="627380" y="380998"/>
                </a:lnTo>
                <a:lnTo>
                  <a:pt x="660400" y="408588"/>
                </a:lnTo>
                <a:lnTo>
                  <a:pt x="693420" y="436594"/>
                </a:lnTo>
                <a:lnTo>
                  <a:pt x="726440" y="439857"/>
                </a:lnTo>
                <a:lnTo>
                  <a:pt x="759460" y="414963"/>
                </a:lnTo>
                <a:lnTo>
                  <a:pt x="792480" y="385439"/>
                </a:lnTo>
                <a:lnTo>
                  <a:pt x="825500" y="368149"/>
                </a:lnTo>
                <a:lnTo>
                  <a:pt x="858520" y="359093"/>
                </a:lnTo>
                <a:lnTo>
                  <a:pt x="891540" y="345391"/>
                </a:lnTo>
                <a:lnTo>
                  <a:pt x="924560" y="318803"/>
                </a:lnTo>
                <a:lnTo>
                  <a:pt x="957580" y="289658"/>
                </a:lnTo>
                <a:lnTo>
                  <a:pt x="990600" y="283173"/>
                </a:lnTo>
                <a:lnTo>
                  <a:pt x="1023620" y="306087"/>
                </a:lnTo>
                <a:lnTo>
                  <a:pt x="1056640" y="336208"/>
                </a:lnTo>
                <a:lnTo>
                  <a:pt x="1089660" y="354305"/>
                </a:lnTo>
                <a:lnTo>
                  <a:pt x="1122680" y="360573"/>
                </a:lnTo>
                <a:lnTo>
                  <a:pt x="1155700" y="361907"/>
                </a:lnTo>
                <a:lnTo>
                  <a:pt x="1188720" y="362086"/>
                </a:lnTo>
                <a:lnTo>
                  <a:pt x="1221740" y="362102"/>
                </a:lnTo>
                <a:lnTo>
                  <a:pt x="1254760" y="362102"/>
                </a:lnTo>
                <a:lnTo>
                  <a:pt x="1287780" y="362102"/>
                </a:lnTo>
                <a:lnTo>
                  <a:pt x="1320800" y="362102"/>
                </a:lnTo>
                <a:lnTo>
                  <a:pt x="1353820" y="362102"/>
                </a:lnTo>
                <a:lnTo>
                  <a:pt x="1386840" y="362102"/>
                </a:lnTo>
                <a:lnTo>
                  <a:pt x="1419860" y="362102"/>
                </a:lnTo>
                <a:lnTo>
                  <a:pt x="1452880" y="362102"/>
                </a:lnTo>
                <a:lnTo>
                  <a:pt x="1485900" y="362102"/>
                </a:lnTo>
                <a:lnTo>
                  <a:pt x="1518920" y="362102"/>
                </a:lnTo>
                <a:lnTo>
                  <a:pt x="1551940" y="362102"/>
                </a:lnTo>
                <a:lnTo>
                  <a:pt x="1584960" y="362102"/>
                </a:lnTo>
                <a:lnTo>
                  <a:pt x="1617980" y="362102"/>
                </a:lnTo>
                <a:lnTo>
                  <a:pt x="1651000" y="362102"/>
                </a:lnTo>
                <a:lnTo>
                  <a:pt x="1684020" y="362102"/>
                </a:lnTo>
                <a:lnTo>
                  <a:pt x="1717040" y="362102"/>
                </a:lnTo>
                <a:lnTo>
                  <a:pt x="1750060" y="362102"/>
                </a:lnTo>
                <a:lnTo>
                  <a:pt x="1783080" y="362102"/>
                </a:lnTo>
                <a:lnTo>
                  <a:pt x="1816100" y="362102"/>
                </a:lnTo>
                <a:lnTo>
                  <a:pt x="1849120" y="362102"/>
                </a:lnTo>
                <a:lnTo>
                  <a:pt x="1882140" y="362103"/>
                </a:lnTo>
                <a:lnTo>
                  <a:pt x="1915160" y="362105"/>
                </a:lnTo>
                <a:lnTo>
                  <a:pt x="1948180" y="362129"/>
                </a:lnTo>
                <a:lnTo>
                  <a:pt x="1981200" y="362285"/>
                </a:lnTo>
                <a:lnTo>
                  <a:pt x="2014220" y="363090"/>
                </a:lnTo>
                <a:lnTo>
                  <a:pt x="2047240" y="366298"/>
                </a:lnTo>
                <a:lnTo>
                  <a:pt x="2080260" y="376110"/>
                </a:lnTo>
                <a:lnTo>
                  <a:pt x="2113280" y="398851"/>
                </a:lnTo>
                <a:lnTo>
                  <a:pt x="2146300" y="437855"/>
                </a:lnTo>
                <a:lnTo>
                  <a:pt x="2179320" y="484801"/>
                </a:lnTo>
                <a:lnTo>
                  <a:pt x="2212340" y="518258"/>
                </a:lnTo>
                <a:lnTo>
                  <a:pt x="2245360" y="518258"/>
                </a:lnTo>
                <a:lnTo>
                  <a:pt x="2278380" y="484801"/>
                </a:lnTo>
                <a:lnTo>
                  <a:pt x="2311400" y="437855"/>
                </a:lnTo>
                <a:lnTo>
                  <a:pt x="2344420" y="398851"/>
                </a:lnTo>
                <a:lnTo>
                  <a:pt x="2377440" y="376110"/>
                </a:lnTo>
                <a:lnTo>
                  <a:pt x="2410460" y="366298"/>
                </a:lnTo>
                <a:lnTo>
                  <a:pt x="2443480" y="363090"/>
                </a:lnTo>
                <a:lnTo>
                  <a:pt x="2476500" y="362285"/>
                </a:lnTo>
                <a:lnTo>
                  <a:pt x="2509520" y="362129"/>
                </a:lnTo>
                <a:lnTo>
                  <a:pt x="2542540" y="362105"/>
                </a:lnTo>
                <a:lnTo>
                  <a:pt x="2575560" y="362103"/>
                </a:lnTo>
                <a:lnTo>
                  <a:pt x="2608580" y="362102"/>
                </a:lnTo>
                <a:lnTo>
                  <a:pt x="2641600" y="362102"/>
                </a:lnTo>
                <a:lnTo>
                  <a:pt x="2674620" y="362102"/>
                </a:lnTo>
                <a:lnTo>
                  <a:pt x="2707640" y="362102"/>
                </a:lnTo>
                <a:lnTo>
                  <a:pt x="2740660" y="362102"/>
                </a:lnTo>
                <a:lnTo>
                  <a:pt x="2773680" y="362102"/>
                </a:lnTo>
                <a:lnTo>
                  <a:pt x="2806700" y="362102"/>
                </a:lnTo>
                <a:lnTo>
                  <a:pt x="2839720" y="362102"/>
                </a:lnTo>
                <a:lnTo>
                  <a:pt x="2872740" y="362102"/>
                </a:lnTo>
                <a:lnTo>
                  <a:pt x="2905760" y="362102"/>
                </a:lnTo>
                <a:lnTo>
                  <a:pt x="2938780" y="362102"/>
                </a:lnTo>
                <a:lnTo>
                  <a:pt x="2971800" y="362102"/>
                </a:lnTo>
                <a:lnTo>
                  <a:pt x="3004820" y="362102"/>
                </a:lnTo>
                <a:lnTo>
                  <a:pt x="3037840" y="362102"/>
                </a:lnTo>
                <a:lnTo>
                  <a:pt x="3070860" y="362102"/>
                </a:lnTo>
                <a:lnTo>
                  <a:pt x="3103880" y="362102"/>
                </a:lnTo>
                <a:lnTo>
                  <a:pt x="3136900" y="362102"/>
                </a:lnTo>
                <a:lnTo>
                  <a:pt x="3169920" y="362102"/>
                </a:lnTo>
                <a:lnTo>
                  <a:pt x="3202940" y="362102"/>
                </a:lnTo>
                <a:lnTo>
                  <a:pt x="3235960" y="362102"/>
                </a:lnTo>
                <a:lnTo>
                  <a:pt x="3268980" y="362102"/>
                </a:lnTo>
                <a:lnTo>
                  <a:pt x="3302000" y="362102"/>
                </a:lnTo>
                <a:lnTo>
                  <a:pt x="3335020" y="362102"/>
                </a:lnTo>
                <a:lnTo>
                  <a:pt x="3368040" y="362102"/>
                </a:lnTo>
                <a:lnTo>
                  <a:pt x="3401060" y="362102"/>
                </a:lnTo>
                <a:lnTo>
                  <a:pt x="3434080" y="362102"/>
                </a:lnTo>
                <a:lnTo>
                  <a:pt x="3467100" y="362102"/>
                </a:lnTo>
                <a:lnTo>
                  <a:pt x="3500120" y="362102"/>
                </a:lnTo>
                <a:lnTo>
                  <a:pt x="3533140" y="362102"/>
                </a:lnTo>
                <a:lnTo>
                  <a:pt x="3566160" y="362102"/>
                </a:lnTo>
                <a:lnTo>
                  <a:pt x="3599180" y="362102"/>
                </a:lnTo>
                <a:lnTo>
                  <a:pt x="3632200" y="362102"/>
                </a:lnTo>
                <a:lnTo>
                  <a:pt x="3665220" y="362102"/>
                </a:lnTo>
                <a:lnTo>
                  <a:pt x="3698240" y="362102"/>
                </a:lnTo>
                <a:lnTo>
                  <a:pt x="3731260" y="362102"/>
                </a:lnTo>
                <a:lnTo>
                  <a:pt x="3764280" y="362102"/>
                </a:lnTo>
                <a:lnTo>
                  <a:pt x="3797300" y="362102"/>
                </a:lnTo>
                <a:lnTo>
                  <a:pt x="3830320" y="362102"/>
                </a:lnTo>
                <a:lnTo>
                  <a:pt x="3863340" y="362102"/>
                </a:lnTo>
                <a:lnTo>
                  <a:pt x="3896360" y="362102"/>
                </a:lnTo>
                <a:lnTo>
                  <a:pt x="3929380" y="362102"/>
                </a:lnTo>
                <a:lnTo>
                  <a:pt x="3962400" y="362102"/>
                </a:lnTo>
                <a:lnTo>
                  <a:pt x="3995420" y="362102"/>
                </a:lnTo>
                <a:lnTo>
                  <a:pt x="4028440" y="362102"/>
                </a:lnTo>
                <a:lnTo>
                  <a:pt x="4061460" y="362102"/>
                </a:lnTo>
                <a:lnTo>
                  <a:pt x="4094480" y="362102"/>
                </a:lnTo>
                <a:lnTo>
                  <a:pt x="4127500" y="362100"/>
                </a:lnTo>
                <a:lnTo>
                  <a:pt x="4160520" y="362082"/>
                </a:lnTo>
                <a:lnTo>
                  <a:pt x="4193540" y="361941"/>
                </a:lnTo>
                <a:lnTo>
                  <a:pt x="4226560" y="361118"/>
                </a:lnTo>
                <a:lnTo>
                  <a:pt x="4259580" y="357383"/>
                </a:lnTo>
                <a:lnTo>
                  <a:pt x="4292600" y="344326"/>
                </a:lnTo>
                <a:lnTo>
                  <a:pt x="4325620" y="309492"/>
                </a:lnTo>
                <a:lnTo>
                  <a:pt x="4358640" y="239756"/>
                </a:lnTo>
                <a:lnTo>
                  <a:pt x="4391660" y="138544"/>
                </a:lnTo>
                <a:lnTo>
                  <a:pt x="4424680" y="41127"/>
                </a:lnTo>
                <a:lnTo>
                  <a:pt x="4457700" y="0"/>
                </a:lnTo>
                <a:lnTo>
                  <a:pt x="4490720" y="41127"/>
                </a:lnTo>
                <a:lnTo>
                  <a:pt x="4523740" y="138544"/>
                </a:lnTo>
                <a:lnTo>
                  <a:pt x="4556760" y="239756"/>
                </a:lnTo>
                <a:lnTo>
                  <a:pt x="4589780" y="309492"/>
                </a:lnTo>
                <a:lnTo>
                  <a:pt x="4622800" y="344326"/>
                </a:lnTo>
                <a:lnTo>
                  <a:pt x="4655820" y="357383"/>
                </a:lnTo>
                <a:lnTo>
                  <a:pt x="4688840" y="361118"/>
                </a:lnTo>
                <a:lnTo>
                  <a:pt x="4721860" y="361941"/>
                </a:lnTo>
                <a:lnTo>
                  <a:pt x="4754880" y="362082"/>
                </a:lnTo>
                <a:lnTo>
                  <a:pt x="4787900" y="362100"/>
                </a:lnTo>
                <a:lnTo>
                  <a:pt x="4820920" y="362102"/>
                </a:lnTo>
                <a:lnTo>
                  <a:pt x="4853940" y="362102"/>
                </a:lnTo>
                <a:lnTo>
                  <a:pt x="4886960" y="362102"/>
                </a:lnTo>
                <a:lnTo>
                  <a:pt x="4919980" y="362102"/>
                </a:lnTo>
                <a:lnTo>
                  <a:pt x="4953000" y="362102"/>
                </a:lnTo>
                <a:lnTo>
                  <a:pt x="4986020" y="362102"/>
                </a:lnTo>
                <a:lnTo>
                  <a:pt x="5019040" y="362102"/>
                </a:lnTo>
                <a:lnTo>
                  <a:pt x="5052060" y="362102"/>
                </a:lnTo>
                <a:lnTo>
                  <a:pt x="5085080" y="362102"/>
                </a:lnTo>
                <a:lnTo>
                  <a:pt x="5118100" y="362102"/>
                </a:lnTo>
                <a:lnTo>
                  <a:pt x="5151120" y="362102"/>
                </a:lnTo>
                <a:lnTo>
                  <a:pt x="5184140" y="362102"/>
                </a:lnTo>
                <a:lnTo>
                  <a:pt x="5217160" y="362102"/>
                </a:lnTo>
                <a:lnTo>
                  <a:pt x="5250180" y="362102"/>
                </a:lnTo>
                <a:lnTo>
                  <a:pt x="5283200" y="362102"/>
                </a:lnTo>
                <a:lnTo>
                  <a:pt x="5316220" y="362102"/>
                </a:lnTo>
                <a:lnTo>
                  <a:pt x="5349240" y="362102"/>
                </a:lnTo>
                <a:lnTo>
                  <a:pt x="5382260" y="362102"/>
                </a:lnTo>
                <a:lnTo>
                  <a:pt x="5415280" y="362102"/>
                </a:lnTo>
                <a:lnTo>
                  <a:pt x="5448300" y="362102"/>
                </a:lnTo>
                <a:lnTo>
                  <a:pt x="5481320" y="362102"/>
                </a:lnTo>
                <a:lnTo>
                  <a:pt x="5514340" y="362102"/>
                </a:lnTo>
                <a:lnTo>
                  <a:pt x="5547360" y="362102"/>
                </a:lnTo>
                <a:lnTo>
                  <a:pt x="5580380" y="362102"/>
                </a:lnTo>
                <a:lnTo>
                  <a:pt x="5613400" y="362102"/>
                </a:lnTo>
                <a:lnTo>
                  <a:pt x="5646420" y="362102"/>
                </a:lnTo>
                <a:lnTo>
                  <a:pt x="5679440" y="362102"/>
                </a:lnTo>
                <a:lnTo>
                  <a:pt x="5712460" y="362102"/>
                </a:lnTo>
                <a:lnTo>
                  <a:pt x="5745480" y="362102"/>
                </a:lnTo>
                <a:lnTo>
                  <a:pt x="5778500" y="362102"/>
                </a:lnTo>
                <a:lnTo>
                  <a:pt x="5811520" y="362102"/>
                </a:lnTo>
                <a:lnTo>
                  <a:pt x="5844540" y="362102"/>
                </a:lnTo>
                <a:lnTo>
                  <a:pt x="5877560" y="362102"/>
                </a:lnTo>
                <a:lnTo>
                  <a:pt x="5910580" y="362102"/>
                </a:lnTo>
                <a:lnTo>
                  <a:pt x="5943600" y="362102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D08A1E"/>
            </a:solidFill>
            <a:prstDash val="dash"/>
          </a:ln>
        </p:spPr>
      </p:sp>
      <p:sp>
        <p:nvSpPr>
          <p:cNvPr id="75" name="Text 72"/>
          <p:cNvSpPr txBox="1"/>
          <p:nvPr/>
        </p:nvSpPr>
        <p:spPr>
          <a:xfrm>
            <a:off x="3627882" y="36393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20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6304788" y="36393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buNone/>
            </a:pPr>
            <a:r>
              <a:rPr lang="en-US" sz="120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1783080" y="4754880"/>
            <a:ext cx="6108192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78" name="Text 75"/>
          <p:cNvSpPr txBox="1"/>
          <p:nvPr/>
        </p:nvSpPr>
        <p:spPr>
          <a:xfrm>
            <a:off x="754380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4011930" y="4791456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moment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2203704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8101584" y="287121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157180" y="3017520"/>
            <a:ext cx="181417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3" name="Shape 80"/>
          <p:cNvSpPr/>
          <p:nvPr/>
        </p:nvSpPr>
        <p:spPr>
          <a:xfrm>
            <a:off x="8247888" y="2926812"/>
            <a:ext cx="91" cy="181417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4" name="Shape 81"/>
          <p:cNvSpPr/>
          <p:nvPr/>
        </p:nvSpPr>
        <p:spPr>
          <a:xfrm>
            <a:off x="7772400" y="1938528"/>
            <a:ext cx="365760" cy="978408"/>
          </a:xfrm>
          <a:prstGeom prst="line">
            <a:avLst/>
          </a:prstGeom>
          <a:noFill/>
          <a:ln w="15875">
            <a:solidFill>
              <a:srgbClr val="C8453C"/>
            </a:solidFill>
            <a:prstDash val="solid"/>
            <a:headEnd type="none"/>
            <a:tailEnd type="triangle"/>
          </a:ln>
        </p:spPr>
      </p:sp>
      <p:sp>
        <p:nvSpPr>
          <p:cNvPr id="85" name="Shape 82"/>
          <p:cNvSpPr/>
          <p:nvPr/>
        </p:nvSpPr>
        <p:spPr>
          <a:xfrm>
            <a:off x="7772400" y="3017520"/>
            <a:ext cx="329184" cy="91"/>
          </a:xfrm>
          <a:prstGeom prst="line">
            <a:avLst/>
          </a:prstGeom>
          <a:noFill/>
          <a:ln w="15875">
            <a:solidFill>
              <a:srgbClr val="2E8B7A"/>
            </a:solidFill>
            <a:prstDash val="solid"/>
            <a:headEnd type="none"/>
            <a:tailEnd type="triangle"/>
          </a:ln>
        </p:spPr>
      </p:sp>
      <p:sp>
        <p:nvSpPr>
          <p:cNvPr id="86" name="Shape 83"/>
          <p:cNvSpPr/>
          <p:nvPr/>
        </p:nvSpPr>
        <p:spPr>
          <a:xfrm flipV="1">
            <a:off x="7772400" y="3118104"/>
            <a:ext cx="365760" cy="978408"/>
          </a:xfrm>
          <a:prstGeom prst="line">
            <a:avLst/>
          </a:prstGeom>
          <a:noFill/>
          <a:ln w="15875">
            <a:solidFill>
              <a:srgbClr val="D08A1E"/>
            </a:solidFill>
            <a:prstDash val="solid"/>
            <a:headEnd type="none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8247888" y="1783080"/>
            <a:ext cx="91" cy="1088136"/>
          </a:xfrm>
          <a:prstGeom prst="line">
            <a:avLst/>
          </a:prstGeom>
          <a:noFill/>
          <a:ln w="15875">
            <a:solidFill>
              <a:srgbClr val="4A6FA5"/>
            </a:solidFill>
            <a:prstDash val="solid"/>
            <a:headEnd type="none"/>
            <a:tailEnd type="triangle"/>
          </a:ln>
        </p:spPr>
      </p:sp>
      <p:sp>
        <p:nvSpPr>
          <p:cNvPr id="88" name="Text 85"/>
          <p:cNvSpPr txBox="1"/>
          <p:nvPr/>
        </p:nvSpPr>
        <p:spPr>
          <a:xfrm>
            <a:off x="8065008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backbone</a:t>
            </a:r>
            <a:endParaRPr lang="en-US" sz="1300" dirty="0"/>
          </a:p>
        </p:txBody>
      </p:sp>
      <p:sp>
        <p:nvSpPr>
          <p:cNvPr id="89" name="Shape 86"/>
          <p:cNvSpPr/>
          <p:nvPr/>
        </p:nvSpPr>
        <p:spPr>
          <a:xfrm>
            <a:off x="8394192" y="3017520"/>
            <a:ext cx="246888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0" name="Shape 87"/>
          <p:cNvSpPr/>
          <p:nvPr/>
        </p:nvSpPr>
        <p:spPr>
          <a:xfrm>
            <a:off x="8705088" y="1783080"/>
            <a:ext cx="224028" cy="2240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929116" y="1783080"/>
            <a:ext cx="224028" cy="224028"/>
          </a:xfrm>
          <a:prstGeom prst="rect">
            <a:avLst/>
          </a:prstGeom>
          <a:solidFill>
            <a:srgbClr val="D8D5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153144" y="1783080"/>
            <a:ext cx="224028" cy="224028"/>
          </a:xfrm>
          <a:prstGeom prst="rect">
            <a:avLst/>
          </a:prstGeom>
          <a:solidFill>
            <a:srgbClr val="E5E4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9377172" y="1783080"/>
            <a:ext cx="224028" cy="224028"/>
          </a:xfrm>
          <a:prstGeom prst="rect">
            <a:avLst/>
          </a:prstGeom>
          <a:solidFill>
            <a:srgbClr val="F0EF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9601200" y="1783080"/>
            <a:ext cx="224028" cy="224028"/>
          </a:xfrm>
          <a:prstGeom prst="rect">
            <a:avLst/>
          </a:prstGeom>
          <a:solidFill>
            <a:srgbClr val="E5E4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9825228" y="1783080"/>
            <a:ext cx="224028" cy="224028"/>
          </a:xfrm>
          <a:prstGeom prst="rect">
            <a:avLst/>
          </a:prstGeom>
          <a:solidFill>
            <a:srgbClr val="D9D7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0049256" y="1783080"/>
            <a:ext cx="224028" cy="224028"/>
          </a:xfrm>
          <a:prstGeom prst="rect">
            <a:avLst/>
          </a:prstGeom>
          <a:solidFill>
            <a:srgbClr val="D6D4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0273284" y="1783080"/>
            <a:ext cx="224028" cy="224028"/>
          </a:xfrm>
          <a:prstGeom prst="rect">
            <a:avLst/>
          </a:prstGeom>
          <a:solidFill>
            <a:srgbClr val="C4C1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497312" y="1783080"/>
            <a:ext cx="224028" cy="224028"/>
          </a:xfrm>
          <a:prstGeom prst="rect">
            <a:avLst/>
          </a:prstGeom>
          <a:solidFill>
            <a:srgbClr val="A59F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0721340" y="1783080"/>
            <a:ext cx="224028" cy="224028"/>
          </a:xfrm>
          <a:prstGeom prst="rect">
            <a:avLst/>
          </a:prstGeom>
          <a:solidFill>
            <a:srgbClr val="B2A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0945368" y="1783080"/>
            <a:ext cx="224028" cy="224028"/>
          </a:xfrm>
          <a:prstGeom prst="rect">
            <a:avLst/>
          </a:prstGeom>
          <a:solidFill>
            <a:srgbClr val="C5C2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1169396" y="1783080"/>
            <a:ext cx="224028" cy="224028"/>
          </a:xfrm>
          <a:prstGeom prst="rect">
            <a:avLst/>
          </a:prstGeom>
          <a:solidFill>
            <a:srgbClr val="C5C2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705088" y="200710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929116" y="2007108"/>
            <a:ext cx="224028" cy="224028"/>
          </a:xfrm>
          <a:prstGeom prst="rect">
            <a:avLst/>
          </a:prstGeom>
          <a:solidFill>
            <a:srgbClr val="CDCA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153144" y="2007108"/>
            <a:ext cx="224028" cy="224028"/>
          </a:xfrm>
          <a:prstGeom prst="rect">
            <a:avLst/>
          </a:prstGeom>
          <a:solidFill>
            <a:srgbClr val="D5D2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9377172" y="2007108"/>
            <a:ext cx="224028" cy="224028"/>
          </a:xfrm>
          <a:prstGeom prst="rect">
            <a:avLst/>
          </a:prstGeom>
          <a:solidFill>
            <a:srgbClr val="DCDA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601200" y="2007108"/>
            <a:ext cx="224028" cy="224028"/>
          </a:xfrm>
          <a:prstGeom prst="rect">
            <a:avLst/>
          </a:prstGeom>
          <a:solidFill>
            <a:srgbClr val="E9E7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825228" y="2007108"/>
            <a:ext cx="224028" cy="224028"/>
          </a:xfrm>
          <a:prstGeom prst="rect">
            <a:avLst/>
          </a:prstGeom>
          <a:solidFill>
            <a:srgbClr val="E1DF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049256" y="2007108"/>
            <a:ext cx="224028" cy="224028"/>
          </a:xfrm>
          <a:prstGeom prst="rect">
            <a:avLst/>
          </a:prstGeom>
          <a:solidFill>
            <a:srgbClr val="C5C1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273284" y="2007108"/>
            <a:ext cx="224028" cy="224028"/>
          </a:xfrm>
          <a:prstGeom prst="rect">
            <a:avLst/>
          </a:prstGeom>
          <a:solidFill>
            <a:srgbClr val="B0AB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497312" y="2007108"/>
            <a:ext cx="224028" cy="224028"/>
          </a:xfrm>
          <a:prstGeom prst="rect">
            <a:avLst/>
          </a:prstGeom>
          <a:solidFill>
            <a:srgbClr val="A49F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0721340" y="2007108"/>
            <a:ext cx="224028" cy="224028"/>
          </a:xfrm>
          <a:prstGeom prst="rect">
            <a:avLst/>
          </a:prstGeom>
          <a:solidFill>
            <a:srgbClr val="AFAA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0945368" y="2007108"/>
            <a:ext cx="224028" cy="224028"/>
          </a:xfrm>
          <a:prstGeom prst="rect">
            <a:avLst/>
          </a:prstGeom>
          <a:solidFill>
            <a:srgbClr val="AEA9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1169396" y="2007108"/>
            <a:ext cx="224028" cy="224028"/>
          </a:xfrm>
          <a:prstGeom prst="rect">
            <a:avLst/>
          </a:prstGeom>
          <a:solidFill>
            <a:srgbClr val="BCB8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8705088" y="223113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8929116" y="223113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9153144" y="2231136"/>
            <a:ext cx="224028" cy="224028"/>
          </a:xfrm>
          <a:prstGeom prst="rect">
            <a:avLst/>
          </a:prstGeom>
          <a:solidFill>
            <a:srgbClr val="F4F4F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9377172" y="2231136"/>
            <a:ext cx="224028" cy="224028"/>
          </a:xfrm>
          <a:prstGeom prst="rect">
            <a:avLst/>
          </a:prstGeom>
          <a:solidFill>
            <a:srgbClr val="FCFC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9601200" y="2231136"/>
            <a:ext cx="224028" cy="224028"/>
          </a:xfrm>
          <a:prstGeom prst="rect">
            <a:avLst/>
          </a:prstGeom>
          <a:solidFill>
            <a:srgbClr val="EDECF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9825228" y="2231136"/>
            <a:ext cx="224028" cy="224028"/>
          </a:xfrm>
          <a:prstGeom prst="rect">
            <a:avLst/>
          </a:prstGeom>
          <a:solidFill>
            <a:srgbClr val="DAD7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0049256" y="2231136"/>
            <a:ext cx="224028" cy="224028"/>
          </a:xfrm>
          <a:prstGeom prst="rect">
            <a:avLst/>
          </a:prstGeom>
          <a:solidFill>
            <a:srgbClr val="CFCC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0273284" y="2231136"/>
            <a:ext cx="224028" cy="224028"/>
          </a:xfrm>
          <a:prstGeom prst="rect">
            <a:avLst/>
          </a:prstGeom>
          <a:solidFill>
            <a:srgbClr val="B5B1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0497312" y="2231136"/>
            <a:ext cx="224028" cy="224028"/>
          </a:xfrm>
          <a:prstGeom prst="rect">
            <a:avLst/>
          </a:prstGeom>
          <a:solidFill>
            <a:srgbClr val="8C85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0721340" y="2231136"/>
            <a:ext cx="224028" cy="224028"/>
          </a:xfrm>
          <a:prstGeom prst="rect">
            <a:avLst/>
          </a:prstGeom>
          <a:solidFill>
            <a:srgbClr val="A09A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945368" y="2231136"/>
            <a:ext cx="224028" cy="224028"/>
          </a:xfrm>
          <a:prstGeom prst="rect">
            <a:avLst/>
          </a:prstGeom>
          <a:solidFill>
            <a:srgbClr val="B7B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1169396" y="2231136"/>
            <a:ext cx="224028" cy="224028"/>
          </a:xfrm>
          <a:prstGeom prst="rect">
            <a:avLst/>
          </a:prstGeom>
          <a:solidFill>
            <a:srgbClr val="BCB7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8705088" y="245516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8929116" y="245516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9153144" y="245516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377172" y="2455164"/>
            <a:ext cx="224028" cy="224028"/>
          </a:xfrm>
          <a:prstGeom prst="rect">
            <a:avLst/>
          </a:prstGeom>
          <a:solidFill>
            <a:srgbClr val="F0EF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9601200" y="2455164"/>
            <a:ext cx="224028" cy="224028"/>
          </a:xfrm>
          <a:prstGeom prst="rect">
            <a:avLst/>
          </a:prstGeom>
          <a:solidFill>
            <a:srgbClr val="F4F4F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9825228" y="2455164"/>
            <a:ext cx="224028" cy="224028"/>
          </a:xfrm>
          <a:prstGeom prst="rect">
            <a:avLst/>
          </a:prstGeom>
          <a:solidFill>
            <a:srgbClr val="E3E2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0049256" y="2455164"/>
            <a:ext cx="224028" cy="224028"/>
          </a:xfrm>
          <a:prstGeom prst="rect">
            <a:avLst/>
          </a:prstGeom>
          <a:solidFill>
            <a:srgbClr val="BCB8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0273284" y="2455164"/>
            <a:ext cx="224028" cy="224028"/>
          </a:xfrm>
          <a:prstGeom prst="rect">
            <a:avLst/>
          </a:prstGeom>
          <a:solidFill>
            <a:srgbClr val="9A94B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10497312" y="2455164"/>
            <a:ext cx="224028" cy="224028"/>
          </a:xfrm>
          <a:prstGeom prst="rect">
            <a:avLst/>
          </a:prstGeom>
          <a:solidFill>
            <a:srgbClr val="8179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10721340" y="2455164"/>
            <a:ext cx="224028" cy="224028"/>
          </a:xfrm>
          <a:prstGeom prst="rect">
            <a:avLst/>
          </a:prstGeom>
          <a:solidFill>
            <a:srgbClr val="9790B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10945368" y="2455164"/>
            <a:ext cx="224028" cy="224028"/>
          </a:xfrm>
          <a:prstGeom prst="rect">
            <a:avLst/>
          </a:prstGeom>
          <a:solidFill>
            <a:srgbClr val="9D97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1169396" y="2455164"/>
            <a:ext cx="224028" cy="224028"/>
          </a:xfrm>
          <a:prstGeom prst="rect">
            <a:avLst/>
          </a:prstGeom>
          <a:solidFill>
            <a:srgbClr val="AEAA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8705088" y="267919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8929116" y="267919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9153144" y="267919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9377172" y="267919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9601200" y="2679192"/>
            <a:ext cx="224028" cy="224028"/>
          </a:xfrm>
          <a:prstGeom prst="rect">
            <a:avLst/>
          </a:prstGeom>
          <a:solidFill>
            <a:srgbClr val="EDEC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9825228" y="2679192"/>
            <a:ext cx="224028" cy="224028"/>
          </a:xfrm>
          <a:prstGeom prst="rect">
            <a:avLst/>
          </a:prstGeom>
          <a:solidFill>
            <a:srgbClr val="CECB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0049256" y="2679192"/>
            <a:ext cx="224028" cy="224028"/>
          </a:xfrm>
          <a:prstGeom prst="rect">
            <a:avLst/>
          </a:prstGeom>
          <a:solidFill>
            <a:srgbClr val="B5B1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0273284" y="2679192"/>
            <a:ext cx="224028" cy="224028"/>
          </a:xfrm>
          <a:prstGeom prst="rect">
            <a:avLst/>
          </a:prstGeom>
          <a:solidFill>
            <a:srgbClr val="8C85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0497312" y="2679192"/>
            <a:ext cx="224028" cy="224028"/>
          </a:xfrm>
          <a:prstGeom prst="rect">
            <a:avLst/>
          </a:prstGeom>
          <a:solidFill>
            <a:srgbClr val="5146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10721340" y="2679192"/>
            <a:ext cx="224028" cy="224028"/>
          </a:xfrm>
          <a:prstGeom prst="rect">
            <a:avLst/>
          </a:prstGeom>
          <a:solidFill>
            <a:srgbClr val="766E9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10945368" y="2679192"/>
            <a:ext cx="224028" cy="224028"/>
          </a:xfrm>
          <a:prstGeom prst="rect">
            <a:avLst/>
          </a:prstGeom>
          <a:solidFill>
            <a:srgbClr val="9A94B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11169396" y="2679192"/>
            <a:ext cx="224028" cy="224028"/>
          </a:xfrm>
          <a:prstGeom prst="rect">
            <a:avLst/>
          </a:prstGeom>
          <a:solidFill>
            <a:srgbClr val="A6A1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705088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929116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9153144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377172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601200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9825228" y="2903220"/>
            <a:ext cx="224028" cy="224028"/>
          </a:xfrm>
          <a:prstGeom prst="rect">
            <a:avLst/>
          </a:prstGeom>
          <a:solidFill>
            <a:srgbClr val="E8E6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0049256" y="2903220"/>
            <a:ext cx="224028" cy="224028"/>
          </a:xfrm>
          <a:prstGeom prst="rect">
            <a:avLst/>
          </a:prstGeom>
          <a:solidFill>
            <a:srgbClr val="B7B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0273284" y="2903220"/>
            <a:ext cx="224028" cy="224028"/>
          </a:xfrm>
          <a:prstGeom prst="rect">
            <a:avLst/>
          </a:prstGeom>
          <a:solidFill>
            <a:srgbClr val="8880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10497312" y="2903220"/>
            <a:ext cx="224028" cy="224028"/>
          </a:xfrm>
          <a:prstGeom prst="rect">
            <a:avLst/>
          </a:prstGeom>
          <a:solidFill>
            <a:srgbClr val="5F55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0721340" y="2903220"/>
            <a:ext cx="224028" cy="224028"/>
          </a:xfrm>
          <a:prstGeom prst="rect">
            <a:avLst/>
          </a:prstGeom>
          <a:solidFill>
            <a:srgbClr val="847D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0945368" y="2903220"/>
            <a:ext cx="224028" cy="224028"/>
          </a:xfrm>
          <a:prstGeom prst="rect">
            <a:avLst/>
          </a:prstGeom>
          <a:solidFill>
            <a:srgbClr val="928BA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1169396" y="2903220"/>
            <a:ext cx="224028" cy="224028"/>
          </a:xfrm>
          <a:prstGeom prst="rect">
            <a:avLst/>
          </a:prstGeom>
          <a:solidFill>
            <a:srgbClr val="A7A2B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705088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8929116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9153144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377172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601200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825228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10049256" y="3127248"/>
            <a:ext cx="224028" cy="224028"/>
          </a:xfrm>
          <a:prstGeom prst="rect">
            <a:avLst/>
          </a:prstGeom>
          <a:solidFill>
            <a:srgbClr val="E4E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0273284" y="3127248"/>
            <a:ext cx="224028" cy="224028"/>
          </a:xfrm>
          <a:prstGeom prst="rect">
            <a:avLst/>
          </a:prstGeom>
          <a:solidFill>
            <a:srgbClr val="C2BE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497312" y="3127248"/>
            <a:ext cx="224028" cy="224028"/>
          </a:xfrm>
          <a:prstGeom prst="rect">
            <a:avLst/>
          </a:prstGeom>
          <a:solidFill>
            <a:srgbClr val="8881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0721340" y="3127248"/>
            <a:ext cx="224028" cy="224028"/>
          </a:xfrm>
          <a:prstGeom prst="rect">
            <a:avLst/>
          </a:prstGeom>
          <a:solidFill>
            <a:srgbClr val="A39D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0945368" y="3127248"/>
            <a:ext cx="224028" cy="224028"/>
          </a:xfrm>
          <a:prstGeom prst="rect">
            <a:avLst/>
          </a:prstGeom>
          <a:solidFill>
            <a:srgbClr val="BFBB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11169396" y="3127248"/>
            <a:ext cx="224028" cy="224028"/>
          </a:xfrm>
          <a:prstGeom prst="rect">
            <a:avLst/>
          </a:prstGeom>
          <a:solidFill>
            <a:srgbClr val="C7C3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8705088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8929116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9153144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9377172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9601200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9825228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10049256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0273284" y="3351276"/>
            <a:ext cx="224028" cy="224028"/>
          </a:xfrm>
          <a:prstGeom prst="rect">
            <a:avLst/>
          </a:prstGeom>
          <a:solidFill>
            <a:srgbClr val="DAD8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0497312" y="3351276"/>
            <a:ext cx="224028" cy="224028"/>
          </a:xfrm>
          <a:prstGeom prst="rect">
            <a:avLst/>
          </a:prstGeom>
          <a:solidFill>
            <a:srgbClr val="C1BD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10721340" y="3351276"/>
            <a:ext cx="224028" cy="224028"/>
          </a:xfrm>
          <a:prstGeom prst="rect">
            <a:avLst/>
          </a:prstGeom>
          <a:solidFill>
            <a:srgbClr val="CFCC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10945368" y="3351276"/>
            <a:ext cx="224028" cy="224028"/>
          </a:xfrm>
          <a:prstGeom prst="rect">
            <a:avLst/>
          </a:prstGeom>
          <a:solidFill>
            <a:srgbClr val="CDCA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1169396" y="3351276"/>
            <a:ext cx="224028" cy="224028"/>
          </a:xfrm>
          <a:prstGeom prst="rect">
            <a:avLst/>
          </a:prstGeom>
          <a:solidFill>
            <a:srgbClr val="D7D4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8705088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8929116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9153144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9377172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9601200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9825228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10049256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10273284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10497312" y="3575304"/>
            <a:ext cx="224028" cy="224028"/>
          </a:xfrm>
          <a:prstGeom prst="rect">
            <a:avLst/>
          </a:prstGeom>
          <a:solidFill>
            <a:srgbClr val="DBD9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10721340" y="3575304"/>
            <a:ext cx="224028" cy="224028"/>
          </a:xfrm>
          <a:prstGeom prst="rect">
            <a:avLst/>
          </a:prstGeom>
          <a:solidFill>
            <a:srgbClr val="E1DF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10945368" y="3575304"/>
            <a:ext cx="224028" cy="224028"/>
          </a:xfrm>
          <a:prstGeom prst="rect">
            <a:avLst/>
          </a:prstGeom>
          <a:solidFill>
            <a:srgbClr val="F0EF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11169396" y="3575304"/>
            <a:ext cx="224028" cy="224028"/>
          </a:xfrm>
          <a:prstGeom prst="rect">
            <a:avLst/>
          </a:prstGeom>
          <a:solidFill>
            <a:srgbClr val="F0EF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8705088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8929116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9153144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9377172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9601200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9825228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0049256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0273284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10497312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10721340" y="3799332"/>
            <a:ext cx="224028" cy="224028"/>
          </a:xfrm>
          <a:prstGeom prst="rect">
            <a:avLst/>
          </a:prstGeom>
          <a:solidFill>
            <a:srgbClr val="FDFD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10945368" y="3799332"/>
            <a:ext cx="224028" cy="224028"/>
          </a:xfrm>
          <a:prstGeom prst="rect">
            <a:avLst/>
          </a:prstGeom>
          <a:solidFill>
            <a:srgbClr val="F1F0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11169396" y="3799332"/>
            <a:ext cx="224028" cy="224028"/>
          </a:xfrm>
          <a:prstGeom prst="rect">
            <a:avLst/>
          </a:prstGeom>
          <a:solidFill>
            <a:srgbClr val="F3F3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8705088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8929116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9153144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9377172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9601200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9825228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10049256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273284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0497312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0721340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10945368" y="4023360"/>
            <a:ext cx="224028" cy="224028"/>
          </a:xfrm>
          <a:prstGeom prst="rect">
            <a:avLst/>
          </a:prstGeom>
          <a:solidFill>
            <a:srgbClr val="FDFD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11169396" y="4023360"/>
            <a:ext cx="224028" cy="224028"/>
          </a:xfrm>
          <a:prstGeom prst="rect">
            <a:avLst/>
          </a:prstGeom>
          <a:solidFill>
            <a:srgbClr val="FBFB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8705088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8929116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9153144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9377172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9601200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9825228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10049256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10273284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10497312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10721340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10945368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11169396" y="4247388"/>
            <a:ext cx="224028" cy="224028"/>
          </a:xfrm>
          <a:prstGeom prst="rect">
            <a:avLst/>
          </a:prstGeom>
          <a:solidFill>
            <a:srgbClr val="F3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705088" y="1783080"/>
            <a:ext cx="2688336" cy="268833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10497312" y="2679192"/>
            <a:ext cx="224028" cy="22402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2B705"/>
            </a:solidFill>
            <a:prstDash val="solid"/>
          </a:ln>
        </p:spPr>
      </p:sp>
      <p:sp>
        <p:nvSpPr>
          <p:cNvPr id="236" name="Text 233"/>
          <p:cNvSpPr txBox="1"/>
          <p:nvPr/>
        </p:nvSpPr>
        <p:spPr>
          <a:xfrm>
            <a:off x="8705088" y="11887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F(s, e)</a:t>
            </a:r>
            <a:endParaRPr lang="en-US" sz="1500" dirty="0"/>
          </a:p>
        </p:txBody>
      </p:sp>
      <p:sp>
        <p:nvSpPr>
          <p:cNvPr id="237" name="Text 234"/>
          <p:cNvSpPr txBox="1"/>
          <p:nvPr/>
        </p:nvSpPr>
        <p:spPr>
          <a:xfrm>
            <a:off x="8705088" y="1508760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</a:t>
            </a:r>
            <a:endParaRPr lang="en-US" sz="1100" dirty="0"/>
          </a:p>
        </p:txBody>
      </p:sp>
      <p:sp>
        <p:nvSpPr>
          <p:cNvPr id="238" name="Text 235"/>
          <p:cNvSpPr txBox="1"/>
          <p:nvPr/>
        </p:nvSpPr>
        <p:spPr>
          <a:xfrm rot="5400000">
            <a:off x="10204704" y="3008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</a:t>
            </a:r>
            <a:endParaRPr lang="en-US" sz="1100" dirty="0"/>
          </a:p>
        </p:txBody>
      </p:sp>
      <p:sp>
        <p:nvSpPr>
          <p:cNvPr id="239" name="Text 236"/>
          <p:cNvSpPr txBox="1"/>
          <p:nvPr/>
        </p:nvSpPr>
        <p:spPr>
          <a:xfrm>
            <a:off x="8247888" y="4608576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 = C̃ + E + S + </a:t>
            </a:r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½</a:t>
            </a:r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</a:t>
            </a:r>
            <a:pPr algn="ctr" indent="0" marL="0">
              <a:buNone/>
            </a:pPr>
            <a:r>
              <a:rPr lang="en-US" sz="140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T</a:t>
            </a:r>
            <a:pPr algn="ctr" indent="0" marL="0">
              <a:buNone/>
            </a:pPr>
            <a:r>
              <a:rPr lang="en-US" sz="140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240" name="Text 237"/>
          <p:cNvSpPr txBox="1"/>
          <p:nvPr/>
        </p:nvSpPr>
        <p:spPr>
          <a:xfrm>
            <a:off x="8247888" y="492861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cell = predicted moment 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[s</a:t>
            </a:r>
            <a:pPr algn="ctr" indent="0" marL="0">
              <a:buNone/>
            </a:pPr>
            <a:r>
              <a:rPr lang="en-US" sz="1100" i="1" baseline="3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</a:t>
            </a:r>
            <a:pPr algn="ctr" indent="0" marL="0">
              <a:buNone/>
            </a:pPr>
            <a:r>
              <a:rPr lang="en-US" sz="1100" i="1" baseline="3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2026-09-25T08:38:28Z</dcterms:created>
  <dcterms:modified xsi:type="dcterms:W3CDTF">2026-09-25T08:38:28Z</dcterms:modified>
</cp:coreProperties>
</file>